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5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80"/>
    <a:srgbClr val="339966"/>
    <a:srgbClr val="00CC99"/>
    <a:srgbClr val="3333CC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519" autoAdjust="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0CDD0-9733-422E-AC54-86856740C323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CC965-8CA2-4C70-BFA7-C332331E45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006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CC965-8CA2-4C70-BFA7-C332331E45D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80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B2A4C-BCE2-4C72-8E93-F2FEEF57E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44236C-66C4-431D-9D03-5C5D27DCF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82C8D-3A1A-45C0-9836-2B878D93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9D2A-E27C-4E11-A099-9F16E96CC4F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6BEC56-AD7C-4DCA-AD72-0A10B8A4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FA6847-3B8B-43CD-85A8-68C08FDC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77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CC9E7-F6EF-4CA2-9D58-DA58D3CEB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41E2F5-6809-4B95-9084-D14522FFF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87D06-5708-4C4E-B375-B2A27ADD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AD09D-A4C5-4881-A5AC-B158F931A7D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0BC861-CFB8-41E9-A58B-AD9B5F9A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E5DAE-EB9D-4A8A-923F-A29552F1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87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CBA09A-EFE2-47E3-9C9F-FC661E12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267D22-C908-4C9E-8CFE-85F31645E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1ADD0-2D65-49AF-B45C-A95B530A9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844ED-7868-4FBA-A8A0-ECF5B13C5D4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5D8D26-3703-4FEA-85B3-453696E4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C870D-B35D-4867-AEC9-0517F87A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9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C4F03-FBFE-4951-BA2B-EA1DBBC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60F79A-48DD-415C-AACE-7B654AEB7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F14B29-666D-43C9-88DE-5B316BFC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609F1D-55B8-402F-9BA3-AB63D72B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9C7B-D5C5-4E52-AE83-0C71FC665AA6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F27D3A-905F-4FDD-835F-1A8530A7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CCB26C-C15A-4DFC-9054-478F91A3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87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C01ED0-CEC5-4D7D-9C82-95B549B4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B7F95E-CB91-4C14-BAF9-B5CDAE2C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53E141-14F8-4EB3-9EF8-FA84BAD10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4B2B7F-9199-4A54-B8BC-9ADA01705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DC7EF94-F89A-4A89-B0D1-6E5F14B8F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04E292-EA68-4176-B684-E334569D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DBBCC-178A-45B2-9CC4-9C2D9D2BC232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4680B3-D2D8-4F7B-8926-F7277F230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772632-B08B-41B3-B65B-96040C61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40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67C15-749F-4C1B-9983-3370B76D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EB54DD-D5FB-4A76-A7AF-D5D8EFF1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7DE9-B168-4319-88DA-2DDD18E230E9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2F858-C8B8-40AA-ACC5-25490179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BFCE54-A8F8-441A-A39D-CF1F75A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457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995B56-B894-4C09-B8B0-856FA4F9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4C5E-73BD-480F-8624-F6D7E6D7A545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4E3414-0682-49B9-ACB5-0FE6DA24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732D70-7560-48CE-B832-0325AFE5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2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E7591-3862-4CA6-A1B5-AFC3DBBF7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C92D8F-11F4-4E58-8836-44D67BCD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3D1924-9070-4224-A28E-19BC05698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97A7B4-BE20-439A-A65B-D5796DB68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030C7-5723-40A5-9FC6-A0825EE667C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98AD72-1800-434A-968D-68289A7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5E0F2C-9B4D-46C9-B987-8907030D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02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2AE4C-9A46-4089-9CD2-387E2179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4A98686-EB68-4189-A5CB-AF323C701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6F2DC8-416C-4095-B3B9-5180CE797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A2A97B-7F64-4810-8626-500D5FFC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D63C6-4924-493D-81DA-6C2BECE77509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E521F5-8554-4453-BE05-7FE9369A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D4345A-912A-4DF5-99DE-FC2AE47E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58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B49CC-38DF-479D-ADA9-BD17E835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FE6DED-FCCF-4826-BBCD-233D96CC4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82EB7A-9DFE-4FE6-A319-AD8BF1E9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79DE0-D398-4578-8D17-9D0DF780E80F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4980AC-5066-45FA-803C-F81AB2A52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AE3DDD-0121-4225-8D1C-4D5C5EE1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63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8B4303A-3B07-434C-A86F-3C2272A9D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5BF699-FFFC-4ADD-A843-42C0B702F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E2C02A-51FE-49CB-B89C-800539F9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5557-82A6-4132-924F-05CD0949306E}" type="datetime1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6FDBEF-127C-40EB-8D24-4F3DEB60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57058-BF86-4AE1-B514-E8B3A8FC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9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04A188-BF32-4925-B1AF-2F04F5B1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7724"/>
            <a:ext cx="10515600" cy="5438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2678A8-4CCF-4190-945B-FFAAC1291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D48C-7BCC-432C-98FF-7ED6BC0CF3C1}" type="datetime1">
              <a:rPr kumimoji="1" lang="ja-JP" altLang="en-US" smtClean="0"/>
              <a:t>2025/12/4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A0696D-5150-4EC5-B322-0BD40FDAE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24311" y="64928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/>
              <a:t>Copyright 2025 Things Base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1418A-9796-4D57-82F7-BBEB326E5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98C20-25CD-4F77-9B8F-26BB31769BD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705291-130A-4E59-87DC-1655687CC864}"/>
              </a:ext>
            </a:extLst>
          </p:cNvPr>
          <p:cNvSpPr/>
          <p:nvPr userDrawn="1"/>
        </p:nvSpPr>
        <p:spPr>
          <a:xfrm>
            <a:off x="0" y="-1"/>
            <a:ext cx="12184515" cy="681037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D9416E-E424-4C71-AE90-DE156550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91463"/>
            <a:ext cx="11972925" cy="589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075E86A-EC25-4A61-928C-A7930CAC4CA5}"/>
              </a:ext>
            </a:extLst>
          </p:cNvPr>
          <p:cNvCxnSpPr/>
          <p:nvPr userDrawn="1"/>
        </p:nvCxnSpPr>
        <p:spPr>
          <a:xfrm>
            <a:off x="0" y="6492874"/>
            <a:ext cx="12184516" cy="0"/>
          </a:xfrm>
          <a:prstGeom prst="line">
            <a:avLst/>
          </a:prstGeom>
          <a:ln w="50800" cmpd="thickThin">
            <a:solidFill>
              <a:srgbClr val="008080"/>
            </a:solidFill>
            <a:prstDash val="solid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27DD1A-0C16-4695-B13D-AE45CA7C689B}"/>
              </a:ext>
            </a:extLst>
          </p:cNvPr>
          <p:cNvSpPr/>
          <p:nvPr userDrawn="1"/>
        </p:nvSpPr>
        <p:spPr>
          <a:xfrm>
            <a:off x="11387138" y="91463"/>
            <a:ext cx="709613" cy="486905"/>
          </a:xfrm>
          <a:prstGeom prst="rect">
            <a:avLst/>
          </a:prstGeom>
          <a:solidFill>
            <a:schemeClr val="bg1"/>
          </a:solidFill>
          <a:ln w="190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CONFIDENTIAL</a:t>
            </a:r>
          </a:p>
          <a:p>
            <a:pPr algn="ctr"/>
            <a:r>
              <a:rPr kumimoji="1"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関係者外秘</a:t>
            </a:r>
          </a:p>
        </p:txBody>
      </p:sp>
    </p:spTree>
    <p:extLst>
      <p:ext uri="{BB962C8B-B14F-4D97-AF65-F5344CB8AC3E}">
        <p14:creationId xmlns:p14="http://schemas.microsoft.com/office/powerpoint/2010/main" val="226883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0CE1B-81D1-6998-5498-8166BC5F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305952"/>
            <a:ext cx="11029950" cy="1983136"/>
          </a:xfrm>
        </p:spPr>
        <p:txBody>
          <a:bodyPr>
            <a:normAutofit/>
          </a:bodyPr>
          <a:lstStyle/>
          <a:p>
            <a:r>
              <a:rPr kumimoji="1" lang="en-US" altLang="ja-JP" sz="7200" b="1" dirty="0">
                <a:solidFill>
                  <a:srgbClr val="0000FF"/>
                </a:solidFill>
              </a:rPr>
              <a:t>LGX-Shield</a:t>
            </a:r>
            <a:r>
              <a:rPr kumimoji="1" lang="en-US" altLang="ja-JP" dirty="0">
                <a:solidFill>
                  <a:schemeClr val="tx1"/>
                </a:solidFill>
              </a:rPr>
              <a:t> </a:t>
            </a:r>
            <a:br>
              <a:rPr kumimoji="1" lang="en-US" altLang="ja-JP" dirty="0">
                <a:solidFill>
                  <a:schemeClr val="tx1"/>
                </a:solidFill>
              </a:rPr>
            </a:br>
            <a:r>
              <a:rPr kumimoji="1" lang="ja-JP" altLang="en-US" sz="2800" dirty="0">
                <a:solidFill>
                  <a:schemeClr val="tx1"/>
                </a:solidFill>
              </a:rPr>
              <a:t>～加速度</a:t>
            </a:r>
            <a:r>
              <a:rPr kumimoji="1" lang="en-US" altLang="ja-JP" sz="2800" dirty="0">
                <a:solidFill>
                  <a:schemeClr val="tx1"/>
                </a:solidFill>
              </a:rPr>
              <a:t>×AI </a:t>
            </a:r>
            <a:r>
              <a:rPr kumimoji="1" lang="ja-JP" altLang="en-US" sz="2800" dirty="0">
                <a:solidFill>
                  <a:schemeClr val="tx1"/>
                </a:solidFill>
              </a:rPr>
              <a:t>で橋梁の異常をリアルタイム検出するエッジモニタ～ 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21422E-A587-7225-84CB-2091DEA64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275" y="4000236"/>
            <a:ext cx="9144000" cy="954789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２０２５年</a:t>
            </a:r>
            <a:r>
              <a:rPr lang="ja-JP" altLang="en-US" dirty="0"/>
              <a:t>１２</a:t>
            </a:r>
            <a:r>
              <a:rPr kumimoji="1" lang="ja-JP" altLang="en-US" dirty="0"/>
              <a:t>月１１日</a:t>
            </a:r>
            <a:endParaRPr kumimoji="1" lang="en-US" altLang="ja-JP" dirty="0"/>
          </a:p>
          <a:p>
            <a:r>
              <a:rPr lang="en-US" altLang="ja-JP" dirty="0"/>
              <a:t>Things</a:t>
            </a:r>
            <a:r>
              <a:rPr lang="ja-JP" altLang="en-US" dirty="0"/>
              <a:t> </a:t>
            </a:r>
            <a:r>
              <a:rPr lang="en-US" altLang="ja-JP" dirty="0"/>
              <a:t>Base</a:t>
            </a:r>
            <a:r>
              <a:rPr lang="ja-JP" altLang="en-US" dirty="0"/>
              <a:t>　須藤義明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101B9C-1464-24F3-C30C-D393CAF1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9FDA00-39AB-9941-84BA-CCC785A4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521B7D48-FD03-2587-F8F2-3686E1BDC91D}"/>
              </a:ext>
            </a:extLst>
          </p:cNvPr>
          <p:cNvSpPr txBox="1">
            <a:spLocks/>
          </p:cNvSpPr>
          <p:nvPr/>
        </p:nvSpPr>
        <p:spPr>
          <a:xfrm>
            <a:off x="123092" y="191192"/>
            <a:ext cx="11923906" cy="40361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2000" u="sng" dirty="0">
                <a:solidFill>
                  <a:schemeClr val="bg1"/>
                </a:solidFill>
              </a:rPr>
              <a:t>TRON</a:t>
            </a:r>
            <a:r>
              <a:rPr lang="ja-JP" altLang="en-US" sz="2000" u="sng" dirty="0">
                <a:solidFill>
                  <a:schemeClr val="bg1"/>
                </a:solidFill>
              </a:rPr>
              <a:t>プログラミングコンテスト</a:t>
            </a:r>
            <a:r>
              <a:rPr lang="en-US" altLang="ja-JP" sz="2000" u="sng" dirty="0">
                <a:solidFill>
                  <a:schemeClr val="bg1"/>
                </a:solidFill>
              </a:rPr>
              <a:t>2025 </a:t>
            </a:r>
            <a:r>
              <a:rPr lang="ja-JP" altLang="en-US" sz="2000" u="sng" dirty="0">
                <a:solidFill>
                  <a:schemeClr val="bg1"/>
                </a:solidFill>
              </a:rPr>
              <a:t>応募作品紹介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1BA7B96-B1E3-C3C7-6AE0-304EA2A68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" y="15614"/>
            <a:ext cx="772542" cy="17557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4D1F8FE-696C-866E-BD61-05461A3D873A}"/>
              </a:ext>
            </a:extLst>
          </p:cNvPr>
          <p:cNvSpPr/>
          <p:nvPr/>
        </p:nvSpPr>
        <p:spPr>
          <a:xfrm>
            <a:off x="1047748" y="5320150"/>
            <a:ext cx="10067925" cy="1172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rgbClr val="00B050"/>
                </a:solidFill>
              </a:rPr>
              <a:t>TRON×</a:t>
            </a:r>
            <a:r>
              <a:rPr lang="en-US" altLang="ja-JP" sz="3200" dirty="0">
                <a:solidFill>
                  <a:srgbClr val="00B050"/>
                </a:solidFill>
              </a:rPr>
              <a:t>AI</a:t>
            </a:r>
            <a:r>
              <a:rPr lang="ja-JP" altLang="en-US" sz="3200" dirty="0">
                <a:solidFill>
                  <a:srgbClr val="00B050"/>
                </a:solidFill>
              </a:rPr>
              <a:t>で築く、安心・安全の未来社会</a:t>
            </a:r>
            <a:endParaRPr lang="en-US" altLang="ja-JP" sz="3200" dirty="0">
              <a:solidFill>
                <a:srgbClr val="00B050"/>
              </a:solidFill>
            </a:endParaRPr>
          </a:p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本システムは、社会インフラの異常を リアルタイムに把握 し、従来の「経験と勘」に依存してきた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点検作業を、データに基づく安心</a:t>
            </a:r>
            <a:r>
              <a:rPr lang="ja-JP" altLang="en-US" sz="1600" dirty="0">
                <a:solidFill>
                  <a:schemeClr val="tx1"/>
                </a:solidFill>
              </a:rPr>
              <a:t>・安全</a:t>
            </a:r>
            <a:r>
              <a:rPr kumimoji="1" lang="ja-JP" altLang="en-US" sz="1600" dirty="0">
                <a:solidFill>
                  <a:schemeClr val="tx1"/>
                </a:solidFill>
              </a:rPr>
              <a:t>の仕組みへと変革することを提案します！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C9A5F38-0F70-34D2-4CF4-9D096497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7" y="770304"/>
            <a:ext cx="2644611" cy="19834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F017090-2AA3-16EC-08BF-71E0E5367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981" y="770304"/>
            <a:ext cx="2644612" cy="19834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5398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861C39-4B80-20E5-22D0-A7287BA3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１．</a:t>
            </a:r>
            <a:r>
              <a:rPr lang="ja-JP" altLang="en-US" dirty="0"/>
              <a:t>はじめに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8C605FD-151A-0ACE-3DDD-5DACC8AE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16BCCC-06C6-ED57-A566-19108ADA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C8091F57-5518-CEC7-A202-433FC5DE57DE}"/>
              </a:ext>
            </a:extLst>
          </p:cNvPr>
          <p:cNvSpPr txBox="1">
            <a:spLocks/>
          </p:cNvSpPr>
          <p:nvPr/>
        </p:nvSpPr>
        <p:spPr>
          <a:xfrm>
            <a:off x="647700" y="990600"/>
            <a:ext cx="10515600" cy="5502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ja-JP" altLang="en-US" sz="3200" dirty="0"/>
              <a:t>橋梁などの社会インフラは、老朽化や人材不足によって保守点検が難しくなっている。</a:t>
            </a:r>
            <a:endParaRPr lang="en-US" altLang="ja-JP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ja-JP" sz="3200" dirty="0"/>
              <a:t>LGX Shield </a:t>
            </a:r>
            <a:r>
              <a:rPr lang="ja-JP" altLang="en-US" sz="3200" dirty="0"/>
              <a:t>は、加速度センサを用いて橋梁などの振動を計測し、</a:t>
            </a:r>
            <a:r>
              <a:rPr lang="en-US" altLang="ja-JP" sz="3200" b="1" dirty="0">
                <a:solidFill>
                  <a:srgbClr val="0000FF"/>
                </a:solidFill>
              </a:rPr>
              <a:t>AI</a:t>
            </a:r>
            <a:r>
              <a:rPr lang="ja-JP" altLang="en-US" sz="3200" b="1" dirty="0">
                <a:solidFill>
                  <a:srgbClr val="0000FF"/>
                </a:solidFill>
              </a:rPr>
              <a:t>による判定で「安全／危険」を即時に見える化</a:t>
            </a:r>
            <a:r>
              <a:rPr lang="ja-JP" altLang="en-US" sz="3200" dirty="0"/>
              <a:t>するシステムである。</a:t>
            </a:r>
            <a:endParaRPr lang="en-US" altLang="ja-JP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3200" dirty="0"/>
              <a:t>加速度データは </a:t>
            </a:r>
            <a:r>
              <a:rPr lang="en-US" altLang="ja-JP" sz="3200" dirty="0"/>
              <a:t>100Hz </a:t>
            </a:r>
            <a:r>
              <a:rPr lang="ja-JP" altLang="en-US" sz="3200" dirty="0"/>
              <a:t>でサンプリングされ、</a:t>
            </a:r>
            <a:r>
              <a:rPr lang="en-US" altLang="ja-JP" sz="3200" b="1" dirty="0">
                <a:solidFill>
                  <a:srgbClr val="0000FF"/>
                </a:solidFill>
              </a:rPr>
              <a:t>FFT </a:t>
            </a:r>
            <a:r>
              <a:rPr lang="ja-JP" altLang="en-US" sz="3200" b="1" dirty="0">
                <a:solidFill>
                  <a:srgbClr val="0000FF"/>
                </a:solidFill>
              </a:rPr>
              <a:t>解析と特徴抽出を経て推論</a:t>
            </a:r>
            <a:r>
              <a:rPr lang="ja-JP" altLang="en-US" sz="3200" dirty="0"/>
              <a:t>に利用される。</a:t>
            </a:r>
            <a:endParaRPr lang="en-US" altLang="ja-JP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3200" dirty="0"/>
              <a:t>判定結果は </a:t>
            </a:r>
            <a:r>
              <a:rPr lang="en-US" altLang="ja-JP" sz="3200" dirty="0"/>
              <a:t>LED </a:t>
            </a:r>
            <a:r>
              <a:rPr lang="ja-JP" altLang="en-US" sz="3200" dirty="0"/>
              <a:t>表示と </a:t>
            </a:r>
            <a:r>
              <a:rPr lang="en-US" altLang="ja-JP" sz="3200" dirty="0"/>
              <a:t>LAN </a:t>
            </a:r>
            <a:r>
              <a:rPr lang="ja-JP" altLang="en-US" sz="3200" dirty="0"/>
              <a:t>内サーバで確認でき、クラウド接続や複雑な設定は不要。</a:t>
            </a:r>
            <a:r>
              <a:rPr lang="en-US" altLang="ja-JP" sz="3200" dirty="0"/>
              <a:t>(</a:t>
            </a:r>
            <a:r>
              <a:rPr lang="ja-JP" altLang="en-US" sz="3200" dirty="0"/>
              <a:t>本コンテスト向け</a:t>
            </a:r>
            <a:r>
              <a:rPr lang="en-US" altLang="ja-JP" sz="32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3200" b="1" dirty="0">
                <a:solidFill>
                  <a:srgbClr val="0000FF"/>
                </a:solidFill>
              </a:rPr>
              <a:t>簡易でありながらリアルタイム性に優れた </a:t>
            </a:r>
            <a:r>
              <a:rPr lang="en-US" altLang="ja-JP" sz="3200" b="1" dirty="0">
                <a:solidFill>
                  <a:srgbClr val="0000FF"/>
                </a:solidFill>
              </a:rPr>
              <a:t>IoT </a:t>
            </a:r>
            <a:r>
              <a:rPr lang="ja-JP" altLang="en-US" sz="3200" b="1" dirty="0">
                <a:solidFill>
                  <a:srgbClr val="0000FF"/>
                </a:solidFill>
              </a:rPr>
              <a:t>モニタリングの実現例 </a:t>
            </a:r>
            <a:r>
              <a:rPr lang="ja-JP" altLang="en-US" sz="3200" dirty="0"/>
              <a:t>である。</a:t>
            </a:r>
          </a:p>
        </p:txBody>
      </p:sp>
    </p:spTree>
    <p:extLst>
      <p:ext uri="{BB962C8B-B14F-4D97-AF65-F5344CB8AC3E}">
        <p14:creationId xmlns:p14="http://schemas.microsoft.com/office/powerpoint/2010/main" val="180175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2E83-E1BB-0BB5-D6A4-6BF56B0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FD5CE-A864-0340-9861-ACB5C334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２ー１</a:t>
            </a:r>
            <a:r>
              <a:rPr kumimoji="1" lang="ja-JP" altLang="en-US" dirty="0"/>
              <a:t>．</a:t>
            </a:r>
            <a:r>
              <a:rPr lang="ja-JP" altLang="en-US" dirty="0"/>
              <a:t>システム構成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1983ED-4603-F5CE-E00F-52AB33CC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E1D305-4FBA-8DA4-A94D-B9B8F317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003C1F0-5F4B-750C-21F9-4EDADCEE4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932" y="1715287"/>
            <a:ext cx="4298255" cy="241776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B8D17A3-BCAD-C095-D39F-C978A3D1B624}"/>
              </a:ext>
            </a:extLst>
          </p:cNvPr>
          <p:cNvSpPr/>
          <p:nvPr/>
        </p:nvSpPr>
        <p:spPr>
          <a:xfrm>
            <a:off x="209550" y="758076"/>
            <a:ext cx="9172575" cy="518274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本コンテスト向けに</a:t>
            </a:r>
            <a:r>
              <a:rPr kumimoji="0" lang="en-US" altLang="ja-JP" sz="2400" dirty="0">
                <a:solidFill>
                  <a:schemeClr val="tx1"/>
                </a:solidFill>
                <a:latin typeface="Arial" panose="020B0604020202020204" pitchFamily="34" charset="0"/>
              </a:rPr>
              <a:t>LGX-Shield</a:t>
            </a:r>
            <a:r>
              <a:rPr kumimoji="0" lang="ja-JP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と疑似サーバシステムを開発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C116B44-01EC-6F24-C5E2-BA6F29AEA012}"/>
              </a:ext>
            </a:extLst>
          </p:cNvPr>
          <p:cNvSpPr/>
          <p:nvPr/>
        </p:nvSpPr>
        <p:spPr>
          <a:xfrm>
            <a:off x="419100" y="3457574"/>
            <a:ext cx="1696333" cy="14807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LGX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Shield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(EK-RA8D1)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63B1D-0F17-8CFA-9BBA-0F565B36354B}"/>
              </a:ext>
            </a:extLst>
          </p:cNvPr>
          <p:cNvSpPr/>
          <p:nvPr/>
        </p:nvSpPr>
        <p:spPr>
          <a:xfrm>
            <a:off x="3839457" y="3457575"/>
            <a:ext cx="1696333" cy="1475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疑似サーバ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(RaspberryPi3)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BA30A2C-E8FD-F687-BEA9-BC10C46D2990}"/>
              </a:ext>
            </a:extLst>
          </p:cNvPr>
          <p:cNvSpPr/>
          <p:nvPr/>
        </p:nvSpPr>
        <p:spPr>
          <a:xfrm>
            <a:off x="2143124" y="1971675"/>
            <a:ext cx="1696333" cy="8108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</a:rPr>
              <a:t>HUB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F132E95-D3A8-16A6-3606-6DD9FEEFC50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267267" y="3181350"/>
            <a:ext cx="0" cy="27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24490CA-DE66-02BB-5EC6-089F30B36045}"/>
              </a:ext>
            </a:extLst>
          </p:cNvPr>
          <p:cNvCxnSpPr>
            <a:cxnSpLocks/>
          </p:cNvCxnSpPr>
          <p:nvPr/>
        </p:nvCxnSpPr>
        <p:spPr>
          <a:xfrm flipH="1">
            <a:off x="1267267" y="3181350"/>
            <a:ext cx="12092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91D73AB2-5BE2-D004-D9D7-13C2FC03BA7C}"/>
              </a:ext>
            </a:extLst>
          </p:cNvPr>
          <p:cNvCxnSpPr>
            <a:cxnSpLocks/>
          </p:cNvCxnSpPr>
          <p:nvPr/>
        </p:nvCxnSpPr>
        <p:spPr>
          <a:xfrm flipV="1">
            <a:off x="2476500" y="2782495"/>
            <a:ext cx="0" cy="3988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747F30E-3F7E-FB78-B589-1464C2EB4CE8}"/>
              </a:ext>
            </a:extLst>
          </p:cNvPr>
          <p:cNvCxnSpPr>
            <a:cxnSpLocks/>
          </p:cNvCxnSpPr>
          <p:nvPr/>
        </p:nvCxnSpPr>
        <p:spPr>
          <a:xfrm flipV="1">
            <a:off x="3505200" y="2782495"/>
            <a:ext cx="0" cy="3988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0025487-FD01-448A-0D69-FEAEDC8E1519}"/>
              </a:ext>
            </a:extLst>
          </p:cNvPr>
          <p:cNvCxnSpPr>
            <a:cxnSpLocks/>
          </p:cNvCxnSpPr>
          <p:nvPr/>
        </p:nvCxnSpPr>
        <p:spPr>
          <a:xfrm flipH="1">
            <a:off x="3505200" y="3181350"/>
            <a:ext cx="12092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CE16A2B-3A02-4707-2C1A-AEB90AEDC622}"/>
              </a:ext>
            </a:extLst>
          </p:cNvPr>
          <p:cNvCxnSpPr>
            <a:cxnSpLocks/>
          </p:cNvCxnSpPr>
          <p:nvPr/>
        </p:nvCxnSpPr>
        <p:spPr>
          <a:xfrm flipV="1">
            <a:off x="4695825" y="3181350"/>
            <a:ext cx="0" cy="27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6BF5A82-6F8C-CE28-E1B2-20469EC5A0FE}"/>
              </a:ext>
            </a:extLst>
          </p:cNvPr>
          <p:cNvSpPr/>
          <p:nvPr/>
        </p:nvSpPr>
        <p:spPr>
          <a:xfrm>
            <a:off x="524316" y="5031483"/>
            <a:ext cx="1485900" cy="108059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・加速度センサ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(MPU-9250)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にて片持ち梁の振動を収集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5238ECD-D5CE-D8B5-671D-ECCD1D1F4AA4}"/>
              </a:ext>
            </a:extLst>
          </p:cNvPr>
          <p:cNvSpPr/>
          <p:nvPr/>
        </p:nvSpPr>
        <p:spPr>
          <a:xfrm>
            <a:off x="3941072" y="4932757"/>
            <a:ext cx="1485900" cy="108059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・安全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危険情報を収集し、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LED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制御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緑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赤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40" name="吹き出し: 角を丸めた四角形 39">
            <a:extLst>
              <a:ext uri="{FF2B5EF4-FFF2-40B4-BE49-F238E27FC236}">
                <a16:creationId xmlns:a16="http://schemas.microsoft.com/office/drawing/2014/main" id="{B6F8511A-96AA-F3B9-5FF3-D194838905D4}"/>
              </a:ext>
            </a:extLst>
          </p:cNvPr>
          <p:cNvSpPr/>
          <p:nvPr/>
        </p:nvSpPr>
        <p:spPr>
          <a:xfrm>
            <a:off x="4684022" y="1859215"/>
            <a:ext cx="2138357" cy="1157283"/>
          </a:xfrm>
          <a:prstGeom prst="wedgeRoundRectCallout">
            <a:avLst>
              <a:gd name="adj1" fmla="val -44100"/>
              <a:gd name="adj2" fmla="val 9789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/>
              <a:t>本番サービスでは、サーバはクラウド上に構築、アウトプットは利用者端末</a:t>
            </a:r>
            <a:r>
              <a:rPr kumimoji="1" lang="en-US" altLang="ja-JP" sz="1400" dirty="0"/>
              <a:t>(PC</a:t>
            </a:r>
            <a:r>
              <a:rPr kumimoji="1" lang="ja-JP" altLang="en-US" sz="1400" dirty="0"/>
              <a:t>、スマホ</a:t>
            </a:r>
            <a:r>
              <a:rPr kumimoji="1" lang="en-US" altLang="ja-JP" sz="1400" dirty="0"/>
              <a:t>)</a:t>
            </a:r>
            <a:r>
              <a:rPr kumimoji="1" lang="ja-JP" altLang="en-US" sz="1400" dirty="0"/>
              <a:t>を想定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EF7F9BC-9801-FB4D-921C-D6258F71CB23}"/>
              </a:ext>
            </a:extLst>
          </p:cNvPr>
          <p:cNvSpPr/>
          <p:nvPr/>
        </p:nvSpPr>
        <p:spPr>
          <a:xfrm>
            <a:off x="9491536" y="1810537"/>
            <a:ext cx="420424" cy="39885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HUB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9CB4FC6-639E-0543-5FF1-69A209198C4E}"/>
              </a:ext>
            </a:extLst>
          </p:cNvPr>
          <p:cNvSpPr/>
          <p:nvPr/>
        </p:nvSpPr>
        <p:spPr>
          <a:xfrm>
            <a:off x="10341133" y="3332257"/>
            <a:ext cx="781050" cy="28346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疑似サーバ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06279AF-CB29-BDE2-AB39-A982B7352A8B}"/>
              </a:ext>
            </a:extLst>
          </p:cNvPr>
          <p:cNvSpPr/>
          <p:nvPr/>
        </p:nvSpPr>
        <p:spPr>
          <a:xfrm>
            <a:off x="8342709" y="2608160"/>
            <a:ext cx="781050" cy="28346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LGX-Shield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EC3F7FA-3F1C-DEFE-5071-E33F9F02E4A5}"/>
              </a:ext>
            </a:extLst>
          </p:cNvPr>
          <p:cNvSpPr/>
          <p:nvPr/>
        </p:nvSpPr>
        <p:spPr>
          <a:xfrm>
            <a:off x="9235354" y="2813903"/>
            <a:ext cx="932788" cy="24030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片持ち梁</a:t>
            </a:r>
            <a:r>
              <a:rPr lang="en-US" altLang="ja-JP" sz="1000" dirty="0">
                <a:solidFill>
                  <a:schemeClr val="tx1"/>
                </a:solidFill>
              </a:rPr>
              <a:t>(2</a:t>
            </a:r>
            <a:r>
              <a:rPr lang="ja-JP" altLang="en-US" sz="1000" dirty="0">
                <a:solidFill>
                  <a:schemeClr val="tx1"/>
                </a:solidFill>
              </a:rPr>
              <a:t>種</a:t>
            </a:r>
            <a:r>
              <a:rPr lang="en-US" altLang="ja-JP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54CAB3D-19ED-3F75-A519-7C06304C263A}"/>
              </a:ext>
            </a:extLst>
          </p:cNvPr>
          <p:cNvSpPr/>
          <p:nvPr/>
        </p:nvSpPr>
        <p:spPr>
          <a:xfrm>
            <a:off x="9123759" y="3308006"/>
            <a:ext cx="437819" cy="165985"/>
          </a:xfrm>
          <a:prstGeom prst="rect">
            <a:avLst/>
          </a:prstGeom>
          <a:solidFill>
            <a:srgbClr val="92D05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安全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B104C9C-5BD1-C03C-70E7-DAB19D3C65E1}"/>
              </a:ext>
            </a:extLst>
          </p:cNvPr>
          <p:cNvSpPr/>
          <p:nvPr/>
        </p:nvSpPr>
        <p:spPr>
          <a:xfrm>
            <a:off x="9702575" y="3320799"/>
            <a:ext cx="437819" cy="165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危険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47" name="吹き出し: 角を丸めた四角形 46">
            <a:extLst>
              <a:ext uri="{FF2B5EF4-FFF2-40B4-BE49-F238E27FC236}">
                <a16:creationId xmlns:a16="http://schemas.microsoft.com/office/drawing/2014/main" id="{C40A0189-9B0A-EE28-3877-FFECC9A18AA3}"/>
              </a:ext>
            </a:extLst>
          </p:cNvPr>
          <p:cNvSpPr/>
          <p:nvPr/>
        </p:nvSpPr>
        <p:spPr>
          <a:xfrm>
            <a:off x="8095879" y="3885404"/>
            <a:ext cx="725710" cy="365125"/>
          </a:xfrm>
          <a:prstGeom prst="wedgeRoundRectCallout">
            <a:avLst>
              <a:gd name="adj1" fmla="val 117314"/>
              <a:gd name="adj2" fmla="val -1560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加速度センサ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3E965DD5-8473-9D9E-60D5-FC61301B7EF4}"/>
              </a:ext>
            </a:extLst>
          </p:cNvPr>
          <p:cNvSpPr/>
          <p:nvPr/>
        </p:nvSpPr>
        <p:spPr>
          <a:xfrm>
            <a:off x="7657156" y="3174510"/>
            <a:ext cx="553334" cy="276914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電源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C39FFBF8-C6C7-2B92-24E1-C88DBC2D1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932" y="4751583"/>
            <a:ext cx="1485900" cy="1588090"/>
          </a:xfrm>
          <a:prstGeom prst="rect">
            <a:avLst/>
          </a:prstGeom>
        </p:spPr>
      </p:pic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3876037-0B7F-16AE-04CC-F6D52631C18A}"/>
              </a:ext>
            </a:extLst>
          </p:cNvPr>
          <p:cNvSpPr/>
          <p:nvPr/>
        </p:nvSpPr>
        <p:spPr>
          <a:xfrm>
            <a:off x="7475901" y="1294900"/>
            <a:ext cx="1759453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■実機配置図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8ACBF04-5CB6-16B5-11FF-5B45896CC984}"/>
              </a:ext>
            </a:extLst>
          </p:cNvPr>
          <p:cNvSpPr/>
          <p:nvPr/>
        </p:nvSpPr>
        <p:spPr>
          <a:xfrm>
            <a:off x="7475901" y="4274937"/>
            <a:ext cx="1647858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■片持ち梁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745C5F1-1EA4-323C-71F0-DC06FE978C6B}"/>
              </a:ext>
            </a:extLst>
          </p:cNvPr>
          <p:cNvSpPr/>
          <p:nvPr/>
        </p:nvSpPr>
        <p:spPr>
          <a:xfrm>
            <a:off x="9123760" y="4790498"/>
            <a:ext cx="2746428" cy="154917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・安全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危険版の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種を用意</a:t>
            </a:r>
            <a:endParaRPr kumimoji="0" lang="en-US" altLang="ja-JP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・先端に加速度センサを固定</a:t>
            </a:r>
            <a:endParaRPr kumimoji="0" lang="en-US" altLang="ja-JP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・指で梁を押して振動させる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4C7A462F-0ED2-142C-B3F4-2361CBDA6F14}"/>
              </a:ext>
            </a:extLst>
          </p:cNvPr>
          <p:cNvSpPr/>
          <p:nvPr/>
        </p:nvSpPr>
        <p:spPr>
          <a:xfrm>
            <a:off x="7755788" y="4831257"/>
            <a:ext cx="437819" cy="165985"/>
          </a:xfrm>
          <a:prstGeom prst="rect">
            <a:avLst/>
          </a:prstGeom>
          <a:solidFill>
            <a:srgbClr val="92D05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安全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24E55AA-FF49-68C6-A4E1-F50E1F79FC1C}"/>
              </a:ext>
            </a:extLst>
          </p:cNvPr>
          <p:cNvSpPr/>
          <p:nvPr/>
        </p:nvSpPr>
        <p:spPr>
          <a:xfrm>
            <a:off x="8460532" y="4819846"/>
            <a:ext cx="437819" cy="165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危険</a:t>
            </a:r>
            <a:endParaRPr lang="en-US" altLang="ja-JP" sz="1000" dirty="0">
              <a:solidFill>
                <a:schemeClr val="tx1"/>
              </a:solidFill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A3E3A952-594F-B59F-6C40-DA30DA12A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969" y="3697460"/>
            <a:ext cx="898427" cy="644753"/>
          </a:xfrm>
          <a:prstGeom prst="rect">
            <a:avLst/>
          </a:prstGeom>
        </p:spPr>
      </p:pic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FBDEFC2-F2CC-6F3D-D2D9-05CE643319C4}"/>
              </a:ext>
            </a:extLst>
          </p:cNvPr>
          <p:cNvSpPr/>
          <p:nvPr/>
        </p:nvSpPr>
        <p:spPr>
          <a:xfrm>
            <a:off x="10641959" y="4306071"/>
            <a:ext cx="960446" cy="31197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000" dirty="0">
                <a:solidFill>
                  <a:srgbClr val="FF0000"/>
                </a:solidFill>
              </a:rPr>
              <a:t>危険時は赤点灯</a:t>
            </a:r>
            <a:endParaRPr lang="en-US" altLang="ja-JP" sz="1000" dirty="0">
              <a:solidFill>
                <a:srgbClr val="FF0000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5D58573-030E-DFAD-393C-64F1D4B3640E}"/>
              </a:ext>
            </a:extLst>
          </p:cNvPr>
          <p:cNvSpPr/>
          <p:nvPr/>
        </p:nvSpPr>
        <p:spPr>
          <a:xfrm>
            <a:off x="421432" y="1362915"/>
            <a:ext cx="2236042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■システム構成図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58C575D-10A7-881A-B5C8-2943A4C1895F}"/>
              </a:ext>
            </a:extLst>
          </p:cNvPr>
          <p:cNvSpPr/>
          <p:nvPr/>
        </p:nvSpPr>
        <p:spPr>
          <a:xfrm>
            <a:off x="311324" y="2981922"/>
            <a:ext cx="861792" cy="4963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コンテスト</a:t>
            </a:r>
            <a:endParaRPr kumimoji="0" lang="en-US" altLang="ja-JP" sz="105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審査対象</a:t>
            </a:r>
            <a:endParaRPr lang="en-US" altLang="ja-JP" sz="1050" dirty="0">
              <a:solidFill>
                <a:srgbClr val="FF0000"/>
              </a:solidFill>
            </a:endParaRPr>
          </a:p>
        </p:txBody>
      </p:sp>
      <p:pic>
        <p:nvPicPr>
          <p:cNvPr id="61" name="Picture 2" descr="Python 垂直 ロゴ - ソーシャルメディアとロゴ アイコン">
            <a:extLst>
              <a:ext uri="{FF2B5EF4-FFF2-40B4-BE49-F238E27FC236}">
                <a16:creationId xmlns:a16="http://schemas.microsoft.com/office/drawing/2014/main" id="{B4B5CB04-67CC-D3F5-5830-3A96EB1A1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408" y="3390998"/>
            <a:ext cx="612305" cy="68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68308082-4EC9-52B0-AA9F-B505FC7F0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430" y="3435225"/>
            <a:ext cx="537837" cy="640282"/>
          </a:xfrm>
          <a:prstGeom prst="rect">
            <a:avLst/>
          </a:prstGeom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766016F-B10A-CD81-13F3-ADE0ECBA3C4F}"/>
              </a:ext>
            </a:extLst>
          </p:cNvPr>
          <p:cNvSpPr/>
          <p:nvPr/>
        </p:nvSpPr>
        <p:spPr>
          <a:xfrm>
            <a:off x="3286331" y="5946373"/>
            <a:ext cx="3536048" cy="532998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※RaspberryPi3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はたまたま手元にあったもの。</a:t>
            </a:r>
            <a:endParaRPr kumimoji="0" lang="en-US" altLang="ja-JP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　時代遅れだが、ちょっとした実験には便利</a:t>
            </a:r>
            <a:endParaRPr kumimoji="0" lang="en-US" altLang="ja-JP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0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D815-B356-B79D-8078-E26230CC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41D7CE-F9F1-2FBB-0FA1-DA878174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２ー２</a:t>
            </a:r>
            <a:r>
              <a:rPr kumimoji="1" lang="ja-JP" altLang="en-US" dirty="0"/>
              <a:t>．タスク、モジュール構成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3F5CAB-5E43-B2D7-D526-A17C8B60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3BA12A-039D-88A9-A8A3-165F71AE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B545451-24D3-EE4E-6432-BC2C5CFD2D13}"/>
              </a:ext>
            </a:extLst>
          </p:cNvPr>
          <p:cNvSpPr/>
          <p:nvPr/>
        </p:nvSpPr>
        <p:spPr>
          <a:xfrm>
            <a:off x="1094493" y="2118373"/>
            <a:ext cx="539296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TAPP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7D3B37-0B28-F0F3-5523-5A53D45A3E60}"/>
              </a:ext>
            </a:extLst>
          </p:cNvPr>
          <p:cNvSpPr/>
          <p:nvPr/>
        </p:nvSpPr>
        <p:spPr>
          <a:xfrm>
            <a:off x="1094492" y="1204629"/>
            <a:ext cx="1696333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TAI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5CBBA88-3679-3782-C73D-36387D7CE48B}"/>
              </a:ext>
            </a:extLst>
          </p:cNvPr>
          <p:cNvSpPr/>
          <p:nvPr/>
        </p:nvSpPr>
        <p:spPr>
          <a:xfrm>
            <a:off x="2942808" y="1204629"/>
            <a:ext cx="169633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TNET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B0A654-9D41-5299-B50D-5FDFF4ACF9A9}"/>
              </a:ext>
            </a:extLst>
          </p:cNvPr>
          <p:cNvSpPr/>
          <p:nvPr/>
        </p:nvSpPr>
        <p:spPr>
          <a:xfrm>
            <a:off x="1094493" y="3032117"/>
            <a:ext cx="3544647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TIMU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3420532-6FA8-3108-95FC-B5799532C0F9}"/>
              </a:ext>
            </a:extLst>
          </p:cNvPr>
          <p:cNvSpPr/>
          <p:nvPr/>
        </p:nvSpPr>
        <p:spPr>
          <a:xfrm>
            <a:off x="2942808" y="4043494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I2C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1B867BD-81C3-DE66-B7F2-EDECAB1334C7}"/>
              </a:ext>
            </a:extLst>
          </p:cNvPr>
          <p:cNvSpPr/>
          <p:nvPr/>
        </p:nvSpPr>
        <p:spPr>
          <a:xfrm>
            <a:off x="4791123" y="4052546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ETH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E07D6D1-5F5F-C159-684A-954E839CEE9F}"/>
              </a:ext>
            </a:extLst>
          </p:cNvPr>
          <p:cNvSpPr/>
          <p:nvPr/>
        </p:nvSpPr>
        <p:spPr>
          <a:xfrm>
            <a:off x="1094491" y="4036507"/>
            <a:ext cx="1696333" cy="722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3200" dirty="0">
                <a:solidFill>
                  <a:schemeClr val="tx1"/>
                </a:solidFill>
              </a:rPr>
              <a:t>GPT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9F5555E-163E-FEB4-D958-7340723E29CB}"/>
              </a:ext>
            </a:extLst>
          </p:cNvPr>
          <p:cNvSpPr/>
          <p:nvPr/>
        </p:nvSpPr>
        <p:spPr>
          <a:xfrm>
            <a:off x="4791123" y="1204629"/>
            <a:ext cx="1696332" cy="7224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TLED</a:t>
            </a:r>
            <a:endParaRPr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C05938-D4F7-E249-1CA9-227FCF560C5B}"/>
              </a:ext>
            </a:extLst>
          </p:cNvPr>
          <p:cNvSpPr/>
          <p:nvPr/>
        </p:nvSpPr>
        <p:spPr>
          <a:xfrm>
            <a:off x="385320" y="1204628"/>
            <a:ext cx="357630" cy="2549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層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E34DDE6-0082-92B6-42F1-C8B4589B574B}"/>
              </a:ext>
            </a:extLst>
          </p:cNvPr>
          <p:cNvSpPr/>
          <p:nvPr/>
        </p:nvSpPr>
        <p:spPr>
          <a:xfrm>
            <a:off x="385319" y="3849265"/>
            <a:ext cx="357630" cy="1096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R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V</a:t>
            </a:r>
          </a:p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層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0C15746-CCC5-F5C7-C795-3E122E3D9630}"/>
              </a:ext>
            </a:extLst>
          </p:cNvPr>
          <p:cNvSpPr/>
          <p:nvPr/>
        </p:nvSpPr>
        <p:spPr>
          <a:xfrm>
            <a:off x="6924676" y="1169812"/>
            <a:ext cx="4882004" cy="2549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ja-JP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TAI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：FFTを実行し、CMSIS-NNのMLPで推論。判定結果を返却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ja-JP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TNET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：判定結果をUDPでLAN内サーバに送信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ja-JP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TLED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：安全／危険を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本体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LEDで直感的に表示</a:t>
            </a:r>
            <a:endParaRPr kumimoji="0" lang="en-US" altLang="ja-JP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</a:t>
            </a:r>
            <a:r>
              <a:rPr kumimoji="0" lang="ja-JP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TAPP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：アプリ全体の制御を担い、収集データから特徴量を抽出し、推論リクエストを生成</a:t>
            </a:r>
          </a:p>
          <a:p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・ </a:t>
            </a:r>
            <a:r>
              <a:rPr kumimoji="0" lang="ja-JP" altLang="ja-JP" sz="1600" b="1" dirty="0">
                <a:solidFill>
                  <a:schemeClr val="tx1"/>
                </a:solidFill>
                <a:latin typeface="Arial" panose="020B0604020202020204" pitchFamily="34" charset="0"/>
              </a:rPr>
              <a:t>TIMU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：GPT割込で駆動し、100Hzで加速度データ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を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収集。1024サンプル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(10.24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秒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ごとに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TAPP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へ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通知</a:t>
            </a:r>
          </a:p>
          <a:p>
            <a:pPr algn="ctr"/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F69DCAB-3540-C60B-0DAF-67C7FB763280}"/>
              </a:ext>
            </a:extLst>
          </p:cNvPr>
          <p:cNvSpPr/>
          <p:nvPr/>
        </p:nvSpPr>
        <p:spPr>
          <a:xfrm>
            <a:off x="385319" y="5074813"/>
            <a:ext cx="357630" cy="900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H</a:t>
            </a: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W</a:t>
            </a:r>
          </a:p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層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D21C311-CEE7-3D4B-7D56-CBE2F1FB904C}"/>
              </a:ext>
            </a:extLst>
          </p:cNvPr>
          <p:cNvSpPr/>
          <p:nvPr/>
        </p:nvSpPr>
        <p:spPr>
          <a:xfrm>
            <a:off x="2942808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加速度センサ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MPU-9250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8399E8-741D-071C-ADCB-02B9916288CE}"/>
              </a:ext>
            </a:extLst>
          </p:cNvPr>
          <p:cNvSpPr/>
          <p:nvPr/>
        </p:nvSpPr>
        <p:spPr>
          <a:xfrm>
            <a:off x="4791123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イーサネット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22E58A8-574D-DE60-5D83-4CF3C5C0A544}"/>
              </a:ext>
            </a:extLst>
          </p:cNvPr>
          <p:cNvSpPr/>
          <p:nvPr/>
        </p:nvSpPr>
        <p:spPr>
          <a:xfrm>
            <a:off x="1094491" y="5163631"/>
            <a:ext cx="1696333" cy="722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CPU</a:t>
            </a:r>
            <a:r>
              <a:rPr lang="ja-JP" altLang="en-US" sz="1600" dirty="0">
                <a:solidFill>
                  <a:schemeClr val="tx1"/>
                </a:solidFill>
              </a:rPr>
              <a:t>内蔵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汎用タイマ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9CFBAFB-CBC1-851A-EC9B-FA58A1C274C6}"/>
              </a:ext>
            </a:extLst>
          </p:cNvPr>
          <p:cNvSpPr/>
          <p:nvPr/>
        </p:nvSpPr>
        <p:spPr>
          <a:xfrm>
            <a:off x="6924676" y="3848752"/>
            <a:ext cx="4882004" cy="10969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GPT（10ms割込）で正確なサンプリングを実現。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Cで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加速度センサ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MPU-9250を制御、加速度データを取得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EthernetでUDPパケットを</a:t>
            </a:r>
            <a:r>
              <a:rPr kumimoji="0" lang="ja-JP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送信</a:t>
            </a:r>
            <a:r>
              <a:rPr kumimoji="0" lang="ja-JP" altLang="ja-JP" sz="1600" dirty="0">
                <a:solidFill>
                  <a:schemeClr val="tx1"/>
                </a:solidFill>
                <a:latin typeface="Arial" panose="020B0604020202020204" pitchFamily="34" charset="0"/>
              </a:rPr>
              <a:t>、擬似クラウドへ</a:t>
            </a: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916CFD3C-8B9C-4DC0-69F6-BE2A95E0B7DD}"/>
              </a:ext>
            </a:extLst>
          </p:cNvPr>
          <p:cNvSpPr/>
          <p:nvPr/>
        </p:nvSpPr>
        <p:spPr>
          <a:xfrm>
            <a:off x="5076360" y="3008313"/>
            <a:ext cx="1610656" cy="840439"/>
          </a:xfrm>
          <a:prstGeom prst="wedgeRoundRectCallout">
            <a:avLst>
              <a:gd name="adj1" fmla="val -58799"/>
              <a:gd name="adj2" fmla="val -46966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kumimoji="1" lang="ja-JP" altLang="en-US" sz="1050" dirty="0">
                <a:solidFill>
                  <a:srgbClr val="FF0000"/>
                </a:solidFill>
              </a:rPr>
              <a:t>各タスク間の通信はメールボックス、ペイロードは固定長メモリプールを利用した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3483AFAB-57DB-A095-D0DA-FF506359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6" y="749617"/>
            <a:ext cx="684856" cy="81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50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8DB7A5-D6B1-C9D6-5D19-63EE6582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３．</a:t>
            </a:r>
            <a:r>
              <a:rPr kumimoji="1" lang="en-US" altLang="ja-JP" dirty="0"/>
              <a:t>AI</a:t>
            </a:r>
            <a:r>
              <a:rPr kumimoji="1" lang="ja-JP" altLang="en-US" dirty="0"/>
              <a:t>処理概要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38F8D3-3EAC-9530-1814-4A3CC60FB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dirty="0"/>
              <a:t>FFT</a:t>
            </a:r>
            <a:r>
              <a:rPr kumimoji="1" lang="ja-JP" altLang="en-US" dirty="0"/>
              <a:t>処理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1024</a:t>
            </a:r>
            <a:r>
              <a:rPr kumimoji="1" lang="ja-JP" altLang="en-US" dirty="0"/>
              <a:t>点の加速度データを周波数解析し、振動のスペクトル成分を抽出。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スペクトルから特徴的な</a:t>
            </a:r>
            <a:r>
              <a:rPr kumimoji="1" lang="en-US" altLang="ja-JP" dirty="0"/>
              <a:t>16</a:t>
            </a:r>
            <a:r>
              <a:rPr kumimoji="1" lang="ja-JP" altLang="en-US" dirty="0"/>
              <a:t>点を抽出し、異常判定の入力データとする。</a:t>
            </a:r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dirty="0"/>
              <a:t>AI</a:t>
            </a:r>
            <a:r>
              <a:rPr kumimoji="1" lang="ja-JP" altLang="en-US" dirty="0"/>
              <a:t>推論（</a:t>
            </a:r>
            <a:r>
              <a:rPr kumimoji="1" lang="en-US" altLang="ja-JP" dirty="0"/>
              <a:t>CMSIS-NN MLP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入力：</a:t>
            </a:r>
            <a:r>
              <a:rPr kumimoji="1" lang="en-US" altLang="ja-JP" dirty="0"/>
              <a:t>16</a:t>
            </a:r>
            <a:r>
              <a:rPr kumimoji="1" lang="ja-JP" altLang="en-US" dirty="0"/>
              <a:t>次元の特徴ベクトル。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出力：安全</a:t>
            </a:r>
            <a:r>
              <a:rPr kumimoji="1" lang="en-US" altLang="ja-JP" dirty="0"/>
              <a:t>(0)</a:t>
            </a:r>
            <a:r>
              <a:rPr kumimoji="1" lang="ja-JP" altLang="en-US" dirty="0"/>
              <a:t>／危険</a:t>
            </a:r>
            <a:r>
              <a:rPr kumimoji="1" lang="en-US" altLang="ja-JP" dirty="0"/>
              <a:t>(1) </a:t>
            </a:r>
            <a:r>
              <a:rPr kumimoji="1" lang="ja-JP" altLang="en-US" dirty="0"/>
              <a:t>を分類。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CMSIS-NN</a:t>
            </a:r>
            <a:r>
              <a:rPr kumimoji="1" lang="ja-JP" altLang="en-US" dirty="0"/>
              <a:t>により軽量かつ高速な推論をマイコン単体で実現。</a:t>
            </a:r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kumimoji="1" lang="ja-JP" altLang="en-US" dirty="0"/>
              <a:t>特徴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クラウドや外部サーバを使わず、マイコン上で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を完結。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小型・低消費電力環境でも動作可能で、現場でのリアルタイム監視に適用できる。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0E6CBC-000C-3A3C-7A06-7E31FC34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854D14-A309-76D9-3450-B6ADC9F7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E438310-AAEB-CD78-3C93-8B92AC78397F}"/>
              </a:ext>
            </a:extLst>
          </p:cNvPr>
          <p:cNvSpPr/>
          <p:nvPr/>
        </p:nvSpPr>
        <p:spPr>
          <a:xfrm>
            <a:off x="352865" y="5594840"/>
            <a:ext cx="11258110" cy="1080595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※CMSIS-NN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・・・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Cortex </a:t>
            </a:r>
            <a:r>
              <a:rPr kumimoji="0" lang="en-US" altLang="ja-JP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Microcontoroller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 Software Interface Standard-Neural Network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　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ARM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が提供する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AI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ライブラリ。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E2-studio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では</a:t>
            </a:r>
            <a:r>
              <a:rPr kumimoji="0" lang="en-US" altLang="ja-JP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fsp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から提供されている</a:t>
            </a:r>
            <a:endParaRPr kumimoji="0" lang="en-US" altLang="ja-JP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※MLP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・・・・・・</a:t>
            </a:r>
            <a:r>
              <a:rPr kumimoji="0" lang="en-US" altLang="ja-JP" sz="1200" dirty="0">
                <a:solidFill>
                  <a:schemeClr val="tx1"/>
                </a:solidFill>
                <a:latin typeface="Arial" panose="020B0604020202020204" pitchFamily="34" charset="0"/>
              </a:rPr>
              <a:t>Multi-Layer Perceptron</a:t>
            </a:r>
            <a:r>
              <a:rPr kumimoji="0" lang="ja-JP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　多層パーセプトロン、特徴量を分類するためのシンプルなモデル</a:t>
            </a:r>
            <a:endParaRPr kumimoji="0" lang="en-US" altLang="ja-JP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B038F5C-23DA-1790-EC79-1A2FB42C8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739" y="2198366"/>
            <a:ext cx="2464588" cy="108059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8B1C917-FB7D-F28A-15B8-9920539A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774" y="2198366"/>
            <a:ext cx="2464590" cy="108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9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3E39-7345-385C-9157-4AF88AAB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36A949-17D7-E4A4-34D0-BC57A624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．</a:t>
            </a:r>
            <a:r>
              <a:rPr lang="ja-JP" altLang="en-US" dirty="0"/>
              <a:t>開発の工夫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5338FA-EB25-292C-EC03-C37051F79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ja-JP" altLang="en-US" dirty="0"/>
              <a:t>リアルタイム処理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tslp_tsk</a:t>
            </a:r>
            <a:r>
              <a:rPr kumimoji="1" lang="ja-JP" altLang="en-US" dirty="0"/>
              <a:t>や</a:t>
            </a:r>
            <a:r>
              <a:rPr kumimoji="1" lang="en-US" altLang="ja-JP" dirty="0" err="1"/>
              <a:t>rcv_mbx</a:t>
            </a:r>
            <a:r>
              <a:rPr kumimoji="1" lang="ja-JP" altLang="en-US" dirty="0"/>
              <a:t>では</a:t>
            </a:r>
            <a:r>
              <a:rPr kumimoji="1" lang="en-US" altLang="ja-JP" dirty="0"/>
              <a:t>20ms</a:t>
            </a:r>
            <a:r>
              <a:rPr kumimoji="1" lang="ja-JP" altLang="en-US" dirty="0"/>
              <a:t>以下の周期処理が不可能だった。</a:t>
            </a:r>
            <a:r>
              <a:rPr kumimoji="1" lang="en-US" altLang="ja-JP" dirty="0"/>
              <a:t>(BSP</a:t>
            </a:r>
            <a:r>
              <a:rPr kumimoji="1" lang="ja-JP" altLang="en-US" dirty="0"/>
              <a:t>未実装</a:t>
            </a:r>
            <a:r>
              <a:rPr kumimoji="1" lang="en-US" altLang="ja-JP" dirty="0"/>
              <a:t>)</a:t>
            </a:r>
          </a:p>
          <a:p>
            <a:pPr lvl="1"/>
            <a:r>
              <a:rPr kumimoji="1" lang="en-US" altLang="ja-JP" dirty="0"/>
              <a:t>GPT</a:t>
            </a:r>
            <a:r>
              <a:rPr kumimoji="1" lang="ja-JP" altLang="en-US" dirty="0"/>
              <a:t>割込を利用することで、</a:t>
            </a:r>
            <a:r>
              <a:rPr kumimoji="1" lang="en-US" altLang="ja-JP" dirty="0"/>
              <a:t>10ms</a:t>
            </a:r>
            <a:r>
              <a:rPr kumimoji="1" lang="ja-JP" altLang="en-US" dirty="0"/>
              <a:t>周期で正確にサンプリング。</a:t>
            </a:r>
            <a:r>
              <a:rPr kumimoji="1" lang="en-US" altLang="ja-JP" dirty="0"/>
              <a:t>100Hz</a:t>
            </a:r>
            <a:r>
              <a:rPr kumimoji="1" lang="ja-JP" altLang="en-US" dirty="0"/>
              <a:t>データ取得を達成</a:t>
            </a:r>
            <a:r>
              <a:rPr lang="ja-JP" altLang="en-US" dirty="0"/>
              <a:t>。</a:t>
            </a:r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kumimoji="1" lang="en-US" altLang="ja-JP" dirty="0"/>
              <a:t>AI</a:t>
            </a:r>
            <a:r>
              <a:rPr kumimoji="1" lang="ja-JP" altLang="en-US" dirty="0"/>
              <a:t>実装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CMSIS</a:t>
            </a:r>
            <a:r>
              <a:rPr kumimoji="1" lang="ja-JP" altLang="en-US" dirty="0"/>
              <a:t>ライブラリを利用し、</a:t>
            </a:r>
            <a:r>
              <a:rPr kumimoji="1" lang="en-US" altLang="ja-JP" dirty="0"/>
              <a:t>FFT</a:t>
            </a:r>
            <a:r>
              <a:rPr kumimoji="1" lang="ja-JP" altLang="en-US" dirty="0"/>
              <a:t>と</a:t>
            </a:r>
            <a:r>
              <a:rPr kumimoji="1" lang="en-US" altLang="ja-JP" dirty="0"/>
              <a:t>MLP</a:t>
            </a:r>
            <a:r>
              <a:rPr kumimoji="1" lang="ja-JP" altLang="en-US" dirty="0"/>
              <a:t>推論を統合。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ChatGPT</a:t>
            </a:r>
            <a:r>
              <a:rPr kumimoji="1" lang="ja-JP" altLang="en-US" dirty="0"/>
              <a:t>との対話を通じてコードを生成し、短期間で実装を完成。</a:t>
            </a:r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dirty="0"/>
              <a:t>ネットワーク実装</a:t>
            </a:r>
            <a:endParaRPr lang="en-US" altLang="ja-JP" dirty="0"/>
          </a:p>
          <a:p>
            <a:pPr lvl="1"/>
            <a:r>
              <a:rPr lang="ja-JP" altLang="en-US" dirty="0"/>
              <a:t>今年は</a:t>
            </a:r>
            <a:r>
              <a:rPr lang="en-US" altLang="ja-JP" dirty="0" err="1"/>
              <a:t>WiFi</a:t>
            </a:r>
            <a:r>
              <a:rPr lang="ja-JP" altLang="en-US" dirty="0"/>
              <a:t>モジュール（</a:t>
            </a:r>
            <a:r>
              <a:rPr lang="en-US" altLang="ja-JP" dirty="0"/>
              <a:t>ESP32-AT</a:t>
            </a:r>
            <a:r>
              <a:rPr lang="ja-JP" altLang="en-US" dirty="0"/>
              <a:t>）に依存せず、</a:t>
            </a:r>
            <a:r>
              <a:rPr lang="en-US" altLang="ja-JP" dirty="0"/>
              <a:t>EK-RA8D1</a:t>
            </a:r>
            <a:r>
              <a:rPr lang="ja-JP" altLang="en-US" dirty="0"/>
              <a:t>内蔵</a:t>
            </a:r>
            <a:r>
              <a:rPr lang="en-US" altLang="ja-JP" dirty="0"/>
              <a:t>Ethernet</a:t>
            </a:r>
            <a:r>
              <a:rPr lang="ja-JP" altLang="en-US" dirty="0"/>
              <a:t>を直接活用。</a:t>
            </a:r>
            <a:endParaRPr lang="en-US" altLang="ja-JP" dirty="0"/>
          </a:p>
          <a:p>
            <a:pPr lvl="1"/>
            <a:r>
              <a:rPr lang="en-US" altLang="ja-JP" dirty="0"/>
              <a:t>T-Kernel</a:t>
            </a:r>
            <a:r>
              <a:rPr lang="ja-JP" altLang="en-US" dirty="0"/>
              <a:t>ドライバ仕様に従い</a:t>
            </a:r>
            <a:r>
              <a:rPr lang="en-US" altLang="ja-JP" dirty="0"/>
              <a:t>UDP</a:t>
            </a:r>
            <a:r>
              <a:rPr lang="ja-JP" altLang="en-US" dirty="0"/>
              <a:t>送信を実装し、</a:t>
            </a:r>
            <a:r>
              <a:rPr lang="en-US" altLang="ja-JP" dirty="0"/>
              <a:t>LAN</a:t>
            </a:r>
            <a:r>
              <a:rPr lang="ja-JP" altLang="en-US" dirty="0"/>
              <a:t>内でのデータ連携を実現。</a:t>
            </a:r>
            <a:endParaRPr kumimoji="1" lang="en-US" altLang="ja-JP" dirty="0"/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dirty="0"/>
              <a:t>ログ出力</a:t>
            </a:r>
            <a:endParaRPr lang="en-US" altLang="ja-JP" dirty="0"/>
          </a:p>
          <a:p>
            <a:pPr lvl="1"/>
            <a:r>
              <a:rPr lang="ja-JP" altLang="en-US" dirty="0"/>
              <a:t>去年は</a:t>
            </a:r>
            <a:r>
              <a:rPr lang="en-US" altLang="ja-JP" dirty="0"/>
              <a:t>UART</a:t>
            </a:r>
            <a:r>
              <a:rPr lang="ja-JP" altLang="en-US" dirty="0"/>
              <a:t>＋</a:t>
            </a:r>
            <a:r>
              <a:rPr lang="en-US" altLang="ja-JP" dirty="0"/>
              <a:t>USB</a:t>
            </a:r>
            <a:r>
              <a:rPr lang="ja-JP" altLang="en-US" dirty="0"/>
              <a:t>変換器を利用したが、今年は</a:t>
            </a:r>
            <a:r>
              <a:rPr lang="en-US" altLang="ja-JP" dirty="0"/>
              <a:t>SEGGER RTT</a:t>
            </a:r>
            <a:r>
              <a:rPr lang="ja-JP" altLang="en-US" dirty="0"/>
              <a:t>を活用。</a:t>
            </a:r>
            <a:endParaRPr lang="en-US" altLang="ja-JP" dirty="0"/>
          </a:p>
          <a:p>
            <a:pPr lvl="1"/>
            <a:r>
              <a:rPr lang="ja-JP" altLang="en-US" dirty="0"/>
              <a:t>外付け機材が不要となり、開発効率とデバッグ容易性が大幅に向上した。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25CE3D-13CE-CF4C-D7D0-27A9D22C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168EE0-DDCE-50F0-D637-849B7DDF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17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B663-0419-7CEA-F781-0A734CA9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楕円 5">
            <a:extLst>
              <a:ext uri="{FF2B5EF4-FFF2-40B4-BE49-F238E27FC236}">
                <a16:creationId xmlns:a16="http://schemas.microsoft.com/office/drawing/2014/main" id="{0A8A2144-2826-148F-B5A5-5B5516DF9EFB}"/>
              </a:ext>
            </a:extLst>
          </p:cNvPr>
          <p:cNvSpPr/>
          <p:nvPr/>
        </p:nvSpPr>
        <p:spPr>
          <a:xfrm>
            <a:off x="1485900" y="4876800"/>
            <a:ext cx="9020175" cy="1409699"/>
          </a:xfrm>
          <a:prstGeom prst="ellipse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7ACCC36-849C-3FCE-6EAD-8C781BCC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5</a:t>
            </a:r>
            <a:r>
              <a:rPr kumimoji="1" lang="ja-JP" altLang="en-US" dirty="0"/>
              <a:t>．</a:t>
            </a:r>
            <a:r>
              <a:rPr lang="ja-JP" altLang="en-US" dirty="0"/>
              <a:t>未来社会ビジョン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F967FF-3B3A-DB1C-F791-512FB7E30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橋梁点検は長らく「経験と勘」に依存してきた。</a:t>
            </a:r>
            <a:endParaRPr kumimoji="1" lang="en-US" altLang="ja-JP" dirty="0"/>
          </a:p>
          <a:p>
            <a:r>
              <a:rPr kumimoji="1" lang="en-US" altLang="ja-JP" dirty="0"/>
              <a:t>LGX-Shield </a:t>
            </a:r>
            <a:r>
              <a:rPr kumimoji="1" lang="ja-JP" altLang="en-US" dirty="0"/>
              <a:t>は、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と</a:t>
            </a:r>
            <a:r>
              <a:rPr kumimoji="1" lang="en-US" altLang="ja-JP" dirty="0"/>
              <a:t>IoT</a:t>
            </a:r>
            <a:r>
              <a:rPr kumimoji="1" lang="ja-JP" altLang="en-US" dirty="0"/>
              <a:t>により「安全性を数値化し、客観的に可視化する」仕組みを提示した。</a:t>
            </a:r>
            <a:endParaRPr kumimoji="1" lang="en-US" altLang="ja-JP" dirty="0"/>
          </a:p>
          <a:p>
            <a:r>
              <a:rPr kumimoji="1" lang="ja-JP" altLang="en-US" dirty="0"/>
              <a:t>本システムは橋梁に限らず、道路・トンネル・ダム・送電網など、公共インフラ全般に応用可能。</a:t>
            </a:r>
            <a:endParaRPr kumimoji="1" lang="en-US" altLang="ja-JP" dirty="0"/>
          </a:p>
          <a:p>
            <a:r>
              <a:rPr kumimoji="1" lang="ja-JP" altLang="en-US" dirty="0"/>
              <a:t>さらに工場設備の予防保全へも展開でき、</a:t>
            </a:r>
            <a:r>
              <a:rPr kumimoji="1" lang="ja-JP" altLang="en-US" b="1" dirty="0">
                <a:solidFill>
                  <a:srgbClr val="0000FF"/>
                </a:solidFill>
              </a:rPr>
              <a:t>少子高齢化による人手不足や技術伝承の課題を補う基盤技術</a:t>
            </a:r>
            <a:r>
              <a:rPr kumimoji="1" lang="ja-JP" altLang="en-US" dirty="0"/>
              <a:t> となり得る。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 algn="ctr">
              <a:buNone/>
            </a:pPr>
            <a:r>
              <a:rPr kumimoji="1" lang="en-US" altLang="ja-JP" sz="4000" b="1" dirty="0">
                <a:solidFill>
                  <a:srgbClr val="00B050"/>
                </a:solidFill>
              </a:rPr>
              <a:t>TRON×AI</a:t>
            </a:r>
            <a:r>
              <a:rPr kumimoji="1" lang="ja-JP" altLang="en-US" sz="4000" b="1" dirty="0">
                <a:solidFill>
                  <a:srgbClr val="00B050"/>
                </a:solidFill>
              </a:rPr>
              <a:t>が切り拓くのは、</a:t>
            </a:r>
            <a:endParaRPr kumimoji="1" lang="en-US" altLang="ja-JP" sz="40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kumimoji="1" lang="ja-JP" altLang="en-US" sz="4000" b="1" dirty="0">
                <a:solidFill>
                  <a:srgbClr val="00B050"/>
                </a:solidFill>
              </a:rPr>
              <a:t>安心・安全で持続可能な未来社会！</a:t>
            </a:r>
            <a:endParaRPr kumimoji="1" lang="ja-JP" altLang="en-US" sz="4000" dirty="0">
              <a:solidFill>
                <a:srgbClr val="00B050"/>
              </a:solidFill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E9F721-ECD0-F64E-DB65-3681F535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Copyright 2025 Things Base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922DD1-B30A-49BF-CEB2-A18EC4CB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98C20-25CD-4F77-9B8F-26BB31769BDC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4D92EE3-AE4F-4FDD-76BD-096C60367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657" y="3748532"/>
            <a:ext cx="1910885" cy="1433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2604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0B7791D-C0F9-40A8-AFBD-06EECF225D61}" vid="{BA3A7E17-C523-4710-BC6B-2ED15B8C97A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TB</Template>
  <TotalTime>364</TotalTime>
  <Words>1003</Words>
  <Application>Microsoft Office PowerPoint</Application>
  <PresentationFormat>ワイド画面</PresentationFormat>
  <Paragraphs>130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ＭＳ ゴシック</vt:lpstr>
      <vt:lpstr>游ゴシック</vt:lpstr>
      <vt:lpstr>游ゴシック Light</vt:lpstr>
      <vt:lpstr>Arial</vt:lpstr>
      <vt:lpstr>Wingdings</vt:lpstr>
      <vt:lpstr>Office テーマ</vt:lpstr>
      <vt:lpstr>LGX-Shield  ～加速度×AI で橋梁の異常をリアルタイム検出するエッジモニタ～ </vt:lpstr>
      <vt:lpstr>１．はじめに</vt:lpstr>
      <vt:lpstr>２ー１．システム構成</vt:lpstr>
      <vt:lpstr>２ー２．タスク、モジュール構成</vt:lpstr>
      <vt:lpstr>３．AI処理概要</vt:lpstr>
      <vt:lpstr>４．開発の工夫</vt:lpstr>
      <vt:lpstr>5．未来社会ビジョン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Yoshiaki Sudo</dc:creator>
  <cp:lastModifiedBy>Yoshiaki Sudo</cp:lastModifiedBy>
  <cp:revision>3</cp:revision>
  <dcterms:created xsi:type="dcterms:W3CDTF">2025-09-29T12:05:55Z</dcterms:created>
  <dcterms:modified xsi:type="dcterms:W3CDTF">2025-12-04T10:57:33Z</dcterms:modified>
</cp:coreProperties>
</file>