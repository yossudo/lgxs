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7" r:id="rId2"/>
    <p:sldId id="258" r:id="rId3"/>
    <p:sldId id="259" r:id="rId4"/>
    <p:sldId id="265" r:id="rId5"/>
    <p:sldId id="260" r:id="rId6"/>
    <p:sldId id="261" r:id="rId7"/>
    <p:sldId id="262" r:id="rId8"/>
    <p:sldId id="263" r:id="rId9"/>
    <p:sldId id="264" r:id="rId1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8080"/>
    <a:srgbClr val="339966"/>
    <a:srgbClr val="00CC99"/>
    <a:srgbClr val="3333CC"/>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519" autoAdjust="0"/>
  </p:normalViewPr>
  <p:slideViewPr>
    <p:cSldViewPr snapToGrid="0">
      <p:cViewPr>
        <p:scale>
          <a:sx n="100" d="100"/>
          <a:sy n="100" d="100"/>
        </p:scale>
        <p:origin x="-48" y="-302"/>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C0CDD0-9733-422E-AC54-86856740C323}" type="datetimeFigureOut">
              <a:rPr kumimoji="1" lang="ja-JP" altLang="en-US" smtClean="0"/>
              <a:t>2025/9/29</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BCC965-8CA2-4C70-BFA7-C332331E45DD}" type="slidenum">
              <a:rPr kumimoji="1" lang="ja-JP" altLang="en-US" smtClean="0"/>
              <a:t>‹#›</a:t>
            </a:fld>
            <a:endParaRPr kumimoji="1" lang="ja-JP" altLang="en-US"/>
          </a:p>
        </p:txBody>
      </p:sp>
    </p:spTree>
    <p:extLst>
      <p:ext uri="{BB962C8B-B14F-4D97-AF65-F5344CB8AC3E}">
        <p14:creationId xmlns:p14="http://schemas.microsoft.com/office/powerpoint/2010/main" val="177006214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46B2A4C-BCE2-4C72-8E93-F2FEEF57E0BD}"/>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B144236C-66C4-431D-9D03-5C5D27DCFD8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FF682C8D-3A1A-45C0-9836-2B878D9300EA}"/>
              </a:ext>
            </a:extLst>
          </p:cNvPr>
          <p:cNvSpPr>
            <a:spLocks noGrp="1"/>
          </p:cNvSpPr>
          <p:nvPr>
            <p:ph type="dt" sz="half" idx="10"/>
          </p:nvPr>
        </p:nvSpPr>
        <p:spPr/>
        <p:txBody>
          <a:bodyPr/>
          <a:lstStyle/>
          <a:p>
            <a:fld id="{1EAA9D2A-E27C-4E11-A099-9F16E96CC4FE}" type="datetime1">
              <a:rPr kumimoji="1" lang="ja-JP" altLang="en-US" smtClean="0"/>
              <a:t>2025/9/29</a:t>
            </a:fld>
            <a:endParaRPr kumimoji="1" lang="ja-JP" altLang="en-US"/>
          </a:p>
        </p:txBody>
      </p:sp>
      <p:sp>
        <p:nvSpPr>
          <p:cNvPr id="5" name="フッター プレースホルダー 4">
            <a:extLst>
              <a:ext uri="{FF2B5EF4-FFF2-40B4-BE49-F238E27FC236}">
                <a16:creationId xmlns:a16="http://schemas.microsoft.com/office/drawing/2014/main" id="{AE6BEC56-AD7C-4DCA-AD72-0A10B8A4D247}"/>
              </a:ext>
            </a:extLst>
          </p:cNvPr>
          <p:cNvSpPr>
            <a:spLocks noGrp="1"/>
          </p:cNvSpPr>
          <p:nvPr>
            <p:ph type="ftr" sz="quarter" idx="11"/>
          </p:nvPr>
        </p:nvSpPr>
        <p:spPr/>
        <p:txBody>
          <a:bodyPr/>
          <a:lstStyle/>
          <a:p>
            <a:r>
              <a:rPr lang="en-US" altLang="ja-JP"/>
              <a:t>Copyright 2025 Things Base</a:t>
            </a:r>
            <a:endParaRPr kumimoji="1" lang="ja-JP" altLang="en-US" dirty="0"/>
          </a:p>
        </p:txBody>
      </p:sp>
      <p:sp>
        <p:nvSpPr>
          <p:cNvPr id="6" name="スライド番号プレースホルダー 5">
            <a:extLst>
              <a:ext uri="{FF2B5EF4-FFF2-40B4-BE49-F238E27FC236}">
                <a16:creationId xmlns:a16="http://schemas.microsoft.com/office/drawing/2014/main" id="{1BFA6847-3B8B-43CD-85A8-68C08FDCA76C}"/>
              </a:ext>
            </a:extLst>
          </p:cNvPr>
          <p:cNvSpPr>
            <a:spLocks noGrp="1"/>
          </p:cNvSpPr>
          <p:nvPr>
            <p:ph type="sldNum" sz="quarter" idx="12"/>
          </p:nvPr>
        </p:nvSpPr>
        <p:spPr/>
        <p:txBody>
          <a:bodyPr/>
          <a:lstStyle/>
          <a:p>
            <a:fld id="{1FB98C20-25CD-4F77-9B8F-26BB31769BDC}" type="slidenum">
              <a:rPr kumimoji="1" lang="ja-JP" altLang="en-US" smtClean="0"/>
              <a:t>‹#›</a:t>
            </a:fld>
            <a:endParaRPr kumimoji="1" lang="ja-JP" altLang="en-US"/>
          </a:p>
        </p:txBody>
      </p:sp>
    </p:spTree>
    <p:extLst>
      <p:ext uri="{BB962C8B-B14F-4D97-AF65-F5344CB8AC3E}">
        <p14:creationId xmlns:p14="http://schemas.microsoft.com/office/powerpoint/2010/main" val="10557753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B7CC9E7-F6EF-4CA2-9D58-DA58D3CEB4D2}"/>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441E2F5-6809-4B95-9084-D14522FFF524}"/>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8E87D06-5708-4C4E-B375-B2A27ADD093B}"/>
              </a:ext>
            </a:extLst>
          </p:cNvPr>
          <p:cNvSpPr>
            <a:spLocks noGrp="1"/>
          </p:cNvSpPr>
          <p:nvPr>
            <p:ph type="dt" sz="half" idx="10"/>
          </p:nvPr>
        </p:nvSpPr>
        <p:spPr/>
        <p:txBody>
          <a:bodyPr/>
          <a:lstStyle/>
          <a:p>
            <a:fld id="{8D2AD09D-A4C5-4881-A5AC-B158F931A7DF}" type="datetime1">
              <a:rPr kumimoji="1" lang="ja-JP" altLang="en-US" smtClean="0"/>
              <a:t>2025/9/29</a:t>
            </a:fld>
            <a:endParaRPr kumimoji="1" lang="ja-JP" altLang="en-US"/>
          </a:p>
        </p:txBody>
      </p:sp>
      <p:sp>
        <p:nvSpPr>
          <p:cNvPr id="5" name="フッター プレースホルダー 4">
            <a:extLst>
              <a:ext uri="{FF2B5EF4-FFF2-40B4-BE49-F238E27FC236}">
                <a16:creationId xmlns:a16="http://schemas.microsoft.com/office/drawing/2014/main" id="{520BC861-CFB8-41E9-A58B-AD9B5F9AB03B}"/>
              </a:ext>
            </a:extLst>
          </p:cNvPr>
          <p:cNvSpPr>
            <a:spLocks noGrp="1"/>
          </p:cNvSpPr>
          <p:nvPr>
            <p:ph type="ftr" sz="quarter" idx="11"/>
          </p:nvPr>
        </p:nvSpPr>
        <p:spPr/>
        <p:txBody>
          <a:bodyPr/>
          <a:lstStyle/>
          <a:p>
            <a:r>
              <a:rPr kumimoji="1" lang="en-US" altLang="ja-JP"/>
              <a:t>Copyright 2025 Things Base</a:t>
            </a:r>
            <a:endParaRPr kumimoji="1" lang="ja-JP" altLang="en-US" dirty="0"/>
          </a:p>
        </p:txBody>
      </p:sp>
      <p:sp>
        <p:nvSpPr>
          <p:cNvPr id="6" name="スライド番号プレースホルダー 5">
            <a:extLst>
              <a:ext uri="{FF2B5EF4-FFF2-40B4-BE49-F238E27FC236}">
                <a16:creationId xmlns:a16="http://schemas.microsoft.com/office/drawing/2014/main" id="{3B4E5DAE-EB9D-4A8A-923F-A29552F126F8}"/>
              </a:ext>
            </a:extLst>
          </p:cNvPr>
          <p:cNvSpPr>
            <a:spLocks noGrp="1"/>
          </p:cNvSpPr>
          <p:nvPr>
            <p:ph type="sldNum" sz="quarter" idx="12"/>
          </p:nvPr>
        </p:nvSpPr>
        <p:spPr/>
        <p:txBody>
          <a:bodyPr/>
          <a:lstStyle/>
          <a:p>
            <a:fld id="{1FB98C20-25CD-4F77-9B8F-26BB31769BDC}" type="slidenum">
              <a:rPr kumimoji="1" lang="ja-JP" altLang="en-US" smtClean="0"/>
              <a:t>‹#›</a:t>
            </a:fld>
            <a:endParaRPr kumimoji="1" lang="ja-JP" altLang="en-US"/>
          </a:p>
        </p:txBody>
      </p:sp>
    </p:spTree>
    <p:extLst>
      <p:ext uri="{BB962C8B-B14F-4D97-AF65-F5344CB8AC3E}">
        <p14:creationId xmlns:p14="http://schemas.microsoft.com/office/powerpoint/2010/main" val="25288733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ECBA09A-EFE2-47E3-9C9F-FC661E122B65}"/>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66267D22-C908-4C9E-8CFE-85F31645EF3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F2F1ADD0-2D65-49AF-B45C-A95B530A9546}"/>
              </a:ext>
            </a:extLst>
          </p:cNvPr>
          <p:cNvSpPr>
            <a:spLocks noGrp="1"/>
          </p:cNvSpPr>
          <p:nvPr>
            <p:ph type="dt" sz="half" idx="10"/>
          </p:nvPr>
        </p:nvSpPr>
        <p:spPr/>
        <p:txBody>
          <a:bodyPr/>
          <a:lstStyle/>
          <a:p>
            <a:fld id="{CD8844ED-7868-4FBA-A8A0-ECF5B13C5D4F}" type="datetime1">
              <a:rPr kumimoji="1" lang="ja-JP" altLang="en-US" smtClean="0"/>
              <a:t>2025/9/29</a:t>
            </a:fld>
            <a:endParaRPr kumimoji="1" lang="ja-JP" altLang="en-US"/>
          </a:p>
        </p:txBody>
      </p:sp>
      <p:sp>
        <p:nvSpPr>
          <p:cNvPr id="5" name="フッター プレースホルダー 4">
            <a:extLst>
              <a:ext uri="{FF2B5EF4-FFF2-40B4-BE49-F238E27FC236}">
                <a16:creationId xmlns:a16="http://schemas.microsoft.com/office/drawing/2014/main" id="{335D8D26-3703-4FEA-85B3-453696E4E9F8}"/>
              </a:ext>
            </a:extLst>
          </p:cNvPr>
          <p:cNvSpPr>
            <a:spLocks noGrp="1"/>
          </p:cNvSpPr>
          <p:nvPr>
            <p:ph type="ftr" sz="quarter" idx="11"/>
          </p:nvPr>
        </p:nvSpPr>
        <p:spPr/>
        <p:txBody>
          <a:bodyPr/>
          <a:lstStyle/>
          <a:p>
            <a:r>
              <a:rPr kumimoji="1" lang="en-US" altLang="ja-JP"/>
              <a:t>Copyright 2025 Things Base</a:t>
            </a:r>
            <a:endParaRPr kumimoji="1" lang="ja-JP" altLang="en-US"/>
          </a:p>
        </p:txBody>
      </p:sp>
      <p:sp>
        <p:nvSpPr>
          <p:cNvPr id="6" name="スライド番号プレースホルダー 5">
            <a:extLst>
              <a:ext uri="{FF2B5EF4-FFF2-40B4-BE49-F238E27FC236}">
                <a16:creationId xmlns:a16="http://schemas.microsoft.com/office/drawing/2014/main" id="{B22C870D-B35D-4867-AEC9-0517F87AEE9E}"/>
              </a:ext>
            </a:extLst>
          </p:cNvPr>
          <p:cNvSpPr>
            <a:spLocks noGrp="1"/>
          </p:cNvSpPr>
          <p:nvPr>
            <p:ph type="sldNum" sz="quarter" idx="12"/>
          </p:nvPr>
        </p:nvSpPr>
        <p:spPr/>
        <p:txBody>
          <a:bodyPr/>
          <a:lstStyle/>
          <a:p>
            <a:fld id="{1FB98C20-25CD-4F77-9B8F-26BB31769BDC}" type="slidenum">
              <a:rPr kumimoji="1" lang="ja-JP" altLang="en-US" smtClean="0"/>
              <a:t>‹#›</a:t>
            </a:fld>
            <a:endParaRPr kumimoji="1" lang="ja-JP" altLang="en-US"/>
          </a:p>
        </p:txBody>
      </p:sp>
    </p:spTree>
    <p:extLst>
      <p:ext uri="{BB962C8B-B14F-4D97-AF65-F5344CB8AC3E}">
        <p14:creationId xmlns:p14="http://schemas.microsoft.com/office/powerpoint/2010/main" val="23319607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BAC4F03-FBFE-4951-BA2B-EA1DBBC071CE}"/>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560F79A-48DD-415C-AACE-7B654AEB7DAF}"/>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39F14B29-666D-43C9-88DE-5B316BFCE59F}"/>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0A609F1D-55B8-402F-9BA3-AB63D72B8312}"/>
              </a:ext>
            </a:extLst>
          </p:cNvPr>
          <p:cNvSpPr>
            <a:spLocks noGrp="1"/>
          </p:cNvSpPr>
          <p:nvPr>
            <p:ph type="dt" sz="half" idx="10"/>
          </p:nvPr>
        </p:nvSpPr>
        <p:spPr/>
        <p:txBody>
          <a:bodyPr/>
          <a:lstStyle/>
          <a:p>
            <a:fld id="{A0DF9C7B-D5C5-4E52-AE83-0C71FC665AA6}" type="datetime1">
              <a:rPr kumimoji="1" lang="ja-JP" altLang="en-US" smtClean="0"/>
              <a:t>2025/9/29</a:t>
            </a:fld>
            <a:endParaRPr kumimoji="1" lang="ja-JP" altLang="en-US"/>
          </a:p>
        </p:txBody>
      </p:sp>
      <p:sp>
        <p:nvSpPr>
          <p:cNvPr id="6" name="フッター プレースホルダー 5">
            <a:extLst>
              <a:ext uri="{FF2B5EF4-FFF2-40B4-BE49-F238E27FC236}">
                <a16:creationId xmlns:a16="http://schemas.microsoft.com/office/drawing/2014/main" id="{24F27D3A-905F-4FDD-835F-1A8530A72465}"/>
              </a:ext>
            </a:extLst>
          </p:cNvPr>
          <p:cNvSpPr>
            <a:spLocks noGrp="1"/>
          </p:cNvSpPr>
          <p:nvPr>
            <p:ph type="ftr" sz="quarter" idx="11"/>
          </p:nvPr>
        </p:nvSpPr>
        <p:spPr/>
        <p:txBody>
          <a:bodyPr/>
          <a:lstStyle/>
          <a:p>
            <a:r>
              <a:rPr kumimoji="1" lang="en-US" altLang="ja-JP"/>
              <a:t>Copyright 2025 Things Base</a:t>
            </a:r>
            <a:endParaRPr kumimoji="1" lang="ja-JP" altLang="en-US"/>
          </a:p>
        </p:txBody>
      </p:sp>
      <p:sp>
        <p:nvSpPr>
          <p:cNvPr id="7" name="スライド番号プレースホルダー 6">
            <a:extLst>
              <a:ext uri="{FF2B5EF4-FFF2-40B4-BE49-F238E27FC236}">
                <a16:creationId xmlns:a16="http://schemas.microsoft.com/office/drawing/2014/main" id="{27CCB26C-C15A-4DFC-9054-478F91A3EDD1}"/>
              </a:ext>
            </a:extLst>
          </p:cNvPr>
          <p:cNvSpPr>
            <a:spLocks noGrp="1"/>
          </p:cNvSpPr>
          <p:nvPr>
            <p:ph type="sldNum" sz="quarter" idx="12"/>
          </p:nvPr>
        </p:nvSpPr>
        <p:spPr/>
        <p:txBody>
          <a:bodyPr/>
          <a:lstStyle/>
          <a:p>
            <a:fld id="{1FB98C20-25CD-4F77-9B8F-26BB31769BDC}" type="slidenum">
              <a:rPr kumimoji="1" lang="ja-JP" altLang="en-US" smtClean="0"/>
              <a:t>‹#›</a:t>
            </a:fld>
            <a:endParaRPr kumimoji="1" lang="ja-JP" altLang="en-US"/>
          </a:p>
        </p:txBody>
      </p:sp>
    </p:spTree>
    <p:extLst>
      <p:ext uri="{BB962C8B-B14F-4D97-AF65-F5344CB8AC3E}">
        <p14:creationId xmlns:p14="http://schemas.microsoft.com/office/powerpoint/2010/main" val="7428723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8C01ED0-CEC5-4D7D-9C82-95B549B4EF4D}"/>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0B7F95E-CB91-4C14-BAF9-B5CDAE2C6A5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7A53E141-14F8-4EB3-9EF8-FA84BAD10623}"/>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9F4B2B7F-9199-4A54-B8BC-9ADA0170540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8DC7EF94-F89A-4A89-B0D1-6E5F14B8F9D3}"/>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3104E292-EA68-4176-B684-E334569D0EF5}"/>
              </a:ext>
            </a:extLst>
          </p:cNvPr>
          <p:cNvSpPr>
            <a:spLocks noGrp="1"/>
          </p:cNvSpPr>
          <p:nvPr>
            <p:ph type="dt" sz="half" idx="10"/>
          </p:nvPr>
        </p:nvSpPr>
        <p:spPr/>
        <p:txBody>
          <a:bodyPr/>
          <a:lstStyle/>
          <a:p>
            <a:fld id="{DD4DBBCC-178A-45B2-9CC4-9C2D9D2BC232}" type="datetime1">
              <a:rPr kumimoji="1" lang="ja-JP" altLang="en-US" smtClean="0"/>
              <a:t>2025/9/29</a:t>
            </a:fld>
            <a:endParaRPr kumimoji="1" lang="ja-JP" altLang="en-US"/>
          </a:p>
        </p:txBody>
      </p:sp>
      <p:sp>
        <p:nvSpPr>
          <p:cNvPr id="8" name="フッター プレースホルダー 7">
            <a:extLst>
              <a:ext uri="{FF2B5EF4-FFF2-40B4-BE49-F238E27FC236}">
                <a16:creationId xmlns:a16="http://schemas.microsoft.com/office/drawing/2014/main" id="{E54680B3-D2D8-4F7B-8926-F7277F230E26}"/>
              </a:ext>
            </a:extLst>
          </p:cNvPr>
          <p:cNvSpPr>
            <a:spLocks noGrp="1"/>
          </p:cNvSpPr>
          <p:nvPr>
            <p:ph type="ftr" sz="quarter" idx="11"/>
          </p:nvPr>
        </p:nvSpPr>
        <p:spPr/>
        <p:txBody>
          <a:bodyPr/>
          <a:lstStyle/>
          <a:p>
            <a:r>
              <a:rPr kumimoji="1" lang="en-US" altLang="ja-JP"/>
              <a:t>Copyright 2025 Things Base</a:t>
            </a:r>
            <a:endParaRPr kumimoji="1" lang="ja-JP" altLang="en-US"/>
          </a:p>
        </p:txBody>
      </p:sp>
      <p:sp>
        <p:nvSpPr>
          <p:cNvPr id="9" name="スライド番号プレースホルダー 8">
            <a:extLst>
              <a:ext uri="{FF2B5EF4-FFF2-40B4-BE49-F238E27FC236}">
                <a16:creationId xmlns:a16="http://schemas.microsoft.com/office/drawing/2014/main" id="{8E772632-B08B-41B3-B65B-96040C619321}"/>
              </a:ext>
            </a:extLst>
          </p:cNvPr>
          <p:cNvSpPr>
            <a:spLocks noGrp="1"/>
          </p:cNvSpPr>
          <p:nvPr>
            <p:ph type="sldNum" sz="quarter" idx="12"/>
          </p:nvPr>
        </p:nvSpPr>
        <p:spPr/>
        <p:txBody>
          <a:bodyPr/>
          <a:lstStyle/>
          <a:p>
            <a:fld id="{1FB98C20-25CD-4F77-9B8F-26BB31769BDC}" type="slidenum">
              <a:rPr kumimoji="1" lang="ja-JP" altLang="en-US" smtClean="0"/>
              <a:t>‹#›</a:t>
            </a:fld>
            <a:endParaRPr kumimoji="1" lang="ja-JP" altLang="en-US"/>
          </a:p>
        </p:txBody>
      </p:sp>
    </p:spTree>
    <p:extLst>
      <p:ext uri="{BB962C8B-B14F-4D97-AF65-F5344CB8AC3E}">
        <p14:creationId xmlns:p14="http://schemas.microsoft.com/office/powerpoint/2010/main" val="7554037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AA67C15-749F-4C1B-9983-3370B76D6266}"/>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E1EB54DD-D5FB-4A76-A7AF-D5D8EFF1BE5A}"/>
              </a:ext>
            </a:extLst>
          </p:cNvPr>
          <p:cNvSpPr>
            <a:spLocks noGrp="1"/>
          </p:cNvSpPr>
          <p:nvPr>
            <p:ph type="dt" sz="half" idx="10"/>
          </p:nvPr>
        </p:nvSpPr>
        <p:spPr/>
        <p:txBody>
          <a:bodyPr/>
          <a:lstStyle/>
          <a:p>
            <a:fld id="{879C7DE9-B168-4319-88DA-2DDD18E230E9}" type="datetime1">
              <a:rPr kumimoji="1" lang="ja-JP" altLang="en-US" smtClean="0"/>
              <a:t>2025/9/29</a:t>
            </a:fld>
            <a:endParaRPr kumimoji="1" lang="ja-JP" altLang="en-US"/>
          </a:p>
        </p:txBody>
      </p:sp>
      <p:sp>
        <p:nvSpPr>
          <p:cNvPr id="4" name="フッター プレースホルダー 3">
            <a:extLst>
              <a:ext uri="{FF2B5EF4-FFF2-40B4-BE49-F238E27FC236}">
                <a16:creationId xmlns:a16="http://schemas.microsoft.com/office/drawing/2014/main" id="{7872F858-C8B8-40AA-ACC5-25490179740D}"/>
              </a:ext>
            </a:extLst>
          </p:cNvPr>
          <p:cNvSpPr>
            <a:spLocks noGrp="1"/>
          </p:cNvSpPr>
          <p:nvPr>
            <p:ph type="ftr" sz="quarter" idx="11"/>
          </p:nvPr>
        </p:nvSpPr>
        <p:spPr/>
        <p:txBody>
          <a:bodyPr/>
          <a:lstStyle/>
          <a:p>
            <a:r>
              <a:rPr kumimoji="1" lang="en-US" altLang="ja-JP"/>
              <a:t>Copyright 2025 Things Base</a:t>
            </a:r>
            <a:endParaRPr kumimoji="1" lang="ja-JP" altLang="en-US"/>
          </a:p>
        </p:txBody>
      </p:sp>
      <p:sp>
        <p:nvSpPr>
          <p:cNvPr id="5" name="スライド番号プレースホルダー 4">
            <a:extLst>
              <a:ext uri="{FF2B5EF4-FFF2-40B4-BE49-F238E27FC236}">
                <a16:creationId xmlns:a16="http://schemas.microsoft.com/office/drawing/2014/main" id="{F0BFCE54-A8F8-441A-A39D-CF1F75A1FDC0}"/>
              </a:ext>
            </a:extLst>
          </p:cNvPr>
          <p:cNvSpPr>
            <a:spLocks noGrp="1"/>
          </p:cNvSpPr>
          <p:nvPr>
            <p:ph type="sldNum" sz="quarter" idx="12"/>
          </p:nvPr>
        </p:nvSpPr>
        <p:spPr/>
        <p:txBody>
          <a:bodyPr/>
          <a:lstStyle/>
          <a:p>
            <a:fld id="{1FB98C20-25CD-4F77-9B8F-26BB31769BDC}" type="slidenum">
              <a:rPr kumimoji="1" lang="ja-JP" altLang="en-US" smtClean="0"/>
              <a:t>‹#›</a:t>
            </a:fld>
            <a:endParaRPr kumimoji="1" lang="ja-JP" altLang="en-US"/>
          </a:p>
        </p:txBody>
      </p:sp>
    </p:spTree>
    <p:extLst>
      <p:ext uri="{BB962C8B-B14F-4D97-AF65-F5344CB8AC3E}">
        <p14:creationId xmlns:p14="http://schemas.microsoft.com/office/powerpoint/2010/main" val="35445789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30995B56-B894-4C09-B8B0-856FA4F93EF2}"/>
              </a:ext>
            </a:extLst>
          </p:cNvPr>
          <p:cNvSpPr>
            <a:spLocks noGrp="1"/>
          </p:cNvSpPr>
          <p:nvPr>
            <p:ph type="dt" sz="half" idx="10"/>
          </p:nvPr>
        </p:nvSpPr>
        <p:spPr/>
        <p:txBody>
          <a:bodyPr/>
          <a:lstStyle/>
          <a:p>
            <a:fld id="{A3FF4C5E-73BD-480F-8624-F6D7E6D7A545}" type="datetime1">
              <a:rPr kumimoji="1" lang="ja-JP" altLang="en-US" smtClean="0"/>
              <a:t>2025/9/29</a:t>
            </a:fld>
            <a:endParaRPr kumimoji="1" lang="ja-JP" altLang="en-US"/>
          </a:p>
        </p:txBody>
      </p:sp>
      <p:sp>
        <p:nvSpPr>
          <p:cNvPr id="3" name="フッター プレースホルダー 2">
            <a:extLst>
              <a:ext uri="{FF2B5EF4-FFF2-40B4-BE49-F238E27FC236}">
                <a16:creationId xmlns:a16="http://schemas.microsoft.com/office/drawing/2014/main" id="{684E3414-0682-49B9-ACB5-0FE6DA242DEB}"/>
              </a:ext>
            </a:extLst>
          </p:cNvPr>
          <p:cNvSpPr>
            <a:spLocks noGrp="1"/>
          </p:cNvSpPr>
          <p:nvPr>
            <p:ph type="ftr" sz="quarter" idx="11"/>
          </p:nvPr>
        </p:nvSpPr>
        <p:spPr/>
        <p:txBody>
          <a:bodyPr/>
          <a:lstStyle/>
          <a:p>
            <a:r>
              <a:rPr kumimoji="1" lang="en-US" altLang="ja-JP"/>
              <a:t>Copyright 2025 Things Base</a:t>
            </a:r>
            <a:endParaRPr kumimoji="1" lang="ja-JP" altLang="en-US"/>
          </a:p>
        </p:txBody>
      </p:sp>
      <p:sp>
        <p:nvSpPr>
          <p:cNvPr id="4" name="スライド番号プレースホルダー 3">
            <a:extLst>
              <a:ext uri="{FF2B5EF4-FFF2-40B4-BE49-F238E27FC236}">
                <a16:creationId xmlns:a16="http://schemas.microsoft.com/office/drawing/2014/main" id="{11732D70-7560-48CE-B832-0325AFE568D9}"/>
              </a:ext>
            </a:extLst>
          </p:cNvPr>
          <p:cNvSpPr>
            <a:spLocks noGrp="1"/>
          </p:cNvSpPr>
          <p:nvPr>
            <p:ph type="sldNum" sz="quarter" idx="12"/>
          </p:nvPr>
        </p:nvSpPr>
        <p:spPr/>
        <p:txBody>
          <a:bodyPr/>
          <a:lstStyle/>
          <a:p>
            <a:fld id="{1FB98C20-25CD-4F77-9B8F-26BB31769BDC}" type="slidenum">
              <a:rPr kumimoji="1" lang="ja-JP" altLang="en-US" smtClean="0"/>
              <a:t>‹#›</a:t>
            </a:fld>
            <a:endParaRPr kumimoji="1" lang="ja-JP" altLang="en-US"/>
          </a:p>
        </p:txBody>
      </p:sp>
    </p:spTree>
    <p:extLst>
      <p:ext uri="{BB962C8B-B14F-4D97-AF65-F5344CB8AC3E}">
        <p14:creationId xmlns:p14="http://schemas.microsoft.com/office/powerpoint/2010/main" val="3500225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28E7591-3862-4CA6-A1B5-AFC3DBBF78BE}"/>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1C92D8F-11F4-4E58-8836-44D67BCD804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7D3D1924-9070-4224-A28E-19BC056986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8597A7B4-BE20-439A-A65B-D5796DB68781}"/>
              </a:ext>
            </a:extLst>
          </p:cNvPr>
          <p:cNvSpPr>
            <a:spLocks noGrp="1"/>
          </p:cNvSpPr>
          <p:nvPr>
            <p:ph type="dt" sz="half" idx="10"/>
          </p:nvPr>
        </p:nvSpPr>
        <p:spPr/>
        <p:txBody>
          <a:bodyPr/>
          <a:lstStyle/>
          <a:p>
            <a:fld id="{925030C7-5723-40A5-9FC6-A0825EE667CE}" type="datetime1">
              <a:rPr kumimoji="1" lang="ja-JP" altLang="en-US" smtClean="0"/>
              <a:t>2025/9/29</a:t>
            </a:fld>
            <a:endParaRPr kumimoji="1" lang="ja-JP" altLang="en-US"/>
          </a:p>
        </p:txBody>
      </p:sp>
      <p:sp>
        <p:nvSpPr>
          <p:cNvPr id="6" name="フッター プレースホルダー 5">
            <a:extLst>
              <a:ext uri="{FF2B5EF4-FFF2-40B4-BE49-F238E27FC236}">
                <a16:creationId xmlns:a16="http://schemas.microsoft.com/office/drawing/2014/main" id="{2898AD72-1800-434A-968D-68289A726DA9}"/>
              </a:ext>
            </a:extLst>
          </p:cNvPr>
          <p:cNvSpPr>
            <a:spLocks noGrp="1"/>
          </p:cNvSpPr>
          <p:nvPr>
            <p:ph type="ftr" sz="quarter" idx="11"/>
          </p:nvPr>
        </p:nvSpPr>
        <p:spPr/>
        <p:txBody>
          <a:bodyPr/>
          <a:lstStyle/>
          <a:p>
            <a:r>
              <a:rPr kumimoji="1" lang="en-US" altLang="ja-JP"/>
              <a:t>Copyright 2025 Things Base</a:t>
            </a:r>
            <a:endParaRPr kumimoji="1" lang="ja-JP" altLang="en-US"/>
          </a:p>
        </p:txBody>
      </p:sp>
      <p:sp>
        <p:nvSpPr>
          <p:cNvPr id="7" name="スライド番号プレースホルダー 6">
            <a:extLst>
              <a:ext uri="{FF2B5EF4-FFF2-40B4-BE49-F238E27FC236}">
                <a16:creationId xmlns:a16="http://schemas.microsoft.com/office/drawing/2014/main" id="{EB5E0F2C-9B4D-46C9-B987-8907030DCBA1}"/>
              </a:ext>
            </a:extLst>
          </p:cNvPr>
          <p:cNvSpPr>
            <a:spLocks noGrp="1"/>
          </p:cNvSpPr>
          <p:nvPr>
            <p:ph type="sldNum" sz="quarter" idx="12"/>
          </p:nvPr>
        </p:nvSpPr>
        <p:spPr/>
        <p:txBody>
          <a:bodyPr/>
          <a:lstStyle/>
          <a:p>
            <a:fld id="{1FB98C20-25CD-4F77-9B8F-26BB31769BDC}" type="slidenum">
              <a:rPr kumimoji="1" lang="ja-JP" altLang="en-US" smtClean="0"/>
              <a:t>‹#›</a:t>
            </a:fld>
            <a:endParaRPr kumimoji="1" lang="ja-JP" altLang="en-US"/>
          </a:p>
        </p:txBody>
      </p:sp>
    </p:spTree>
    <p:extLst>
      <p:ext uri="{BB962C8B-B14F-4D97-AF65-F5344CB8AC3E}">
        <p14:creationId xmlns:p14="http://schemas.microsoft.com/office/powerpoint/2010/main" val="3469028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C12AE4C-9A46-4089-9CD2-387E21790CF3}"/>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D4A98686-EB68-4189-A5CB-AF323C70152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ja-JP" altLang="en-US"/>
              <a:t>アイコンをクリックして図を追加</a:t>
            </a:r>
          </a:p>
        </p:txBody>
      </p:sp>
      <p:sp>
        <p:nvSpPr>
          <p:cNvPr id="4" name="テキスト プレースホルダー 3">
            <a:extLst>
              <a:ext uri="{FF2B5EF4-FFF2-40B4-BE49-F238E27FC236}">
                <a16:creationId xmlns:a16="http://schemas.microsoft.com/office/drawing/2014/main" id="{B76F2DC8-416C-4095-B3B9-5180CE797C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F1A2A97B-7F64-4810-8626-500D5FFCDF0A}"/>
              </a:ext>
            </a:extLst>
          </p:cNvPr>
          <p:cNvSpPr>
            <a:spLocks noGrp="1"/>
          </p:cNvSpPr>
          <p:nvPr>
            <p:ph type="dt" sz="half" idx="10"/>
          </p:nvPr>
        </p:nvSpPr>
        <p:spPr/>
        <p:txBody>
          <a:bodyPr/>
          <a:lstStyle/>
          <a:p>
            <a:fld id="{76DD63C6-4924-493D-81DA-6C2BECE77509}" type="datetime1">
              <a:rPr kumimoji="1" lang="ja-JP" altLang="en-US" smtClean="0"/>
              <a:t>2025/9/29</a:t>
            </a:fld>
            <a:endParaRPr kumimoji="1" lang="ja-JP" altLang="en-US"/>
          </a:p>
        </p:txBody>
      </p:sp>
      <p:sp>
        <p:nvSpPr>
          <p:cNvPr id="6" name="フッター プレースホルダー 5">
            <a:extLst>
              <a:ext uri="{FF2B5EF4-FFF2-40B4-BE49-F238E27FC236}">
                <a16:creationId xmlns:a16="http://schemas.microsoft.com/office/drawing/2014/main" id="{6CE521F5-8554-4453-BE05-7FE9369A404A}"/>
              </a:ext>
            </a:extLst>
          </p:cNvPr>
          <p:cNvSpPr>
            <a:spLocks noGrp="1"/>
          </p:cNvSpPr>
          <p:nvPr>
            <p:ph type="ftr" sz="quarter" idx="11"/>
          </p:nvPr>
        </p:nvSpPr>
        <p:spPr/>
        <p:txBody>
          <a:bodyPr/>
          <a:lstStyle/>
          <a:p>
            <a:r>
              <a:rPr kumimoji="1" lang="en-US" altLang="ja-JP"/>
              <a:t>Copyright 2025 Things Base</a:t>
            </a:r>
            <a:endParaRPr kumimoji="1" lang="ja-JP" altLang="en-US"/>
          </a:p>
        </p:txBody>
      </p:sp>
      <p:sp>
        <p:nvSpPr>
          <p:cNvPr id="7" name="スライド番号プレースホルダー 6">
            <a:extLst>
              <a:ext uri="{FF2B5EF4-FFF2-40B4-BE49-F238E27FC236}">
                <a16:creationId xmlns:a16="http://schemas.microsoft.com/office/drawing/2014/main" id="{D4D4345A-912A-4DF5-99DE-FC2AE47EA750}"/>
              </a:ext>
            </a:extLst>
          </p:cNvPr>
          <p:cNvSpPr>
            <a:spLocks noGrp="1"/>
          </p:cNvSpPr>
          <p:nvPr>
            <p:ph type="sldNum" sz="quarter" idx="12"/>
          </p:nvPr>
        </p:nvSpPr>
        <p:spPr/>
        <p:txBody>
          <a:bodyPr/>
          <a:lstStyle/>
          <a:p>
            <a:fld id="{1FB98C20-25CD-4F77-9B8F-26BB31769BDC}" type="slidenum">
              <a:rPr kumimoji="1" lang="ja-JP" altLang="en-US" smtClean="0"/>
              <a:t>‹#›</a:t>
            </a:fld>
            <a:endParaRPr kumimoji="1" lang="ja-JP" altLang="en-US"/>
          </a:p>
        </p:txBody>
      </p:sp>
    </p:spTree>
    <p:extLst>
      <p:ext uri="{BB962C8B-B14F-4D97-AF65-F5344CB8AC3E}">
        <p14:creationId xmlns:p14="http://schemas.microsoft.com/office/powerpoint/2010/main" val="24055897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DEB49CC-38DF-479D-ADA9-BD17E8355B22}"/>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C8FE6DED-FCCF-4826-BBCD-233D96CC4D3F}"/>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B82EB7A-9DFE-4FE6-A319-AD8BF1E924AD}"/>
              </a:ext>
            </a:extLst>
          </p:cNvPr>
          <p:cNvSpPr>
            <a:spLocks noGrp="1"/>
          </p:cNvSpPr>
          <p:nvPr>
            <p:ph type="dt" sz="half" idx="10"/>
          </p:nvPr>
        </p:nvSpPr>
        <p:spPr/>
        <p:txBody>
          <a:bodyPr/>
          <a:lstStyle/>
          <a:p>
            <a:fld id="{C7A79DE0-D398-4578-8D17-9D0DF780E80F}" type="datetime1">
              <a:rPr kumimoji="1" lang="ja-JP" altLang="en-US" smtClean="0"/>
              <a:t>2025/9/29</a:t>
            </a:fld>
            <a:endParaRPr kumimoji="1" lang="ja-JP" altLang="en-US"/>
          </a:p>
        </p:txBody>
      </p:sp>
      <p:sp>
        <p:nvSpPr>
          <p:cNvPr id="5" name="フッター プレースホルダー 4">
            <a:extLst>
              <a:ext uri="{FF2B5EF4-FFF2-40B4-BE49-F238E27FC236}">
                <a16:creationId xmlns:a16="http://schemas.microsoft.com/office/drawing/2014/main" id="{DE4980AC-5066-45FA-803C-F81AB2A5270E}"/>
              </a:ext>
            </a:extLst>
          </p:cNvPr>
          <p:cNvSpPr>
            <a:spLocks noGrp="1"/>
          </p:cNvSpPr>
          <p:nvPr>
            <p:ph type="ftr" sz="quarter" idx="11"/>
          </p:nvPr>
        </p:nvSpPr>
        <p:spPr/>
        <p:txBody>
          <a:bodyPr/>
          <a:lstStyle/>
          <a:p>
            <a:r>
              <a:rPr kumimoji="1" lang="en-US" altLang="ja-JP"/>
              <a:t>Copyright 2025 Things Base</a:t>
            </a:r>
            <a:endParaRPr kumimoji="1" lang="ja-JP" altLang="en-US"/>
          </a:p>
        </p:txBody>
      </p:sp>
      <p:sp>
        <p:nvSpPr>
          <p:cNvPr id="6" name="スライド番号プレースホルダー 5">
            <a:extLst>
              <a:ext uri="{FF2B5EF4-FFF2-40B4-BE49-F238E27FC236}">
                <a16:creationId xmlns:a16="http://schemas.microsoft.com/office/drawing/2014/main" id="{C7AE3DDD-0121-4225-8D1C-4D5C5EE1AD89}"/>
              </a:ext>
            </a:extLst>
          </p:cNvPr>
          <p:cNvSpPr>
            <a:spLocks noGrp="1"/>
          </p:cNvSpPr>
          <p:nvPr>
            <p:ph type="sldNum" sz="quarter" idx="12"/>
          </p:nvPr>
        </p:nvSpPr>
        <p:spPr/>
        <p:txBody>
          <a:bodyPr/>
          <a:lstStyle/>
          <a:p>
            <a:fld id="{1FB98C20-25CD-4F77-9B8F-26BB31769BDC}" type="slidenum">
              <a:rPr kumimoji="1" lang="ja-JP" altLang="en-US" smtClean="0"/>
              <a:t>‹#›</a:t>
            </a:fld>
            <a:endParaRPr kumimoji="1" lang="ja-JP" altLang="en-US"/>
          </a:p>
        </p:txBody>
      </p:sp>
    </p:spTree>
    <p:extLst>
      <p:ext uri="{BB962C8B-B14F-4D97-AF65-F5344CB8AC3E}">
        <p14:creationId xmlns:p14="http://schemas.microsoft.com/office/powerpoint/2010/main" val="15006378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08B4303A-3B07-434C-A86F-3C2272A9D34A}"/>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355BF699-FFFC-4ADD-A843-42C0B702F77F}"/>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FE2C02A-51FE-49CB-B89C-800539F9F24F}"/>
              </a:ext>
            </a:extLst>
          </p:cNvPr>
          <p:cNvSpPr>
            <a:spLocks noGrp="1"/>
          </p:cNvSpPr>
          <p:nvPr>
            <p:ph type="dt" sz="half" idx="10"/>
          </p:nvPr>
        </p:nvSpPr>
        <p:spPr/>
        <p:txBody>
          <a:bodyPr/>
          <a:lstStyle/>
          <a:p>
            <a:fld id="{558E5557-82A6-4132-924F-05CD0949306E}" type="datetime1">
              <a:rPr kumimoji="1" lang="ja-JP" altLang="en-US" smtClean="0"/>
              <a:t>2025/9/29</a:t>
            </a:fld>
            <a:endParaRPr kumimoji="1" lang="ja-JP" altLang="en-US"/>
          </a:p>
        </p:txBody>
      </p:sp>
      <p:sp>
        <p:nvSpPr>
          <p:cNvPr id="5" name="フッター プレースホルダー 4">
            <a:extLst>
              <a:ext uri="{FF2B5EF4-FFF2-40B4-BE49-F238E27FC236}">
                <a16:creationId xmlns:a16="http://schemas.microsoft.com/office/drawing/2014/main" id="{366FDBEF-127C-40EB-8D24-4F3DEB606821}"/>
              </a:ext>
            </a:extLst>
          </p:cNvPr>
          <p:cNvSpPr>
            <a:spLocks noGrp="1"/>
          </p:cNvSpPr>
          <p:nvPr>
            <p:ph type="ftr" sz="quarter" idx="11"/>
          </p:nvPr>
        </p:nvSpPr>
        <p:spPr/>
        <p:txBody>
          <a:bodyPr/>
          <a:lstStyle/>
          <a:p>
            <a:r>
              <a:rPr kumimoji="1" lang="en-US" altLang="ja-JP"/>
              <a:t>Copyright 2025 Things Base</a:t>
            </a:r>
            <a:endParaRPr kumimoji="1" lang="ja-JP" altLang="en-US"/>
          </a:p>
        </p:txBody>
      </p:sp>
      <p:sp>
        <p:nvSpPr>
          <p:cNvPr id="6" name="スライド番号プレースホルダー 5">
            <a:extLst>
              <a:ext uri="{FF2B5EF4-FFF2-40B4-BE49-F238E27FC236}">
                <a16:creationId xmlns:a16="http://schemas.microsoft.com/office/drawing/2014/main" id="{74A57058-BF86-4AE1-B514-E8B3A8FC35D2}"/>
              </a:ext>
            </a:extLst>
          </p:cNvPr>
          <p:cNvSpPr>
            <a:spLocks noGrp="1"/>
          </p:cNvSpPr>
          <p:nvPr>
            <p:ph type="sldNum" sz="quarter" idx="12"/>
          </p:nvPr>
        </p:nvSpPr>
        <p:spPr/>
        <p:txBody>
          <a:bodyPr/>
          <a:lstStyle/>
          <a:p>
            <a:fld id="{1FB98C20-25CD-4F77-9B8F-26BB31769BDC}" type="slidenum">
              <a:rPr kumimoji="1" lang="ja-JP" altLang="en-US" smtClean="0"/>
              <a:t>‹#›</a:t>
            </a:fld>
            <a:endParaRPr kumimoji="1" lang="ja-JP" altLang="en-US"/>
          </a:p>
        </p:txBody>
      </p:sp>
    </p:spTree>
    <p:extLst>
      <p:ext uri="{BB962C8B-B14F-4D97-AF65-F5344CB8AC3E}">
        <p14:creationId xmlns:p14="http://schemas.microsoft.com/office/powerpoint/2010/main" val="24395958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3104A188-BF32-4925-B1AF-2F04F5B12AB5}"/>
              </a:ext>
            </a:extLst>
          </p:cNvPr>
          <p:cNvSpPr>
            <a:spLocks noGrp="1"/>
          </p:cNvSpPr>
          <p:nvPr>
            <p:ph type="body" idx="1"/>
          </p:nvPr>
        </p:nvSpPr>
        <p:spPr>
          <a:xfrm>
            <a:off x="838200" y="847724"/>
            <a:ext cx="10515600" cy="5438775"/>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C2678A8-4CCF-4190-945B-FFAAC1291CEB}"/>
              </a:ext>
            </a:extLst>
          </p:cNvPr>
          <p:cNvSpPr>
            <a:spLocks noGrp="1"/>
          </p:cNvSpPr>
          <p:nvPr>
            <p:ph type="dt" sz="half" idx="2"/>
          </p:nvPr>
        </p:nvSpPr>
        <p:spPr>
          <a:xfrm>
            <a:off x="838200" y="6492874"/>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57DD48C-7BCC-432C-98FF-7ED6BC0CF3C1}" type="datetime1">
              <a:rPr kumimoji="1" lang="ja-JP" altLang="en-US" smtClean="0"/>
              <a:t>2025/9/29</a:t>
            </a:fld>
            <a:endParaRPr kumimoji="1" lang="ja-JP" altLang="en-US" dirty="0"/>
          </a:p>
        </p:txBody>
      </p:sp>
      <p:sp>
        <p:nvSpPr>
          <p:cNvPr id="5" name="フッター プレースホルダー 4">
            <a:extLst>
              <a:ext uri="{FF2B5EF4-FFF2-40B4-BE49-F238E27FC236}">
                <a16:creationId xmlns:a16="http://schemas.microsoft.com/office/drawing/2014/main" id="{46A0696D-5150-4EC5-B322-0BD40FDAEEAC}"/>
              </a:ext>
            </a:extLst>
          </p:cNvPr>
          <p:cNvSpPr>
            <a:spLocks noGrp="1"/>
          </p:cNvSpPr>
          <p:nvPr>
            <p:ph type="ftr" sz="quarter" idx="3"/>
          </p:nvPr>
        </p:nvSpPr>
        <p:spPr>
          <a:xfrm>
            <a:off x="4024311" y="6492873"/>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ltLang="ja-JP"/>
              <a:t>Copyright 2025 Things Base</a:t>
            </a:r>
            <a:endParaRPr lang="ja-JP" altLang="en-US" dirty="0"/>
          </a:p>
        </p:txBody>
      </p:sp>
      <p:sp>
        <p:nvSpPr>
          <p:cNvPr id="6" name="スライド番号プレースホルダー 5">
            <a:extLst>
              <a:ext uri="{FF2B5EF4-FFF2-40B4-BE49-F238E27FC236}">
                <a16:creationId xmlns:a16="http://schemas.microsoft.com/office/drawing/2014/main" id="{4F81418A-9796-4D57-82F7-BBEB326E5CD9}"/>
              </a:ext>
            </a:extLst>
          </p:cNvPr>
          <p:cNvSpPr>
            <a:spLocks noGrp="1"/>
          </p:cNvSpPr>
          <p:nvPr>
            <p:ph type="sldNum" sz="quarter" idx="4"/>
          </p:nvPr>
        </p:nvSpPr>
        <p:spPr>
          <a:xfrm>
            <a:off x="8610600" y="6492874"/>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B98C20-25CD-4F77-9B8F-26BB31769BDC}" type="slidenum">
              <a:rPr kumimoji="1" lang="ja-JP" altLang="en-US" smtClean="0"/>
              <a:t>‹#›</a:t>
            </a:fld>
            <a:endParaRPr kumimoji="1" lang="ja-JP" altLang="en-US" dirty="0"/>
          </a:p>
        </p:txBody>
      </p:sp>
      <p:sp>
        <p:nvSpPr>
          <p:cNvPr id="7" name="正方形/長方形 6">
            <a:extLst>
              <a:ext uri="{FF2B5EF4-FFF2-40B4-BE49-F238E27FC236}">
                <a16:creationId xmlns:a16="http://schemas.microsoft.com/office/drawing/2014/main" id="{97705291-130A-4E59-87DC-1655687CC864}"/>
              </a:ext>
            </a:extLst>
          </p:cNvPr>
          <p:cNvSpPr/>
          <p:nvPr userDrawn="1"/>
        </p:nvSpPr>
        <p:spPr>
          <a:xfrm>
            <a:off x="0" y="-1"/>
            <a:ext cx="12184515" cy="681037"/>
          </a:xfrm>
          <a:prstGeom prst="rect">
            <a:avLst/>
          </a:prstGeom>
          <a:solidFill>
            <a:srgbClr val="0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タイトル プレースホルダー 1">
            <a:extLst>
              <a:ext uri="{FF2B5EF4-FFF2-40B4-BE49-F238E27FC236}">
                <a16:creationId xmlns:a16="http://schemas.microsoft.com/office/drawing/2014/main" id="{10D9416E-E424-4C71-AE90-DE156550704C}"/>
              </a:ext>
            </a:extLst>
          </p:cNvPr>
          <p:cNvSpPr>
            <a:spLocks noGrp="1"/>
          </p:cNvSpPr>
          <p:nvPr>
            <p:ph type="title"/>
          </p:nvPr>
        </p:nvSpPr>
        <p:spPr>
          <a:xfrm>
            <a:off x="95249" y="91463"/>
            <a:ext cx="11972925" cy="589573"/>
          </a:xfrm>
          <a:prstGeom prst="rect">
            <a:avLst/>
          </a:prstGeom>
        </p:spPr>
        <p:txBody>
          <a:bodyPr vert="horz" lIns="91440" tIns="45720" rIns="91440" bIns="45720" rtlCol="0" anchor="ctr">
            <a:normAutofit/>
          </a:bodyPr>
          <a:lstStyle/>
          <a:p>
            <a:r>
              <a:rPr kumimoji="1" lang="ja-JP" altLang="en-US" dirty="0"/>
              <a:t>マスター タイトルの書式設定</a:t>
            </a:r>
          </a:p>
        </p:txBody>
      </p:sp>
      <p:cxnSp>
        <p:nvCxnSpPr>
          <p:cNvPr id="8" name="直線コネクタ 7">
            <a:extLst>
              <a:ext uri="{FF2B5EF4-FFF2-40B4-BE49-F238E27FC236}">
                <a16:creationId xmlns:a16="http://schemas.microsoft.com/office/drawing/2014/main" id="{0075E86A-EC25-4A61-928C-A7930CAC4CA5}"/>
              </a:ext>
            </a:extLst>
          </p:cNvPr>
          <p:cNvCxnSpPr/>
          <p:nvPr userDrawn="1"/>
        </p:nvCxnSpPr>
        <p:spPr>
          <a:xfrm>
            <a:off x="0" y="6492874"/>
            <a:ext cx="12184516" cy="0"/>
          </a:xfrm>
          <a:prstGeom prst="line">
            <a:avLst/>
          </a:prstGeom>
          <a:ln w="50800" cmpd="thickThin">
            <a:solidFill>
              <a:srgbClr val="008080"/>
            </a:solidFill>
            <a:prstDash val="solid"/>
            <a:headEnd type="none"/>
          </a:ln>
        </p:spPr>
        <p:style>
          <a:lnRef idx="1">
            <a:schemeClr val="accent1"/>
          </a:lnRef>
          <a:fillRef idx="0">
            <a:schemeClr val="accent1"/>
          </a:fillRef>
          <a:effectRef idx="0">
            <a:schemeClr val="accent1"/>
          </a:effectRef>
          <a:fontRef idx="minor">
            <a:schemeClr val="tx1"/>
          </a:fontRef>
        </p:style>
      </p:cxnSp>
      <p:sp>
        <p:nvSpPr>
          <p:cNvPr id="9" name="正方形/長方形 8">
            <a:extLst>
              <a:ext uri="{FF2B5EF4-FFF2-40B4-BE49-F238E27FC236}">
                <a16:creationId xmlns:a16="http://schemas.microsoft.com/office/drawing/2014/main" id="{EC27DD1A-0C16-4695-B13D-AE45CA7C689B}"/>
              </a:ext>
            </a:extLst>
          </p:cNvPr>
          <p:cNvSpPr/>
          <p:nvPr userDrawn="1"/>
        </p:nvSpPr>
        <p:spPr>
          <a:xfrm>
            <a:off x="11387138" y="91463"/>
            <a:ext cx="709613" cy="486905"/>
          </a:xfrm>
          <a:prstGeom prst="rect">
            <a:avLst/>
          </a:prstGeom>
          <a:solidFill>
            <a:schemeClr val="bg1"/>
          </a:solidFill>
          <a:ln w="1905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ja-JP" sz="800" b="1" dirty="0">
                <a:solidFill>
                  <a:srgbClr val="FF0000"/>
                </a:solidFill>
                <a:latin typeface="ＭＳ ゴシック" panose="020B0609070205080204" pitchFamily="49" charset="-128"/>
                <a:ea typeface="ＭＳ ゴシック" panose="020B0609070205080204" pitchFamily="49" charset="-128"/>
              </a:rPr>
              <a:t>CONFIDENTIAL</a:t>
            </a:r>
          </a:p>
          <a:p>
            <a:pPr algn="ctr"/>
            <a:r>
              <a:rPr kumimoji="1" lang="ja-JP" altLang="en-US" sz="1000" b="1" dirty="0">
                <a:solidFill>
                  <a:srgbClr val="FF0000"/>
                </a:solidFill>
                <a:latin typeface="ＭＳ ゴシック" panose="020B0609070205080204" pitchFamily="49" charset="-128"/>
                <a:ea typeface="ＭＳ ゴシック" panose="020B0609070205080204" pitchFamily="49" charset="-128"/>
              </a:rPr>
              <a:t>関係者外秘</a:t>
            </a:r>
          </a:p>
        </p:txBody>
      </p:sp>
    </p:spTree>
    <p:extLst>
      <p:ext uri="{BB962C8B-B14F-4D97-AF65-F5344CB8AC3E}">
        <p14:creationId xmlns:p14="http://schemas.microsoft.com/office/powerpoint/2010/main" val="22688388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kumimoji="1"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C70CE1B-81D1-6998-5498-8166BC5FC178}"/>
              </a:ext>
            </a:extLst>
          </p:cNvPr>
          <p:cNvSpPr>
            <a:spLocks noGrp="1"/>
          </p:cNvSpPr>
          <p:nvPr>
            <p:ph type="ctrTitle"/>
          </p:nvPr>
        </p:nvSpPr>
        <p:spPr>
          <a:xfrm>
            <a:off x="495300" y="1305952"/>
            <a:ext cx="11029950" cy="1983136"/>
          </a:xfrm>
        </p:spPr>
        <p:txBody>
          <a:bodyPr>
            <a:normAutofit/>
          </a:bodyPr>
          <a:lstStyle/>
          <a:p>
            <a:r>
              <a:rPr kumimoji="1" lang="en-US" altLang="ja-JP" sz="7200" b="1" dirty="0">
                <a:solidFill>
                  <a:srgbClr val="0000FF"/>
                </a:solidFill>
              </a:rPr>
              <a:t>LGX-Shield</a:t>
            </a:r>
            <a:r>
              <a:rPr kumimoji="1" lang="en-US" altLang="ja-JP" dirty="0">
                <a:solidFill>
                  <a:schemeClr val="tx1"/>
                </a:solidFill>
              </a:rPr>
              <a:t> </a:t>
            </a:r>
            <a:br>
              <a:rPr kumimoji="1" lang="en-US" altLang="ja-JP" dirty="0">
                <a:solidFill>
                  <a:schemeClr val="tx1"/>
                </a:solidFill>
              </a:rPr>
            </a:br>
            <a:r>
              <a:rPr kumimoji="1" lang="ja-JP" altLang="en-US" sz="2800" dirty="0">
                <a:solidFill>
                  <a:schemeClr val="tx1"/>
                </a:solidFill>
              </a:rPr>
              <a:t>～加速度</a:t>
            </a:r>
            <a:r>
              <a:rPr kumimoji="1" lang="en-US" altLang="ja-JP" sz="2800" dirty="0">
                <a:solidFill>
                  <a:schemeClr val="tx1"/>
                </a:solidFill>
              </a:rPr>
              <a:t>×AI </a:t>
            </a:r>
            <a:r>
              <a:rPr kumimoji="1" lang="ja-JP" altLang="en-US" sz="2800" dirty="0">
                <a:solidFill>
                  <a:schemeClr val="tx1"/>
                </a:solidFill>
              </a:rPr>
              <a:t>で橋梁の異常をリアルタイム検出するエッジモニタ～ </a:t>
            </a:r>
          </a:p>
        </p:txBody>
      </p:sp>
      <p:sp>
        <p:nvSpPr>
          <p:cNvPr id="3" name="字幕 2">
            <a:extLst>
              <a:ext uri="{FF2B5EF4-FFF2-40B4-BE49-F238E27FC236}">
                <a16:creationId xmlns:a16="http://schemas.microsoft.com/office/drawing/2014/main" id="{5221422E-A587-7225-84CB-2091DEA64BB0}"/>
              </a:ext>
            </a:extLst>
          </p:cNvPr>
          <p:cNvSpPr>
            <a:spLocks noGrp="1"/>
          </p:cNvSpPr>
          <p:nvPr>
            <p:ph type="subTitle" idx="1"/>
          </p:nvPr>
        </p:nvSpPr>
        <p:spPr>
          <a:xfrm>
            <a:off x="1438275" y="4000236"/>
            <a:ext cx="9144000" cy="954789"/>
          </a:xfrm>
        </p:spPr>
        <p:txBody>
          <a:bodyPr>
            <a:normAutofit/>
          </a:bodyPr>
          <a:lstStyle/>
          <a:p>
            <a:r>
              <a:rPr kumimoji="1" lang="ja-JP" altLang="en-US" dirty="0"/>
              <a:t>２０２５年９月３０日</a:t>
            </a:r>
            <a:endParaRPr kumimoji="1" lang="en-US" altLang="ja-JP" dirty="0"/>
          </a:p>
          <a:p>
            <a:r>
              <a:rPr lang="en-US" altLang="ja-JP" dirty="0"/>
              <a:t>Things</a:t>
            </a:r>
            <a:r>
              <a:rPr lang="ja-JP" altLang="en-US" dirty="0"/>
              <a:t> </a:t>
            </a:r>
            <a:r>
              <a:rPr lang="en-US" altLang="ja-JP" dirty="0"/>
              <a:t>Base</a:t>
            </a:r>
            <a:r>
              <a:rPr lang="ja-JP" altLang="en-US" dirty="0"/>
              <a:t>　須藤義明</a:t>
            </a:r>
            <a:endParaRPr kumimoji="1" lang="ja-JP" altLang="en-US" dirty="0"/>
          </a:p>
        </p:txBody>
      </p:sp>
      <p:sp>
        <p:nvSpPr>
          <p:cNvPr id="4" name="フッター プレースホルダー 3">
            <a:extLst>
              <a:ext uri="{FF2B5EF4-FFF2-40B4-BE49-F238E27FC236}">
                <a16:creationId xmlns:a16="http://schemas.microsoft.com/office/drawing/2014/main" id="{5E101B9C-1464-24F3-C30C-D393CAF1653C}"/>
              </a:ext>
            </a:extLst>
          </p:cNvPr>
          <p:cNvSpPr>
            <a:spLocks noGrp="1"/>
          </p:cNvSpPr>
          <p:nvPr>
            <p:ph type="ftr" sz="quarter" idx="11"/>
          </p:nvPr>
        </p:nvSpPr>
        <p:spPr/>
        <p:txBody>
          <a:bodyPr/>
          <a:lstStyle/>
          <a:p>
            <a:r>
              <a:rPr lang="en-US" altLang="ja-JP"/>
              <a:t>Copyright 2025 Things Base</a:t>
            </a:r>
            <a:endParaRPr kumimoji="1" lang="ja-JP" altLang="en-US" dirty="0"/>
          </a:p>
        </p:txBody>
      </p:sp>
      <p:sp>
        <p:nvSpPr>
          <p:cNvPr id="5" name="スライド番号プレースホルダー 4">
            <a:extLst>
              <a:ext uri="{FF2B5EF4-FFF2-40B4-BE49-F238E27FC236}">
                <a16:creationId xmlns:a16="http://schemas.microsoft.com/office/drawing/2014/main" id="{699FDA00-39AB-9941-84BA-CCC785A4B561}"/>
              </a:ext>
            </a:extLst>
          </p:cNvPr>
          <p:cNvSpPr>
            <a:spLocks noGrp="1"/>
          </p:cNvSpPr>
          <p:nvPr>
            <p:ph type="sldNum" sz="quarter" idx="12"/>
          </p:nvPr>
        </p:nvSpPr>
        <p:spPr/>
        <p:txBody>
          <a:bodyPr/>
          <a:lstStyle/>
          <a:p>
            <a:fld id="{1FB98C20-25CD-4F77-9B8F-26BB31769BDC}" type="slidenum">
              <a:rPr kumimoji="1" lang="ja-JP" altLang="en-US" smtClean="0"/>
              <a:t>1</a:t>
            </a:fld>
            <a:endParaRPr kumimoji="1" lang="ja-JP" altLang="en-US"/>
          </a:p>
        </p:txBody>
      </p:sp>
      <p:sp>
        <p:nvSpPr>
          <p:cNvPr id="8" name="字幕 2">
            <a:extLst>
              <a:ext uri="{FF2B5EF4-FFF2-40B4-BE49-F238E27FC236}">
                <a16:creationId xmlns:a16="http://schemas.microsoft.com/office/drawing/2014/main" id="{521B7D48-FD03-2587-F8F2-3686E1BDC91D}"/>
              </a:ext>
            </a:extLst>
          </p:cNvPr>
          <p:cNvSpPr txBox="1">
            <a:spLocks/>
          </p:cNvSpPr>
          <p:nvPr/>
        </p:nvSpPr>
        <p:spPr>
          <a:xfrm>
            <a:off x="123092" y="191192"/>
            <a:ext cx="11923906" cy="403612"/>
          </a:xfrm>
          <a:prstGeom prst="rect">
            <a:avLst/>
          </a:prstGeom>
        </p:spPr>
        <p:txBody>
          <a:bodyPr vert="horz" lIns="91440" tIns="45720" rIns="91440" bIns="45720" rtlCol="0" anchor="ctr" anchorCtr="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altLang="ja-JP" sz="2000" u="sng" dirty="0">
                <a:solidFill>
                  <a:schemeClr val="bg1"/>
                </a:solidFill>
              </a:rPr>
              <a:t>TRON</a:t>
            </a:r>
            <a:r>
              <a:rPr lang="ja-JP" altLang="en-US" sz="2000" u="sng" dirty="0">
                <a:solidFill>
                  <a:schemeClr val="bg1"/>
                </a:solidFill>
              </a:rPr>
              <a:t>プログラミングコンテスト応募作品紹介</a:t>
            </a:r>
          </a:p>
        </p:txBody>
      </p:sp>
      <p:pic>
        <p:nvPicPr>
          <p:cNvPr id="9" name="図 8">
            <a:extLst>
              <a:ext uri="{FF2B5EF4-FFF2-40B4-BE49-F238E27FC236}">
                <a16:creationId xmlns:a16="http://schemas.microsoft.com/office/drawing/2014/main" id="{71BA7B96-B1E3-C3C7-6AE0-304EA2A68F6E}"/>
              </a:ext>
            </a:extLst>
          </p:cNvPr>
          <p:cNvPicPr>
            <a:picLocks noChangeAspect="1"/>
          </p:cNvPicPr>
          <p:nvPr/>
        </p:nvPicPr>
        <p:blipFill>
          <a:blip r:embed="rId2"/>
          <a:stretch>
            <a:fillRect/>
          </a:stretch>
        </p:blipFill>
        <p:spPr>
          <a:xfrm>
            <a:off x="27558" y="15614"/>
            <a:ext cx="772542" cy="175578"/>
          </a:xfrm>
          <a:prstGeom prst="rect">
            <a:avLst/>
          </a:prstGeom>
        </p:spPr>
      </p:pic>
      <p:sp>
        <p:nvSpPr>
          <p:cNvPr id="10" name="正方形/長方形 9">
            <a:extLst>
              <a:ext uri="{FF2B5EF4-FFF2-40B4-BE49-F238E27FC236}">
                <a16:creationId xmlns:a16="http://schemas.microsoft.com/office/drawing/2014/main" id="{24D1F8FE-696C-866E-BD61-05461A3D873A}"/>
              </a:ext>
            </a:extLst>
          </p:cNvPr>
          <p:cNvSpPr/>
          <p:nvPr/>
        </p:nvSpPr>
        <p:spPr>
          <a:xfrm>
            <a:off x="1047748" y="5320150"/>
            <a:ext cx="10067925" cy="117272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ja-JP" sz="3200" dirty="0">
                <a:solidFill>
                  <a:srgbClr val="00B050"/>
                </a:solidFill>
              </a:rPr>
              <a:t>TRON×</a:t>
            </a:r>
            <a:r>
              <a:rPr lang="en-US" altLang="ja-JP" sz="3200" dirty="0">
                <a:solidFill>
                  <a:srgbClr val="00B050"/>
                </a:solidFill>
              </a:rPr>
              <a:t>AI</a:t>
            </a:r>
            <a:r>
              <a:rPr lang="ja-JP" altLang="en-US" sz="3200" dirty="0">
                <a:solidFill>
                  <a:srgbClr val="00B050"/>
                </a:solidFill>
              </a:rPr>
              <a:t>で築く、安心・安全の未来社会</a:t>
            </a:r>
            <a:endParaRPr lang="en-US" altLang="ja-JP" sz="3200" dirty="0">
              <a:solidFill>
                <a:srgbClr val="00B050"/>
              </a:solidFill>
            </a:endParaRPr>
          </a:p>
          <a:p>
            <a:pPr algn="ctr"/>
            <a:r>
              <a:rPr kumimoji="1" lang="ja-JP" altLang="en-US" sz="1600" dirty="0">
                <a:solidFill>
                  <a:schemeClr val="tx1"/>
                </a:solidFill>
              </a:rPr>
              <a:t>本システムは、社会インフラの異常を リアルタイムに把握 し、従来の「経験と勘」に依存してきた</a:t>
            </a:r>
            <a:endParaRPr kumimoji="1" lang="en-US" altLang="ja-JP" sz="1600" dirty="0">
              <a:solidFill>
                <a:schemeClr val="tx1"/>
              </a:solidFill>
            </a:endParaRPr>
          </a:p>
          <a:p>
            <a:pPr algn="ctr"/>
            <a:r>
              <a:rPr kumimoji="1" lang="ja-JP" altLang="en-US" sz="1600" dirty="0">
                <a:solidFill>
                  <a:schemeClr val="tx1"/>
                </a:solidFill>
              </a:rPr>
              <a:t>点検作業を、データに基づく安心</a:t>
            </a:r>
            <a:r>
              <a:rPr lang="ja-JP" altLang="en-US" sz="1600" dirty="0">
                <a:solidFill>
                  <a:schemeClr val="tx1"/>
                </a:solidFill>
              </a:rPr>
              <a:t>・安全</a:t>
            </a:r>
            <a:r>
              <a:rPr kumimoji="1" lang="ja-JP" altLang="en-US" sz="1600" dirty="0">
                <a:solidFill>
                  <a:schemeClr val="tx1"/>
                </a:solidFill>
              </a:rPr>
              <a:t>の仕組みへと変革することを提案します！</a:t>
            </a:r>
          </a:p>
        </p:txBody>
      </p:sp>
    </p:spTree>
    <p:extLst>
      <p:ext uri="{BB962C8B-B14F-4D97-AF65-F5344CB8AC3E}">
        <p14:creationId xmlns:p14="http://schemas.microsoft.com/office/powerpoint/2010/main" val="33539836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6861C39-4B80-20E5-22D0-A7287BA35977}"/>
              </a:ext>
            </a:extLst>
          </p:cNvPr>
          <p:cNvSpPr>
            <a:spLocks noGrp="1"/>
          </p:cNvSpPr>
          <p:nvPr>
            <p:ph type="title"/>
          </p:nvPr>
        </p:nvSpPr>
        <p:spPr/>
        <p:txBody>
          <a:bodyPr>
            <a:normAutofit fontScale="90000"/>
          </a:bodyPr>
          <a:lstStyle/>
          <a:p>
            <a:r>
              <a:rPr kumimoji="1" lang="ja-JP" altLang="en-US" dirty="0"/>
              <a:t>１．</a:t>
            </a:r>
            <a:r>
              <a:rPr lang="ja-JP" altLang="en-US" dirty="0"/>
              <a:t>はじめに</a:t>
            </a:r>
            <a:endParaRPr kumimoji="1" lang="ja-JP" altLang="en-US" dirty="0"/>
          </a:p>
        </p:txBody>
      </p:sp>
      <p:sp>
        <p:nvSpPr>
          <p:cNvPr id="3" name="コンテンツ プレースホルダー 2">
            <a:extLst>
              <a:ext uri="{FF2B5EF4-FFF2-40B4-BE49-F238E27FC236}">
                <a16:creationId xmlns:a16="http://schemas.microsoft.com/office/drawing/2014/main" id="{D5F75ADE-5F1B-7996-8B12-1BA3B9325653}"/>
              </a:ext>
            </a:extLst>
          </p:cNvPr>
          <p:cNvSpPr>
            <a:spLocks noGrp="1"/>
          </p:cNvSpPr>
          <p:nvPr>
            <p:ph idx="1"/>
          </p:nvPr>
        </p:nvSpPr>
        <p:spPr>
          <a:xfrm>
            <a:off x="647700" y="990600"/>
            <a:ext cx="10515600" cy="5502273"/>
          </a:xfrm>
        </p:spPr>
        <p:txBody>
          <a:bodyPr>
            <a:noAutofit/>
          </a:bodyPr>
          <a:lstStyle/>
          <a:p>
            <a:pPr>
              <a:buFont typeface="Wingdings" panose="05000000000000000000" pitchFamily="2" charset="2"/>
              <a:buChar char="Ø"/>
            </a:pPr>
            <a:r>
              <a:rPr kumimoji="1" lang="ja-JP" altLang="en-US" sz="3200" dirty="0"/>
              <a:t>橋梁などの社会インフラは、老朽化や人材不足によって保守点検が難しくなっている。</a:t>
            </a:r>
            <a:endParaRPr kumimoji="1" lang="en-US" altLang="ja-JP" sz="3200" dirty="0"/>
          </a:p>
          <a:p>
            <a:pPr>
              <a:buFont typeface="Wingdings" panose="05000000000000000000" pitchFamily="2" charset="2"/>
              <a:buChar char="Ø"/>
            </a:pPr>
            <a:r>
              <a:rPr kumimoji="1" lang="en-US" altLang="ja-JP" sz="3200" dirty="0"/>
              <a:t>LGX Shield </a:t>
            </a:r>
            <a:r>
              <a:rPr kumimoji="1" lang="ja-JP" altLang="en-US" sz="3200" dirty="0"/>
              <a:t>は、加速度センサを用いて橋梁などの振動を計測し、</a:t>
            </a:r>
            <a:r>
              <a:rPr kumimoji="1" lang="en-US" altLang="ja-JP" sz="3200" b="1" dirty="0">
                <a:solidFill>
                  <a:srgbClr val="0000FF"/>
                </a:solidFill>
              </a:rPr>
              <a:t>AI</a:t>
            </a:r>
            <a:r>
              <a:rPr kumimoji="1" lang="ja-JP" altLang="en-US" sz="3200" b="1" dirty="0">
                <a:solidFill>
                  <a:srgbClr val="0000FF"/>
                </a:solidFill>
              </a:rPr>
              <a:t>による判定で「安全／危険」を即時に見える化</a:t>
            </a:r>
            <a:r>
              <a:rPr kumimoji="1" lang="ja-JP" altLang="en-US" sz="3200" dirty="0"/>
              <a:t>するシステムである。</a:t>
            </a:r>
            <a:endParaRPr kumimoji="1" lang="en-US" altLang="ja-JP" sz="3200" dirty="0"/>
          </a:p>
          <a:p>
            <a:pPr>
              <a:buFont typeface="Wingdings" panose="05000000000000000000" pitchFamily="2" charset="2"/>
              <a:buChar char="Ø"/>
            </a:pPr>
            <a:r>
              <a:rPr kumimoji="1" lang="ja-JP" altLang="en-US" sz="3200" dirty="0"/>
              <a:t>加速度データは </a:t>
            </a:r>
            <a:r>
              <a:rPr kumimoji="1" lang="en-US" altLang="ja-JP" sz="3200" dirty="0"/>
              <a:t>100Hz </a:t>
            </a:r>
            <a:r>
              <a:rPr kumimoji="1" lang="ja-JP" altLang="en-US" sz="3200" dirty="0"/>
              <a:t>でサンプリングされ、</a:t>
            </a:r>
            <a:r>
              <a:rPr kumimoji="1" lang="en-US" altLang="ja-JP" sz="3200" b="1" dirty="0">
                <a:solidFill>
                  <a:srgbClr val="0000FF"/>
                </a:solidFill>
              </a:rPr>
              <a:t>FFT </a:t>
            </a:r>
            <a:r>
              <a:rPr kumimoji="1" lang="ja-JP" altLang="en-US" sz="3200" b="1" dirty="0">
                <a:solidFill>
                  <a:srgbClr val="0000FF"/>
                </a:solidFill>
              </a:rPr>
              <a:t>解析と特徴抽出を経て推論</a:t>
            </a:r>
            <a:r>
              <a:rPr kumimoji="1" lang="ja-JP" altLang="en-US" sz="3200" dirty="0"/>
              <a:t>に利用される。</a:t>
            </a:r>
            <a:endParaRPr kumimoji="1" lang="en-US" altLang="ja-JP" sz="3200" dirty="0"/>
          </a:p>
          <a:p>
            <a:pPr>
              <a:buFont typeface="Wingdings" panose="05000000000000000000" pitchFamily="2" charset="2"/>
              <a:buChar char="Ø"/>
            </a:pPr>
            <a:r>
              <a:rPr kumimoji="1" lang="ja-JP" altLang="en-US" sz="3200" dirty="0"/>
              <a:t>判定結果は </a:t>
            </a:r>
            <a:r>
              <a:rPr kumimoji="1" lang="en-US" altLang="ja-JP" sz="3200" dirty="0"/>
              <a:t>LED </a:t>
            </a:r>
            <a:r>
              <a:rPr kumimoji="1" lang="ja-JP" altLang="en-US" sz="3200" dirty="0"/>
              <a:t>表示と </a:t>
            </a:r>
            <a:r>
              <a:rPr kumimoji="1" lang="en-US" altLang="ja-JP" sz="3200" dirty="0"/>
              <a:t>LAN </a:t>
            </a:r>
            <a:r>
              <a:rPr kumimoji="1" lang="ja-JP" altLang="en-US" sz="3200" dirty="0"/>
              <a:t>内サーバで確認でき、クラウド接続や複雑な設定は不要。</a:t>
            </a:r>
            <a:r>
              <a:rPr kumimoji="1" lang="en-US" altLang="ja-JP" sz="3200" dirty="0"/>
              <a:t>(</a:t>
            </a:r>
            <a:r>
              <a:rPr kumimoji="1" lang="ja-JP" altLang="en-US" sz="3200" dirty="0"/>
              <a:t>本コンテスト向け</a:t>
            </a:r>
            <a:r>
              <a:rPr kumimoji="1" lang="en-US" altLang="ja-JP" sz="3200" dirty="0"/>
              <a:t>)</a:t>
            </a:r>
          </a:p>
          <a:p>
            <a:pPr>
              <a:buFont typeface="Wingdings" panose="05000000000000000000" pitchFamily="2" charset="2"/>
              <a:buChar char="Ø"/>
            </a:pPr>
            <a:r>
              <a:rPr kumimoji="1" lang="ja-JP" altLang="en-US" sz="3200" b="1" dirty="0">
                <a:solidFill>
                  <a:srgbClr val="0000FF"/>
                </a:solidFill>
              </a:rPr>
              <a:t>簡易でありながらリアルタイム性に優れた </a:t>
            </a:r>
            <a:r>
              <a:rPr kumimoji="1" lang="en-US" altLang="ja-JP" sz="3200" b="1" dirty="0">
                <a:solidFill>
                  <a:srgbClr val="0000FF"/>
                </a:solidFill>
              </a:rPr>
              <a:t>IoT </a:t>
            </a:r>
            <a:r>
              <a:rPr kumimoji="1" lang="ja-JP" altLang="en-US" sz="3200" b="1" dirty="0">
                <a:solidFill>
                  <a:srgbClr val="0000FF"/>
                </a:solidFill>
              </a:rPr>
              <a:t>モニタリングの実現例 </a:t>
            </a:r>
            <a:r>
              <a:rPr kumimoji="1" lang="ja-JP" altLang="en-US" sz="3200" dirty="0"/>
              <a:t>である。</a:t>
            </a:r>
          </a:p>
        </p:txBody>
      </p:sp>
      <p:sp>
        <p:nvSpPr>
          <p:cNvPr id="4" name="フッター プレースホルダー 3">
            <a:extLst>
              <a:ext uri="{FF2B5EF4-FFF2-40B4-BE49-F238E27FC236}">
                <a16:creationId xmlns:a16="http://schemas.microsoft.com/office/drawing/2014/main" id="{18C605FD-151A-0ACE-3DDD-5DACC8AE4C9E}"/>
              </a:ext>
            </a:extLst>
          </p:cNvPr>
          <p:cNvSpPr>
            <a:spLocks noGrp="1"/>
          </p:cNvSpPr>
          <p:nvPr>
            <p:ph type="ftr" sz="quarter" idx="11"/>
          </p:nvPr>
        </p:nvSpPr>
        <p:spPr/>
        <p:txBody>
          <a:bodyPr/>
          <a:lstStyle/>
          <a:p>
            <a:r>
              <a:rPr kumimoji="1" lang="en-US" altLang="ja-JP"/>
              <a:t>Copyright 2025 Things Base</a:t>
            </a:r>
            <a:endParaRPr kumimoji="1" lang="ja-JP" altLang="en-US" dirty="0"/>
          </a:p>
        </p:txBody>
      </p:sp>
      <p:sp>
        <p:nvSpPr>
          <p:cNvPr id="5" name="スライド番号プレースホルダー 4">
            <a:extLst>
              <a:ext uri="{FF2B5EF4-FFF2-40B4-BE49-F238E27FC236}">
                <a16:creationId xmlns:a16="http://schemas.microsoft.com/office/drawing/2014/main" id="{0E16BCCC-06C6-ED57-A566-19108ADAA3A4}"/>
              </a:ext>
            </a:extLst>
          </p:cNvPr>
          <p:cNvSpPr>
            <a:spLocks noGrp="1"/>
          </p:cNvSpPr>
          <p:nvPr>
            <p:ph type="sldNum" sz="quarter" idx="12"/>
          </p:nvPr>
        </p:nvSpPr>
        <p:spPr/>
        <p:txBody>
          <a:bodyPr/>
          <a:lstStyle/>
          <a:p>
            <a:fld id="{1FB98C20-25CD-4F77-9B8F-26BB31769BDC}" type="slidenum">
              <a:rPr kumimoji="1" lang="ja-JP" altLang="en-US" smtClean="0"/>
              <a:t>2</a:t>
            </a:fld>
            <a:endParaRPr kumimoji="1" lang="ja-JP" altLang="en-US"/>
          </a:p>
        </p:txBody>
      </p:sp>
    </p:spTree>
    <p:extLst>
      <p:ext uri="{BB962C8B-B14F-4D97-AF65-F5344CB8AC3E}">
        <p14:creationId xmlns:p14="http://schemas.microsoft.com/office/powerpoint/2010/main" val="18017520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A2E83-E1BB-0BB5-D6A4-6BF56B083FB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2CFD5CE-A864-0340-9861-ACB5C334FE5F}"/>
              </a:ext>
            </a:extLst>
          </p:cNvPr>
          <p:cNvSpPr>
            <a:spLocks noGrp="1"/>
          </p:cNvSpPr>
          <p:nvPr>
            <p:ph type="title"/>
          </p:nvPr>
        </p:nvSpPr>
        <p:spPr/>
        <p:txBody>
          <a:bodyPr>
            <a:normAutofit fontScale="90000"/>
          </a:bodyPr>
          <a:lstStyle/>
          <a:p>
            <a:r>
              <a:rPr lang="ja-JP" altLang="en-US" dirty="0"/>
              <a:t>２ー１</a:t>
            </a:r>
            <a:r>
              <a:rPr kumimoji="1" lang="ja-JP" altLang="en-US" dirty="0"/>
              <a:t>．システム構成</a:t>
            </a:r>
          </a:p>
        </p:txBody>
      </p:sp>
      <p:sp>
        <p:nvSpPr>
          <p:cNvPr id="4" name="フッター プレースホルダー 3">
            <a:extLst>
              <a:ext uri="{FF2B5EF4-FFF2-40B4-BE49-F238E27FC236}">
                <a16:creationId xmlns:a16="http://schemas.microsoft.com/office/drawing/2014/main" id="{CF1983ED-4603-F5CE-E00F-52AB33CC4F1C}"/>
              </a:ext>
            </a:extLst>
          </p:cNvPr>
          <p:cNvSpPr>
            <a:spLocks noGrp="1"/>
          </p:cNvSpPr>
          <p:nvPr>
            <p:ph type="ftr" sz="quarter" idx="11"/>
          </p:nvPr>
        </p:nvSpPr>
        <p:spPr/>
        <p:txBody>
          <a:bodyPr/>
          <a:lstStyle/>
          <a:p>
            <a:r>
              <a:rPr kumimoji="1" lang="en-US" altLang="ja-JP"/>
              <a:t>Copyright 2025 Things Base</a:t>
            </a:r>
            <a:endParaRPr kumimoji="1" lang="ja-JP" altLang="en-US" dirty="0"/>
          </a:p>
        </p:txBody>
      </p:sp>
      <p:sp>
        <p:nvSpPr>
          <p:cNvPr id="5" name="スライド番号プレースホルダー 4">
            <a:extLst>
              <a:ext uri="{FF2B5EF4-FFF2-40B4-BE49-F238E27FC236}">
                <a16:creationId xmlns:a16="http://schemas.microsoft.com/office/drawing/2014/main" id="{E8E1D305-4FBA-8DA4-A94D-B9B8F317FCBC}"/>
              </a:ext>
            </a:extLst>
          </p:cNvPr>
          <p:cNvSpPr>
            <a:spLocks noGrp="1"/>
          </p:cNvSpPr>
          <p:nvPr>
            <p:ph type="sldNum" sz="quarter" idx="12"/>
          </p:nvPr>
        </p:nvSpPr>
        <p:spPr/>
        <p:txBody>
          <a:bodyPr/>
          <a:lstStyle/>
          <a:p>
            <a:fld id="{1FB98C20-25CD-4F77-9B8F-26BB31769BDC}" type="slidenum">
              <a:rPr kumimoji="1" lang="ja-JP" altLang="en-US" smtClean="0"/>
              <a:t>3</a:t>
            </a:fld>
            <a:endParaRPr kumimoji="1" lang="ja-JP" altLang="en-US"/>
          </a:p>
        </p:txBody>
      </p:sp>
      <p:pic>
        <p:nvPicPr>
          <p:cNvPr id="10" name="図 9">
            <a:extLst>
              <a:ext uri="{FF2B5EF4-FFF2-40B4-BE49-F238E27FC236}">
                <a16:creationId xmlns:a16="http://schemas.microsoft.com/office/drawing/2014/main" id="{D003C1F0-5F4B-750C-21F9-4EDADCEE4CE7}"/>
              </a:ext>
            </a:extLst>
          </p:cNvPr>
          <p:cNvPicPr>
            <a:picLocks noChangeAspect="1"/>
          </p:cNvPicPr>
          <p:nvPr/>
        </p:nvPicPr>
        <p:blipFill>
          <a:blip r:embed="rId2"/>
          <a:stretch>
            <a:fillRect/>
          </a:stretch>
        </p:blipFill>
        <p:spPr>
          <a:xfrm>
            <a:off x="7571932" y="1715287"/>
            <a:ext cx="4298255" cy="2417768"/>
          </a:xfrm>
          <a:prstGeom prst="rect">
            <a:avLst/>
          </a:prstGeom>
        </p:spPr>
      </p:pic>
      <p:sp>
        <p:nvSpPr>
          <p:cNvPr id="11" name="正方形/長方形 10">
            <a:extLst>
              <a:ext uri="{FF2B5EF4-FFF2-40B4-BE49-F238E27FC236}">
                <a16:creationId xmlns:a16="http://schemas.microsoft.com/office/drawing/2014/main" id="{6B8D17A3-BCAD-C095-D39F-C978A3D1B624}"/>
              </a:ext>
            </a:extLst>
          </p:cNvPr>
          <p:cNvSpPr/>
          <p:nvPr/>
        </p:nvSpPr>
        <p:spPr>
          <a:xfrm>
            <a:off x="209550" y="758076"/>
            <a:ext cx="9172575" cy="518274"/>
          </a:xfrm>
          <a:prstGeom prst="rect">
            <a:avLst/>
          </a:prstGeom>
          <a:noFill/>
          <a:ln w="254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lvl="0" eaLnBrk="0" fontAlgn="base" hangingPunct="0">
              <a:spcBef>
                <a:spcPct val="0"/>
              </a:spcBef>
              <a:spcAft>
                <a:spcPct val="0"/>
              </a:spcAft>
            </a:pPr>
            <a:r>
              <a:rPr kumimoji="0" lang="ja-JP" altLang="en-US" sz="2400" dirty="0">
                <a:solidFill>
                  <a:schemeClr val="tx1"/>
                </a:solidFill>
                <a:latin typeface="Arial" panose="020B0604020202020204" pitchFamily="34" charset="0"/>
              </a:rPr>
              <a:t>本コンテスト向けに</a:t>
            </a:r>
            <a:r>
              <a:rPr kumimoji="0" lang="en-US" altLang="ja-JP" sz="2400" dirty="0">
                <a:solidFill>
                  <a:schemeClr val="tx1"/>
                </a:solidFill>
                <a:latin typeface="Arial" panose="020B0604020202020204" pitchFamily="34" charset="0"/>
              </a:rPr>
              <a:t>LGX-Shield</a:t>
            </a:r>
            <a:r>
              <a:rPr kumimoji="0" lang="ja-JP" altLang="en-US" sz="2400" dirty="0">
                <a:solidFill>
                  <a:schemeClr val="tx1"/>
                </a:solidFill>
                <a:latin typeface="Arial" panose="020B0604020202020204" pitchFamily="34" charset="0"/>
              </a:rPr>
              <a:t>と疑似サーバシステムを開発</a:t>
            </a:r>
            <a:endParaRPr lang="en-US" altLang="ja-JP" sz="2400" dirty="0">
              <a:solidFill>
                <a:schemeClr val="tx1"/>
              </a:solidFill>
            </a:endParaRPr>
          </a:p>
        </p:txBody>
      </p:sp>
      <p:sp>
        <p:nvSpPr>
          <p:cNvPr id="12" name="正方形/長方形 11">
            <a:extLst>
              <a:ext uri="{FF2B5EF4-FFF2-40B4-BE49-F238E27FC236}">
                <a16:creationId xmlns:a16="http://schemas.microsoft.com/office/drawing/2014/main" id="{EC116B44-01EC-6F24-C5E2-BA6F29AEA012}"/>
              </a:ext>
            </a:extLst>
          </p:cNvPr>
          <p:cNvSpPr/>
          <p:nvPr/>
        </p:nvSpPr>
        <p:spPr>
          <a:xfrm>
            <a:off x="419100" y="3457574"/>
            <a:ext cx="1696333" cy="1480733"/>
          </a:xfrm>
          <a:prstGeom prst="rect">
            <a:avLst/>
          </a:prstGeom>
          <a:solidFill>
            <a:schemeClr val="accent2">
              <a:lumMod val="20000"/>
              <a:lumOff val="80000"/>
            </a:schemeClr>
          </a:solidFill>
          <a:ln w="508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2400" dirty="0">
                <a:solidFill>
                  <a:schemeClr val="tx1"/>
                </a:solidFill>
              </a:rPr>
              <a:t>LGX</a:t>
            </a:r>
          </a:p>
          <a:p>
            <a:pPr algn="ctr"/>
            <a:r>
              <a:rPr lang="en-US" altLang="ja-JP" sz="2400" dirty="0">
                <a:solidFill>
                  <a:schemeClr val="tx1"/>
                </a:solidFill>
              </a:rPr>
              <a:t>Shield</a:t>
            </a:r>
          </a:p>
          <a:p>
            <a:pPr algn="ctr"/>
            <a:r>
              <a:rPr lang="en-US" altLang="ja-JP" sz="1600" dirty="0">
                <a:solidFill>
                  <a:schemeClr val="tx1"/>
                </a:solidFill>
              </a:rPr>
              <a:t>(EK-RA8D1)</a:t>
            </a:r>
          </a:p>
        </p:txBody>
      </p:sp>
      <p:sp>
        <p:nvSpPr>
          <p:cNvPr id="13" name="正方形/長方形 12">
            <a:extLst>
              <a:ext uri="{FF2B5EF4-FFF2-40B4-BE49-F238E27FC236}">
                <a16:creationId xmlns:a16="http://schemas.microsoft.com/office/drawing/2014/main" id="{68963B1D-0F17-8CFA-9BBA-0F565B36354B}"/>
              </a:ext>
            </a:extLst>
          </p:cNvPr>
          <p:cNvSpPr/>
          <p:nvPr/>
        </p:nvSpPr>
        <p:spPr>
          <a:xfrm>
            <a:off x="3839457" y="3457575"/>
            <a:ext cx="1696333" cy="1475182"/>
          </a:xfrm>
          <a:prstGeom prst="rect">
            <a:avLst/>
          </a:prstGeom>
          <a:solidFill>
            <a:schemeClr val="accent4">
              <a:lumMod val="20000"/>
              <a:lumOff val="80000"/>
            </a:schemeClr>
          </a:solidFill>
          <a:ln w="2540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2000" dirty="0">
                <a:solidFill>
                  <a:schemeClr val="tx1"/>
                </a:solidFill>
              </a:rPr>
              <a:t>疑似サーバ</a:t>
            </a:r>
            <a:endParaRPr lang="en-US" altLang="ja-JP" sz="2000" dirty="0">
              <a:solidFill>
                <a:schemeClr val="tx1"/>
              </a:solidFill>
            </a:endParaRPr>
          </a:p>
          <a:p>
            <a:pPr algn="ctr"/>
            <a:r>
              <a:rPr lang="en-US" altLang="ja-JP" sz="1600" dirty="0">
                <a:solidFill>
                  <a:schemeClr val="tx1"/>
                </a:solidFill>
              </a:rPr>
              <a:t>(RaspberryPi3)</a:t>
            </a:r>
          </a:p>
        </p:txBody>
      </p:sp>
      <p:sp>
        <p:nvSpPr>
          <p:cNvPr id="14" name="正方形/長方形 13">
            <a:extLst>
              <a:ext uri="{FF2B5EF4-FFF2-40B4-BE49-F238E27FC236}">
                <a16:creationId xmlns:a16="http://schemas.microsoft.com/office/drawing/2014/main" id="{3BA30A2C-E8FD-F687-BEA9-BC10C46D2990}"/>
              </a:ext>
            </a:extLst>
          </p:cNvPr>
          <p:cNvSpPr/>
          <p:nvPr/>
        </p:nvSpPr>
        <p:spPr>
          <a:xfrm>
            <a:off x="2143124" y="1971675"/>
            <a:ext cx="1696333" cy="810820"/>
          </a:xfrm>
          <a:prstGeom prst="rect">
            <a:avLst/>
          </a:prstGeom>
          <a:solidFill>
            <a:schemeClr val="bg1"/>
          </a:solidFill>
          <a:ln w="2540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2400" dirty="0">
                <a:solidFill>
                  <a:schemeClr val="tx1"/>
                </a:solidFill>
              </a:rPr>
              <a:t>LAN</a:t>
            </a:r>
          </a:p>
          <a:p>
            <a:pPr algn="ctr"/>
            <a:r>
              <a:rPr lang="en-US" altLang="ja-JP" sz="2400" dirty="0">
                <a:solidFill>
                  <a:schemeClr val="tx1"/>
                </a:solidFill>
              </a:rPr>
              <a:t>HUB</a:t>
            </a:r>
          </a:p>
        </p:txBody>
      </p:sp>
      <p:cxnSp>
        <p:nvCxnSpPr>
          <p:cNvPr id="27" name="直線コネクタ 26">
            <a:extLst>
              <a:ext uri="{FF2B5EF4-FFF2-40B4-BE49-F238E27FC236}">
                <a16:creationId xmlns:a16="http://schemas.microsoft.com/office/drawing/2014/main" id="{CF132E95-D3A8-16A6-3606-6DD9FEEFC50E}"/>
              </a:ext>
            </a:extLst>
          </p:cNvPr>
          <p:cNvCxnSpPr>
            <a:cxnSpLocks/>
            <a:stCxn id="12" idx="0"/>
          </p:cNvCxnSpPr>
          <p:nvPr/>
        </p:nvCxnSpPr>
        <p:spPr>
          <a:xfrm flipV="1">
            <a:off x="1267267" y="3181350"/>
            <a:ext cx="0" cy="27622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線コネクタ 29">
            <a:extLst>
              <a:ext uri="{FF2B5EF4-FFF2-40B4-BE49-F238E27FC236}">
                <a16:creationId xmlns:a16="http://schemas.microsoft.com/office/drawing/2014/main" id="{A24490CA-DE66-02BB-5EC6-089F30B36045}"/>
              </a:ext>
            </a:extLst>
          </p:cNvPr>
          <p:cNvCxnSpPr>
            <a:cxnSpLocks/>
          </p:cNvCxnSpPr>
          <p:nvPr/>
        </p:nvCxnSpPr>
        <p:spPr>
          <a:xfrm flipH="1">
            <a:off x="1267267" y="3181350"/>
            <a:ext cx="120923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線コネクタ 32">
            <a:extLst>
              <a:ext uri="{FF2B5EF4-FFF2-40B4-BE49-F238E27FC236}">
                <a16:creationId xmlns:a16="http://schemas.microsoft.com/office/drawing/2014/main" id="{91D73AB2-5BE2-D004-D9D7-13C2FC03BA7C}"/>
              </a:ext>
            </a:extLst>
          </p:cNvPr>
          <p:cNvCxnSpPr>
            <a:cxnSpLocks/>
          </p:cNvCxnSpPr>
          <p:nvPr/>
        </p:nvCxnSpPr>
        <p:spPr>
          <a:xfrm flipV="1">
            <a:off x="2476500" y="2782495"/>
            <a:ext cx="0" cy="39885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線コネクタ 34">
            <a:extLst>
              <a:ext uri="{FF2B5EF4-FFF2-40B4-BE49-F238E27FC236}">
                <a16:creationId xmlns:a16="http://schemas.microsoft.com/office/drawing/2014/main" id="{B747F30E-3F7E-FB78-B589-1464C2EB4CE8}"/>
              </a:ext>
            </a:extLst>
          </p:cNvPr>
          <p:cNvCxnSpPr>
            <a:cxnSpLocks/>
          </p:cNvCxnSpPr>
          <p:nvPr/>
        </p:nvCxnSpPr>
        <p:spPr>
          <a:xfrm flipV="1">
            <a:off x="3505200" y="2782495"/>
            <a:ext cx="0" cy="39885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線コネクタ 35">
            <a:extLst>
              <a:ext uri="{FF2B5EF4-FFF2-40B4-BE49-F238E27FC236}">
                <a16:creationId xmlns:a16="http://schemas.microsoft.com/office/drawing/2014/main" id="{B0025487-FD01-448A-0D69-FEAEDC8E1519}"/>
              </a:ext>
            </a:extLst>
          </p:cNvPr>
          <p:cNvCxnSpPr>
            <a:cxnSpLocks/>
          </p:cNvCxnSpPr>
          <p:nvPr/>
        </p:nvCxnSpPr>
        <p:spPr>
          <a:xfrm flipH="1">
            <a:off x="3505200" y="3181350"/>
            <a:ext cx="120923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線コネクタ 36">
            <a:extLst>
              <a:ext uri="{FF2B5EF4-FFF2-40B4-BE49-F238E27FC236}">
                <a16:creationId xmlns:a16="http://schemas.microsoft.com/office/drawing/2014/main" id="{4CE16A2B-3A02-4707-2C1A-AEB90AEDC622}"/>
              </a:ext>
            </a:extLst>
          </p:cNvPr>
          <p:cNvCxnSpPr>
            <a:cxnSpLocks/>
          </p:cNvCxnSpPr>
          <p:nvPr/>
        </p:nvCxnSpPr>
        <p:spPr>
          <a:xfrm flipV="1">
            <a:off x="4695825" y="3181350"/>
            <a:ext cx="0" cy="27622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正方形/長方形 37">
            <a:extLst>
              <a:ext uri="{FF2B5EF4-FFF2-40B4-BE49-F238E27FC236}">
                <a16:creationId xmlns:a16="http://schemas.microsoft.com/office/drawing/2014/main" id="{E6BF5A82-6F8C-CE28-E1B2-20469EC5A0FE}"/>
              </a:ext>
            </a:extLst>
          </p:cNvPr>
          <p:cNvSpPr/>
          <p:nvPr/>
        </p:nvSpPr>
        <p:spPr>
          <a:xfrm>
            <a:off x="524316" y="5031483"/>
            <a:ext cx="1485900" cy="1080595"/>
          </a:xfrm>
          <a:prstGeom prst="rect">
            <a:avLst/>
          </a:prstGeom>
          <a:noFill/>
          <a:ln w="254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lvl="0" eaLnBrk="0" fontAlgn="base" hangingPunct="0">
              <a:spcBef>
                <a:spcPct val="0"/>
              </a:spcBef>
              <a:spcAft>
                <a:spcPct val="0"/>
              </a:spcAft>
            </a:pPr>
            <a:r>
              <a:rPr kumimoji="0" lang="ja-JP" altLang="en-US" sz="1600" dirty="0">
                <a:solidFill>
                  <a:schemeClr val="tx1"/>
                </a:solidFill>
                <a:latin typeface="Arial" panose="020B0604020202020204" pitchFamily="34" charset="0"/>
              </a:rPr>
              <a:t>・加速度センサ</a:t>
            </a:r>
            <a:r>
              <a:rPr kumimoji="0" lang="en-US" altLang="ja-JP" sz="1600" dirty="0">
                <a:solidFill>
                  <a:schemeClr val="tx1"/>
                </a:solidFill>
                <a:latin typeface="Arial" panose="020B0604020202020204" pitchFamily="34" charset="0"/>
              </a:rPr>
              <a:t>(MPU-9250)</a:t>
            </a:r>
            <a:r>
              <a:rPr kumimoji="0" lang="ja-JP" altLang="en-US" sz="1600" dirty="0">
                <a:solidFill>
                  <a:schemeClr val="tx1"/>
                </a:solidFill>
                <a:latin typeface="Arial" panose="020B0604020202020204" pitchFamily="34" charset="0"/>
              </a:rPr>
              <a:t>にて片持ち梁の振動を収集</a:t>
            </a:r>
            <a:endParaRPr lang="en-US" altLang="ja-JP" sz="1600" dirty="0">
              <a:solidFill>
                <a:schemeClr val="tx1"/>
              </a:solidFill>
            </a:endParaRPr>
          </a:p>
        </p:txBody>
      </p:sp>
      <p:sp>
        <p:nvSpPr>
          <p:cNvPr id="39" name="正方形/長方形 38">
            <a:extLst>
              <a:ext uri="{FF2B5EF4-FFF2-40B4-BE49-F238E27FC236}">
                <a16:creationId xmlns:a16="http://schemas.microsoft.com/office/drawing/2014/main" id="{A5238ECD-D5CE-D8B5-671D-ECCD1D1F4AA4}"/>
              </a:ext>
            </a:extLst>
          </p:cNvPr>
          <p:cNvSpPr/>
          <p:nvPr/>
        </p:nvSpPr>
        <p:spPr>
          <a:xfrm>
            <a:off x="3941072" y="4932757"/>
            <a:ext cx="1485900" cy="1080595"/>
          </a:xfrm>
          <a:prstGeom prst="rect">
            <a:avLst/>
          </a:prstGeom>
          <a:noFill/>
          <a:ln w="254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lvl="0" eaLnBrk="0" fontAlgn="base" hangingPunct="0">
              <a:spcBef>
                <a:spcPct val="0"/>
              </a:spcBef>
              <a:spcAft>
                <a:spcPct val="0"/>
              </a:spcAft>
            </a:pPr>
            <a:r>
              <a:rPr kumimoji="0" lang="ja-JP" altLang="en-US" sz="1600" dirty="0">
                <a:solidFill>
                  <a:schemeClr val="tx1"/>
                </a:solidFill>
                <a:latin typeface="Arial" panose="020B0604020202020204" pitchFamily="34" charset="0"/>
              </a:rPr>
              <a:t>・安全</a:t>
            </a:r>
            <a:r>
              <a:rPr kumimoji="0" lang="en-US" altLang="ja-JP" sz="1600" dirty="0">
                <a:solidFill>
                  <a:schemeClr val="tx1"/>
                </a:solidFill>
                <a:latin typeface="Arial" panose="020B0604020202020204" pitchFamily="34" charset="0"/>
              </a:rPr>
              <a:t>/</a:t>
            </a:r>
            <a:r>
              <a:rPr kumimoji="0" lang="ja-JP" altLang="en-US" sz="1600" dirty="0">
                <a:solidFill>
                  <a:schemeClr val="tx1"/>
                </a:solidFill>
                <a:latin typeface="Arial" panose="020B0604020202020204" pitchFamily="34" charset="0"/>
              </a:rPr>
              <a:t>危険情報を収集し、</a:t>
            </a:r>
            <a:r>
              <a:rPr kumimoji="0" lang="en-US" altLang="ja-JP" sz="1600" dirty="0">
                <a:solidFill>
                  <a:schemeClr val="tx1"/>
                </a:solidFill>
                <a:latin typeface="Arial" panose="020B0604020202020204" pitchFamily="34" charset="0"/>
              </a:rPr>
              <a:t>LED</a:t>
            </a:r>
            <a:r>
              <a:rPr kumimoji="0" lang="ja-JP" altLang="en-US" sz="1600" dirty="0">
                <a:solidFill>
                  <a:schemeClr val="tx1"/>
                </a:solidFill>
                <a:latin typeface="Arial" panose="020B0604020202020204" pitchFamily="34" charset="0"/>
              </a:rPr>
              <a:t>制御</a:t>
            </a:r>
            <a:r>
              <a:rPr kumimoji="0" lang="en-US" altLang="ja-JP" sz="1600" dirty="0">
                <a:solidFill>
                  <a:schemeClr val="tx1"/>
                </a:solidFill>
                <a:latin typeface="Arial" panose="020B0604020202020204" pitchFamily="34" charset="0"/>
              </a:rPr>
              <a:t>(</a:t>
            </a:r>
            <a:r>
              <a:rPr kumimoji="0" lang="ja-JP" altLang="en-US" sz="1600" dirty="0">
                <a:solidFill>
                  <a:schemeClr val="tx1"/>
                </a:solidFill>
                <a:latin typeface="Arial" panose="020B0604020202020204" pitchFamily="34" charset="0"/>
              </a:rPr>
              <a:t>緑</a:t>
            </a:r>
            <a:r>
              <a:rPr kumimoji="0" lang="en-US" altLang="ja-JP" sz="1600" dirty="0">
                <a:solidFill>
                  <a:schemeClr val="tx1"/>
                </a:solidFill>
                <a:latin typeface="Arial" panose="020B0604020202020204" pitchFamily="34" charset="0"/>
              </a:rPr>
              <a:t>/</a:t>
            </a:r>
            <a:r>
              <a:rPr kumimoji="0" lang="ja-JP" altLang="en-US" sz="1600" dirty="0">
                <a:solidFill>
                  <a:schemeClr val="tx1"/>
                </a:solidFill>
                <a:latin typeface="Arial" panose="020B0604020202020204" pitchFamily="34" charset="0"/>
              </a:rPr>
              <a:t>赤</a:t>
            </a:r>
            <a:r>
              <a:rPr kumimoji="0" lang="en-US" altLang="ja-JP" sz="1600" dirty="0">
                <a:solidFill>
                  <a:schemeClr val="tx1"/>
                </a:solidFill>
                <a:latin typeface="Arial" panose="020B0604020202020204" pitchFamily="34" charset="0"/>
              </a:rPr>
              <a:t>)</a:t>
            </a:r>
            <a:endParaRPr lang="en-US" altLang="ja-JP" sz="1600" dirty="0">
              <a:solidFill>
                <a:schemeClr val="tx1"/>
              </a:solidFill>
            </a:endParaRPr>
          </a:p>
        </p:txBody>
      </p:sp>
      <p:sp>
        <p:nvSpPr>
          <p:cNvPr id="40" name="吹き出し: 角を丸めた四角形 39">
            <a:extLst>
              <a:ext uri="{FF2B5EF4-FFF2-40B4-BE49-F238E27FC236}">
                <a16:creationId xmlns:a16="http://schemas.microsoft.com/office/drawing/2014/main" id="{B6F8511A-96AA-F3B9-5FF3-D194838905D4}"/>
              </a:ext>
            </a:extLst>
          </p:cNvPr>
          <p:cNvSpPr/>
          <p:nvPr/>
        </p:nvSpPr>
        <p:spPr>
          <a:xfrm>
            <a:off x="4684022" y="1859215"/>
            <a:ext cx="2138357" cy="1157283"/>
          </a:xfrm>
          <a:prstGeom prst="wedgeRoundRectCallout">
            <a:avLst>
              <a:gd name="adj1" fmla="val -44100"/>
              <a:gd name="adj2" fmla="val 97890"/>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lstStyle/>
          <a:p>
            <a:r>
              <a:rPr kumimoji="1" lang="ja-JP" altLang="en-US" sz="1400" dirty="0"/>
              <a:t>本番サービスでは、サーバはクラウド上に構築、アウトプットは利用者端末</a:t>
            </a:r>
            <a:r>
              <a:rPr kumimoji="1" lang="en-US" altLang="ja-JP" sz="1400" dirty="0"/>
              <a:t>(PC</a:t>
            </a:r>
            <a:r>
              <a:rPr kumimoji="1" lang="ja-JP" altLang="en-US" sz="1400" dirty="0"/>
              <a:t>、スマホ</a:t>
            </a:r>
            <a:r>
              <a:rPr kumimoji="1" lang="en-US" altLang="ja-JP" sz="1400" dirty="0"/>
              <a:t>)</a:t>
            </a:r>
            <a:r>
              <a:rPr kumimoji="1" lang="ja-JP" altLang="en-US" sz="1400" dirty="0"/>
              <a:t>を想定</a:t>
            </a:r>
          </a:p>
        </p:txBody>
      </p:sp>
      <p:sp>
        <p:nvSpPr>
          <p:cNvPr id="41" name="正方形/長方形 40">
            <a:extLst>
              <a:ext uri="{FF2B5EF4-FFF2-40B4-BE49-F238E27FC236}">
                <a16:creationId xmlns:a16="http://schemas.microsoft.com/office/drawing/2014/main" id="{8EF7F9BC-9801-FB4D-921C-D6258F71CB23}"/>
              </a:ext>
            </a:extLst>
          </p:cNvPr>
          <p:cNvSpPr/>
          <p:nvPr/>
        </p:nvSpPr>
        <p:spPr>
          <a:xfrm>
            <a:off x="9491536" y="1810537"/>
            <a:ext cx="420424" cy="398853"/>
          </a:xfrm>
          <a:prstGeom prst="rect">
            <a:avLst/>
          </a:prstGeom>
          <a:solidFill>
            <a:schemeClr val="bg1"/>
          </a:solidFill>
          <a:ln w="254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000" dirty="0">
                <a:solidFill>
                  <a:schemeClr val="tx1"/>
                </a:solidFill>
              </a:rPr>
              <a:t>LAN</a:t>
            </a:r>
          </a:p>
          <a:p>
            <a:pPr algn="ctr"/>
            <a:r>
              <a:rPr lang="en-US" altLang="ja-JP" sz="1000" dirty="0">
                <a:solidFill>
                  <a:schemeClr val="tx1"/>
                </a:solidFill>
              </a:rPr>
              <a:t>HUB</a:t>
            </a:r>
          </a:p>
        </p:txBody>
      </p:sp>
      <p:sp>
        <p:nvSpPr>
          <p:cNvPr id="42" name="正方形/長方形 41">
            <a:extLst>
              <a:ext uri="{FF2B5EF4-FFF2-40B4-BE49-F238E27FC236}">
                <a16:creationId xmlns:a16="http://schemas.microsoft.com/office/drawing/2014/main" id="{29CB4FC6-639E-0543-5FF1-69A209198C4E}"/>
              </a:ext>
            </a:extLst>
          </p:cNvPr>
          <p:cNvSpPr/>
          <p:nvPr/>
        </p:nvSpPr>
        <p:spPr>
          <a:xfrm>
            <a:off x="10341133" y="3332257"/>
            <a:ext cx="781050" cy="283467"/>
          </a:xfrm>
          <a:prstGeom prst="rect">
            <a:avLst/>
          </a:prstGeom>
          <a:solidFill>
            <a:schemeClr val="bg1"/>
          </a:solidFill>
          <a:ln w="254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000" dirty="0">
                <a:solidFill>
                  <a:schemeClr val="tx1"/>
                </a:solidFill>
              </a:rPr>
              <a:t>疑似サーバ</a:t>
            </a:r>
            <a:endParaRPr lang="en-US" altLang="ja-JP" sz="1000" dirty="0">
              <a:solidFill>
                <a:schemeClr val="tx1"/>
              </a:solidFill>
            </a:endParaRPr>
          </a:p>
        </p:txBody>
      </p:sp>
      <p:sp>
        <p:nvSpPr>
          <p:cNvPr id="43" name="正方形/長方形 42">
            <a:extLst>
              <a:ext uri="{FF2B5EF4-FFF2-40B4-BE49-F238E27FC236}">
                <a16:creationId xmlns:a16="http://schemas.microsoft.com/office/drawing/2014/main" id="{606279AF-CB29-BDE2-AB39-A982B7352A8B}"/>
              </a:ext>
            </a:extLst>
          </p:cNvPr>
          <p:cNvSpPr/>
          <p:nvPr/>
        </p:nvSpPr>
        <p:spPr>
          <a:xfrm>
            <a:off x="8342709" y="2608160"/>
            <a:ext cx="781050" cy="283467"/>
          </a:xfrm>
          <a:prstGeom prst="rect">
            <a:avLst/>
          </a:prstGeom>
          <a:solidFill>
            <a:schemeClr val="bg1"/>
          </a:solidFill>
          <a:ln w="254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000" dirty="0">
                <a:solidFill>
                  <a:schemeClr val="tx1"/>
                </a:solidFill>
              </a:rPr>
              <a:t>LGX-Shield</a:t>
            </a:r>
          </a:p>
        </p:txBody>
      </p:sp>
      <p:sp>
        <p:nvSpPr>
          <p:cNvPr id="44" name="正方形/長方形 43">
            <a:extLst>
              <a:ext uri="{FF2B5EF4-FFF2-40B4-BE49-F238E27FC236}">
                <a16:creationId xmlns:a16="http://schemas.microsoft.com/office/drawing/2014/main" id="{DEC3F7FA-3F1C-DEFE-5071-E33F9F02E4A5}"/>
              </a:ext>
            </a:extLst>
          </p:cNvPr>
          <p:cNvSpPr/>
          <p:nvPr/>
        </p:nvSpPr>
        <p:spPr>
          <a:xfrm>
            <a:off x="9235354" y="2813903"/>
            <a:ext cx="932788" cy="240301"/>
          </a:xfrm>
          <a:prstGeom prst="rect">
            <a:avLst/>
          </a:prstGeom>
          <a:solidFill>
            <a:schemeClr val="bg1"/>
          </a:solidFill>
          <a:ln w="254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000" dirty="0">
                <a:solidFill>
                  <a:schemeClr val="tx1"/>
                </a:solidFill>
              </a:rPr>
              <a:t>片持ち梁</a:t>
            </a:r>
            <a:r>
              <a:rPr lang="en-US" altLang="ja-JP" sz="1000" dirty="0">
                <a:solidFill>
                  <a:schemeClr val="tx1"/>
                </a:solidFill>
              </a:rPr>
              <a:t>(2</a:t>
            </a:r>
            <a:r>
              <a:rPr lang="ja-JP" altLang="en-US" sz="1000" dirty="0">
                <a:solidFill>
                  <a:schemeClr val="tx1"/>
                </a:solidFill>
              </a:rPr>
              <a:t>種</a:t>
            </a:r>
            <a:r>
              <a:rPr lang="en-US" altLang="ja-JP" sz="1000" dirty="0">
                <a:solidFill>
                  <a:schemeClr val="tx1"/>
                </a:solidFill>
              </a:rPr>
              <a:t>)</a:t>
            </a:r>
          </a:p>
        </p:txBody>
      </p:sp>
      <p:sp>
        <p:nvSpPr>
          <p:cNvPr id="45" name="正方形/長方形 44">
            <a:extLst>
              <a:ext uri="{FF2B5EF4-FFF2-40B4-BE49-F238E27FC236}">
                <a16:creationId xmlns:a16="http://schemas.microsoft.com/office/drawing/2014/main" id="{354CAB3D-19ED-3F75-A519-7C06304C263A}"/>
              </a:ext>
            </a:extLst>
          </p:cNvPr>
          <p:cNvSpPr/>
          <p:nvPr/>
        </p:nvSpPr>
        <p:spPr>
          <a:xfrm>
            <a:off x="9123759" y="3308006"/>
            <a:ext cx="437819" cy="165985"/>
          </a:xfrm>
          <a:prstGeom prst="rect">
            <a:avLst/>
          </a:prstGeom>
          <a:solidFill>
            <a:srgbClr val="92D050"/>
          </a:solidFill>
          <a:ln w="254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000" dirty="0">
                <a:solidFill>
                  <a:schemeClr val="tx1"/>
                </a:solidFill>
              </a:rPr>
              <a:t>安全</a:t>
            </a:r>
            <a:endParaRPr lang="en-US" altLang="ja-JP" sz="1000" dirty="0">
              <a:solidFill>
                <a:schemeClr val="tx1"/>
              </a:solidFill>
            </a:endParaRPr>
          </a:p>
        </p:txBody>
      </p:sp>
      <p:sp>
        <p:nvSpPr>
          <p:cNvPr id="46" name="正方形/長方形 45">
            <a:extLst>
              <a:ext uri="{FF2B5EF4-FFF2-40B4-BE49-F238E27FC236}">
                <a16:creationId xmlns:a16="http://schemas.microsoft.com/office/drawing/2014/main" id="{8B104C9C-5BD1-C03C-70E7-DAB19D3C65E1}"/>
              </a:ext>
            </a:extLst>
          </p:cNvPr>
          <p:cNvSpPr/>
          <p:nvPr/>
        </p:nvSpPr>
        <p:spPr>
          <a:xfrm>
            <a:off x="9702575" y="3320799"/>
            <a:ext cx="437819" cy="165985"/>
          </a:xfrm>
          <a:prstGeom prst="rect">
            <a:avLst/>
          </a:prstGeom>
          <a:solidFill>
            <a:schemeClr val="accent2">
              <a:lumMod val="20000"/>
              <a:lumOff val="80000"/>
            </a:scheme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000" dirty="0">
                <a:solidFill>
                  <a:schemeClr val="tx1"/>
                </a:solidFill>
              </a:rPr>
              <a:t>危険</a:t>
            </a:r>
            <a:endParaRPr lang="en-US" altLang="ja-JP" sz="1000" dirty="0">
              <a:solidFill>
                <a:schemeClr val="tx1"/>
              </a:solidFill>
            </a:endParaRPr>
          </a:p>
        </p:txBody>
      </p:sp>
      <p:sp>
        <p:nvSpPr>
          <p:cNvPr id="47" name="吹き出し: 角を丸めた四角形 46">
            <a:extLst>
              <a:ext uri="{FF2B5EF4-FFF2-40B4-BE49-F238E27FC236}">
                <a16:creationId xmlns:a16="http://schemas.microsoft.com/office/drawing/2014/main" id="{C40A0189-9B0A-EE28-3877-FFECC9A18AA3}"/>
              </a:ext>
            </a:extLst>
          </p:cNvPr>
          <p:cNvSpPr/>
          <p:nvPr/>
        </p:nvSpPr>
        <p:spPr>
          <a:xfrm>
            <a:off x="8095879" y="3885404"/>
            <a:ext cx="725710" cy="365125"/>
          </a:xfrm>
          <a:prstGeom prst="wedgeRoundRectCallout">
            <a:avLst>
              <a:gd name="adj1" fmla="val 117314"/>
              <a:gd name="adj2" fmla="val -15607"/>
              <a:gd name="adj3" fmla="val 16667"/>
            </a:avLst>
          </a:prstGeom>
          <a:solidFill>
            <a:schemeClr val="accent2">
              <a:lumMod val="20000"/>
              <a:lumOff val="80000"/>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r>
              <a:rPr kumimoji="1" lang="ja-JP" altLang="en-US" sz="1100" dirty="0"/>
              <a:t>加速度センサ</a:t>
            </a:r>
          </a:p>
        </p:txBody>
      </p:sp>
      <p:sp>
        <p:nvSpPr>
          <p:cNvPr id="48" name="正方形/長方形 47">
            <a:extLst>
              <a:ext uri="{FF2B5EF4-FFF2-40B4-BE49-F238E27FC236}">
                <a16:creationId xmlns:a16="http://schemas.microsoft.com/office/drawing/2014/main" id="{3E965DD5-8473-9D9E-60D5-FC61301B7EF4}"/>
              </a:ext>
            </a:extLst>
          </p:cNvPr>
          <p:cNvSpPr/>
          <p:nvPr/>
        </p:nvSpPr>
        <p:spPr>
          <a:xfrm>
            <a:off x="7657156" y="3174510"/>
            <a:ext cx="553334" cy="276914"/>
          </a:xfrm>
          <a:prstGeom prst="rect">
            <a:avLst/>
          </a:prstGeom>
          <a:solidFill>
            <a:schemeClr val="bg1"/>
          </a:solidFill>
          <a:ln w="254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000" dirty="0">
                <a:solidFill>
                  <a:schemeClr val="tx1"/>
                </a:solidFill>
              </a:rPr>
              <a:t>電源</a:t>
            </a:r>
            <a:endParaRPr lang="en-US" altLang="ja-JP" sz="1000" dirty="0">
              <a:solidFill>
                <a:schemeClr val="tx1"/>
              </a:solidFill>
            </a:endParaRPr>
          </a:p>
        </p:txBody>
      </p:sp>
      <p:pic>
        <p:nvPicPr>
          <p:cNvPr id="50" name="図 49">
            <a:extLst>
              <a:ext uri="{FF2B5EF4-FFF2-40B4-BE49-F238E27FC236}">
                <a16:creationId xmlns:a16="http://schemas.microsoft.com/office/drawing/2014/main" id="{C39FFBF8-C6C7-2B92-24E1-C88DBC2D1E03}"/>
              </a:ext>
            </a:extLst>
          </p:cNvPr>
          <p:cNvPicPr>
            <a:picLocks noChangeAspect="1"/>
          </p:cNvPicPr>
          <p:nvPr/>
        </p:nvPicPr>
        <p:blipFill>
          <a:blip r:embed="rId3"/>
          <a:stretch>
            <a:fillRect/>
          </a:stretch>
        </p:blipFill>
        <p:spPr>
          <a:xfrm>
            <a:off x="7571932" y="4751583"/>
            <a:ext cx="1485900" cy="1588090"/>
          </a:xfrm>
          <a:prstGeom prst="rect">
            <a:avLst/>
          </a:prstGeom>
        </p:spPr>
      </p:pic>
      <p:sp>
        <p:nvSpPr>
          <p:cNvPr id="51" name="正方形/長方形 50">
            <a:extLst>
              <a:ext uri="{FF2B5EF4-FFF2-40B4-BE49-F238E27FC236}">
                <a16:creationId xmlns:a16="http://schemas.microsoft.com/office/drawing/2014/main" id="{53876037-0B7F-16AE-04CC-F6D52631C18A}"/>
              </a:ext>
            </a:extLst>
          </p:cNvPr>
          <p:cNvSpPr/>
          <p:nvPr/>
        </p:nvSpPr>
        <p:spPr>
          <a:xfrm>
            <a:off x="7475901" y="1294900"/>
            <a:ext cx="1759453" cy="496300"/>
          </a:xfrm>
          <a:prstGeom prst="rect">
            <a:avLst/>
          </a:prstGeom>
          <a:noFill/>
          <a:ln w="254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lvl="0" eaLnBrk="0" fontAlgn="base" hangingPunct="0">
              <a:spcBef>
                <a:spcPct val="0"/>
              </a:spcBef>
              <a:spcAft>
                <a:spcPct val="0"/>
              </a:spcAft>
            </a:pPr>
            <a:r>
              <a:rPr kumimoji="0" lang="ja-JP" altLang="en-US" sz="2000" dirty="0">
                <a:solidFill>
                  <a:schemeClr val="tx1"/>
                </a:solidFill>
                <a:latin typeface="Arial" panose="020B0604020202020204" pitchFamily="34" charset="0"/>
              </a:rPr>
              <a:t>■実機配置図</a:t>
            </a:r>
            <a:endParaRPr lang="en-US" altLang="ja-JP" sz="2000" dirty="0">
              <a:solidFill>
                <a:schemeClr val="tx1"/>
              </a:solidFill>
            </a:endParaRPr>
          </a:p>
        </p:txBody>
      </p:sp>
      <p:sp>
        <p:nvSpPr>
          <p:cNvPr id="52" name="正方形/長方形 51">
            <a:extLst>
              <a:ext uri="{FF2B5EF4-FFF2-40B4-BE49-F238E27FC236}">
                <a16:creationId xmlns:a16="http://schemas.microsoft.com/office/drawing/2014/main" id="{A8ACBF04-5CB6-16B5-11FF-5B45896CC984}"/>
              </a:ext>
            </a:extLst>
          </p:cNvPr>
          <p:cNvSpPr/>
          <p:nvPr/>
        </p:nvSpPr>
        <p:spPr>
          <a:xfrm>
            <a:off x="7475901" y="4274937"/>
            <a:ext cx="1647858" cy="496300"/>
          </a:xfrm>
          <a:prstGeom prst="rect">
            <a:avLst/>
          </a:prstGeom>
          <a:noFill/>
          <a:ln w="254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lvl="0" eaLnBrk="0" fontAlgn="base" hangingPunct="0">
              <a:spcBef>
                <a:spcPct val="0"/>
              </a:spcBef>
              <a:spcAft>
                <a:spcPct val="0"/>
              </a:spcAft>
            </a:pPr>
            <a:r>
              <a:rPr kumimoji="0" lang="ja-JP" altLang="en-US" sz="2000" dirty="0">
                <a:solidFill>
                  <a:schemeClr val="tx1"/>
                </a:solidFill>
                <a:latin typeface="Arial" panose="020B0604020202020204" pitchFamily="34" charset="0"/>
              </a:rPr>
              <a:t>■片持ち梁</a:t>
            </a:r>
            <a:endParaRPr lang="en-US" altLang="ja-JP" sz="2000" dirty="0">
              <a:solidFill>
                <a:schemeClr val="tx1"/>
              </a:solidFill>
            </a:endParaRPr>
          </a:p>
        </p:txBody>
      </p:sp>
      <p:sp>
        <p:nvSpPr>
          <p:cNvPr id="53" name="正方形/長方形 52">
            <a:extLst>
              <a:ext uri="{FF2B5EF4-FFF2-40B4-BE49-F238E27FC236}">
                <a16:creationId xmlns:a16="http://schemas.microsoft.com/office/drawing/2014/main" id="{9745C5F1-1EA4-323C-71F0-DC06FE978C6B}"/>
              </a:ext>
            </a:extLst>
          </p:cNvPr>
          <p:cNvSpPr/>
          <p:nvPr/>
        </p:nvSpPr>
        <p:spPr>
          <a:xfrm>
            <a:off x="9123760" y="4790498"/>
            <a:ext cx="2746428" cy="1549175"/>
          </a:xfrm>
          <a:prstGeom prst="rect">
            <a:avLst/>
          </a:prstGeom>
          <a:noFill/>
          <a:ln w="254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lvl="0" eaLnBrk="0" fontAlgn="base" hangingPunct="0">
              <a:spcBef>
                <a:spcPct val="0"/>
              </a:spcBef>
              <a:spcAft>
                <a:spcPct val="0"/>
              </a:spcAft>
            </a:pPr>
            <a:r>
              <a:rPr kumimoji="0" lang="ja-JP" altLang="en-US" sz="1600" dirty="0">
                <a:solidFill>
                  <a:schemeClr val="tx1"/>
                </a:solidFill>
                <a:latin typeface="Arial" panose="020B0604020202020204" pitchFamily="34" charset="0"/>
              </a:rPr>
              <a:t>・安全</a:t>
            </a:r>
            <a:r>
              <a:rPr kumimoji="0" lang="en-US" altLang="ja-JP" sz="1600" dirty="0">
                <a:solidFill>
                  <a:schemeClr val="tx1"/>
                </a:solidFill>
                <a:latin typeface="Arial" panose="020B0604020202020204" pitchFamily="34" charset="0"/>
              </a:rPr>
              <a:t>/</a:t>
            </a:r>
            <a:r>
              <a:rPr kumimoji="0" lang="ja-JP" altLang="en-US" sz="1600" dirty="0">
                <a:solidFill>
                  <a:schemeClr val="tx1"/>
                </a:solidFill>
                <a:latin typeface="Arial" panose="020B0604020202020204" pitchFamily="34" charset="0"/>
              </a:rPr>
              <a:t>危険版の</a:t>
            </a:r>
            <a:r>
              <a:rPr kumimoji="0" lang="en-US" altLang="ja-JP" sz="1600" dirty="0">
                <a:solidFill>
                  <a:schemeClr val="tx1"/>
                </a:solidFill>
                <a:latin typeface="Arial" panose="020B0604020202020204" pitchFamily="34" charset="0"/>
              </a:rPr>
              <a:t>2</a:t>
            </a:r>
            <a:r>
              <a:rPr kumimoji="0" lang="ja-JP" altLang="en-US" sz="1600" dirty="0">
                <a:solidFill>
                  <a:schemeClr val="tx1"/>
                </a:solidFill>
                <a:latin typeface="Arial" panose="020B0604020202020204" pitchFamily="34" charset="0"/>
              </a:rPr>
              <a:t>種を用意</a:t>
            </a:r>
            <a:endParaRPr kumimoji="0" lang="en-US" altLang="ja-JP" sz="1600" dirty="0">
              <a:solidFill>
                <a:schemeClr val="tx1"/>
              </a:solidFill>
              <a:latin typeface="Arial" panose="020B0604020202020204" pitchFamily="34" charset="0"/>
            </a:endParaRPr>
          </a:p>
          <a:p>
            <a:pPr lvl="0" eaLnBrk="0" fontAlgn="base" hangingPunct="0">
              <a:spcBef>
                <a:spcPct val="0"/>
              </a:spcBef>
              <a:spcAft>
                <a:spcPct val="0"/>
              </a:spcAft>
            </a:pPr>
            <a:r>
              <a:rPr kumimoji="0" lang="ja-JP" altLang="en-US" sz="1600" dirty="0">
                <a:solidFill>
                  <a:schemeClr val="tx1"/>
                </a:solidFill>
                <a:latin typeface="Arial" panose="020B0604020202020204" pitchFamily="34" charset="0"/>
              </a:rPr>
              <a:t>・先端に加速度センサを固定</a:t>
            </a:r>
            <a:endParaRPr kumimoji="0" lang="en-US" altLang="ja-JP" sz="1600" dirty="0">
              <a:solidFill>
                <a:schemeClr val="tx1"/>
              </a:solidFill>
              <a:latin typeface="Arial" panose="020B0604020202020204" pitchFamily="34" charset="0"/>
            </a:endParaRPr>
          </a:p>
          <a:p>
            <a:pPr lvl="0" eaLnBrk="0" fontAlgn="base" hangingPunct="0">
              <a:spcBef>
                <a:spcPct val="0"/>
              </a:spcBef>
              <a:spcAft>
                <a:spcPct val="0"/>
              </a:spcAft>
            </a:pPr>
            <a:r>
              <a:rPr kumimoji="0" lang="ja-JP" altLang="en-US" sz="1600" dirty="0">
                <a:solidFill>
                  <a:schemeClr val="tx1"/>
                </a:solidFill>
                <a:latin typeface="Arial" panose="020B0604020202020204" pitchFamily="34" charset="0"/>
              </a:rPr>
              <a:t>・指で梁を押して振動させる</a:t>
            </a:r>
            <a:endParaRPr lang="en-US" altLang="ja-JP" sz="1600" dirty="0">
              <a:solidFill>
                <a:schemeClr val="tx1"/>
              </a:solidFill>
            </a:endParaRPr>
          </a:p>
        </p:txBody>
      </p:sp>
      <p:sp>
        <p:nvSpPr>
          <p:cNvPr id="54" name="正方形/長方形 53">
            <a:extLst>
              <a:ext uri="{FF2B5EF4-FFF2-40B4-BE49-F238E27FC236}">
                <a16:creationId xmlns:a16="http://schemas.microsoft.com/office/drawing/2014/main" id="{4C7A462F-0ED2-142C-B3F4-2361CBDA6F14}"/>
              </a:ext>
            </a:extLst>
          </p:cNvPr>
          <p:cNvSpPr/>
          <p:nvPr/>
        </p:nvSpPr>
        <p:spPr>
          <a:xfrm>
            <a:off x="7755788" y="4831257"/>
            <a:ext cx="437819" cy="165985"/>
          </a:xfrm>
          <a:prstGeom prst="rect">
            <a:avLst/>
          </a:prstGeom>
          <a:solidFill>
            <a:srgbClr val="92D050"/>
          </a:solidFill>
          <a:ln w="254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000" dirty="0">
                <a:solidFill>
                  <a:schemeClr val="tx1"/>
                </a:solidFill>
              </a:rPr>
              <a:t>安全</a:t>
            </a:r>
            <a:endParaRPr lang="en-US" altLang="ja-JP" sz="1000" dirty="0">
              <a:solidFill>
                <a:schemeClr val="tx1"/>
              </a:solidFill>
            </a:endParaRPr>
          </a:p>
        </p:txBody>
      </p:sp>
      <p:sp>
        <p:nvSpPr>
          <p:cNvPr id="55" name="正方形/長方形 54">
            <a:extLst>
              <a:ext uri="{FF2B5EF4-FFF2-40B4-BE49-F238E27FC236}">
                <a16:creationId xmlns:a16="http://schemas.microsoft.com/office/drawing/2014/main" id="{524E55AA-FF49-68C6-A4E1-F50E1F79FC1C}"/>
              </a:ext>
            </a:extLst>
          </p:cNvPr>
          <p:cNvSpPr/>
          <p:nvPr/>
        </p:nvSpPr>
        <p:spPr>
          <a:xfrm>
            <a:off x="8460532" y="4819846"/>
            <a:ext cx="437819" cy="165985"/>
          </a:xfrm>
          <a:prstGeom prst="rect">
            <a:avLst/>
          </a:prstGeom>
          <a:solidFill>
            <a:schemeClr val="accent2">
              <a:lumMod val="20000"/>
              <a:lumOff val="80000"/>
            </a:scheme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000" dirty="0">
                <a:solidFill>
                  <a:schemeClr val="tx1"/>
                </a:solidFill>
              </a:rPr>
              <a:t>危険</a:t>
            </a:r>
            <a:endParaRPr lang="en-US" altLang="ja-JP" sz="1000" dirty="0">
              <a:solidFill>
                <a:schemeClr val="tx1"/>
              </a:solidFill>
            </a:endParaRPr>
          </a:p>
        </p:txBody>
      </p:sp>
      <p:pic>
        <p:nvPicPr>
          <p:cNvPr id="57" name="図 56">
            <a:extLst>
              <a:ext uri="{FF2B5EF4-FFF2-40B4-BE49-F238E27FC236}">
                <a16:creationId xmlns:a16="http://schemas.microsoft.com/office/drawing/2014/main" id="{A3E3A952-594F-B59F-6C40-DA30DA12AA5A}"/>
              </a:ext>
            </a:extLst>
          </p:cNvPr>
          <p:cNvPicPr>
            <a:picLocks noChangeAspect="1"/>
          </p:cNvPicPr>
          <p:nvPr/>
        </p:nvPicPr>
        <p:blipFill>
          <a:blip r:embed="rId4"/>
          <a:stretch>
            <a:fillRect/>
          </a:stretch>
        </p:blipFill>
        <p:spPr>
          <a:xfrm>
            <a:off x="10672969" y="3697460"/>
            <a:ext cx="898427" cy="644753"/>
          </a:xfrm>
          <a:prstGeom prst="rect">
            <a:avLst/>
          </a:prstGeom>
        </p:spPr>
      </p:pic>
      <p:sp>
        <p:nvSpPr>
          <p:cNvPr id="58" name="正方形/長方形 57">
            <a:extLst>
              <a:ext uri="{FF2B5EF4-FFF2-40B4-BE49-F238E27FC236}">
                <a16:creationId xmlns:a16="http://schemas.microsoft.com/office/drawing/2014/main" id="{3FBDEFC2-F2CC-6F3D-D2D9-05CE643319C4}"/>
              </a:ext>
            </a:extLst>
          </p:cNvPr>
          <p:cNvSpPr/>
          <p:nvPr/>
        </p:nvSpPr>
        <p:spPr>
          <a:xfrm>
            <a:off x="10641959" y="4306071"/>
            <a:ext cx="960446" cy="311977"/>
          </a:xfrm>
          <a:prstGeom prst="rect">
            <a:avLst/>
          </a:prstGeom>
          <a:solidFill>
            <a:schemeClr val="bg1"/>
          </a:solidFill>
          <a:ln w="254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000" dirty="0">
                <a:solidFill>
                  <a:srgbClr val="FF0000"/>
                </a:solidFill>
              </a:rPr>
              <a:t>危険時は赤点灯</a:t>
            </a:r>
            <a:endParaRPr lang="en-US" altLang="ja-JP" sz="1000" dirty="0">
              <a:solidFill>
                <a:srgbClr val="FF0000"/>
              </a:solidFill>
            </a:endParaRPr>
          </a:p>
        </p:txBody>
      </p:sp>
      <p:sp>
        <p:nvSpPr>
          <p:cNvPr id="59" name="正方形/長方形 58">
            <a:extLst>
              <a:ext uri="{FF2B5EF4-FFF2-40B4-BE49-F238E27FC236}">
                <a16:creationId xmlns:a16="http://schemas.microsoft.com/office/drawing/2014/main" id="{A5D58573-030E-DFAD-393C-64F1D4B3640E}"/>
              </a:ext>
            </a:extLst>
          </p:cNvPr>
          <p:cNvSpPr/>
          <p:nvPr/>
        </p:nvSpPr>
        <p:spPr>
          <a:xfrm>
            <a:off x="421432" y="1362915"/>
            <a:ext cx="2236042" cy="496300"/>
          </a:xfrm>
          <a:prstGeom prst="rect">
            <a:avLst/>
          </a:prstGeom>
          <a:noFill/>
          <a:ln w="254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lvl="0" eaLnBrk="0" fontAlgn="base" hangingPunct="0">
              <a:spcBef>
                <a:spcPct val="0"/>
              </a:spcBef>
              <a:spcAft>
                <a:spcPct val="0"/>
              </a:spcAft>
            </a:pPr>
            <a:r>
              <a:rPr kumimoji="0" lang="ja-JP" altLang="en-US" sz="2000" dirty="0">
                <a:solidFill>
                  <a:schemeClr val="tx1"/>
                </a:solidFill>
                <a:latin typeface="Arial" panose="020B0604020202020204" pitchFamily="34" charset="0"/>
              </a:rPr>
              <a:t>■システム構成図</a:t>
            </a:r>
            <a:endParaRPr lang="en-US" altLang="ja-JP" sz="2000" dirty="0">
              <a:solidFill>
                <a:schemeClr val="tx1"/>
              </a:solidFill>
            </a:endParaRPr>
          </a:p>
        </p:txBody>
      </p:sp>
      <p:sp>
        <p:nvSpPr>
          <p:cNvPr id="60" name="正方形/長方形 59">
            <a:extLst>
              <a:ext uri="{FF2B5EF4-FFF2-40B4-BE49-F238E27FC236}">
                <a16:creationId xmlns:a16="http://schemas.microsoft.com/office/drawing/2014/main" id="{258C575D-10A7-881A-B5C8-2943A4C1895F}"/>
              </a:ext>
            </a:extLst>
          </p:cNvPr>
          <p:cNvSpPr/>
          <p:nvPr/>
        </p:nvSpPr>
        <p:spPr>
          <a:xfrm>
            <a:off x="311324" y="2981922"/>
            <a:ext cx="861792" cy="496300"/>
          </a:xfrm>
          <a:prstGeom prst="rect">
            <a:avLst/>
          </a:prstGeom>
          <a:noFill/>
          <a:ln w="254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lvl="0" algn="ctr" eaLnBrk="0" fontAlgn="base" hangingPunct="0">
              <a:spcBef>
                <a:spcPct val="0"/>
              </a:spcBef>
              <a:spcAft>
                <a:spcPct val="0"/>
              </a:spcAft>
            </a:pPr>
            <a:r>
              <a:rPr kumimoji="0" lang="ja-JP" altLang="en-US" sz="1050" dirty="0">
                <a:solidFill>
                  <a:srgbClr val="FF0000"/>
                </a:solidFill>
                <a:latin typeface="Arial" panose="020B0604020202020204" pitchFamily="34" charset="0"/>
              </a:rPr>
              <a:t>コンテスト</a:t>
            </a:r>
            <a:endParaRPr kumimoji="0" lang="en-US" altLang="ja-JP" sz="1050" dirty="0">
              <a:solidFill>
                <a:srgbClr val="FF0000"/>
              </a:solidFill>
              <a:latin typeface="Arial" panose="020B0604020202020204" pitchFamily="34" charset="0"/>
            </a:endParaRPr>
          </a:p>
          <a:p>
            <a:pPr lvl="0" algn="ctr" eaLnBrk="0" fontAlgn="base" hangingPunct="0">
              <a:spcBef>
                <a:spcPct val="0"/>
              </a:spcBef>
              <a:spcAft>
                <a:spcPct val="0"/>
              </a:spcAft>
            </a:pPr>
            <a:r>
              <a:rPr kumimoji="0" lang="ja-JP" altLang="en-US" sz="1050" dirty="0">
                <a:solidFill>
                  <a:srgbClr val="FF0000"/>
                </a:solidFill>
                <a:latin typeface="Arial" panose="020B0604020202020204" pitchFamily="34" charset="0"/>
              </a:rPr>
              <a:t>審査対象</a:t>
            </a:r>
            <a:endParaRPr lang="en-US" altLang="ja-JP" sz="1050" dirty="0">
              <a:solidFill>
                <a:srgbClr val="FF0000"/>
              </a:solidFill>
            </a:endParaRPr>
          </a:p>
        </p:txBody>
      </p:sp>
      <p:pic>
        <p:nvPicPr>
          <p:cNvPr id="61" name="Picture 2" descr="Python 垂直 ロゴ - ソーシャルメディアとロゴ アイコン">
            <a:extLst>
              <a:ext uri="{FF2B5EF4-FFF2-40B4-BE49-F238E27FC236}">
                <a16:creationId xmlns:a16="http://schemas.microsoft.com/office/drawing/2014/main" id="{B4B5CB04-67CC-D3F5-5830-3A96EB1A137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80408" y="3390998"/>
            <a:ext cx="612305" cy="684509"/>
          </a:xfrm>
          <a:prstGeom prst="rect">
            <a:avLst/>
          </a:prstGeom>
          <a:noFill/>
          <a:extLst>
            <a:ext uri="{909E8E84-426E-40DD-AFC4-6F175D3DCCD1}">
              <a14:hiddenFill xmlns:a14="http://schemas.microsoft.com/office/drawing/2010/main">
                <a:solidFill>
                  <a:srgbClr val="FFFFFF"/>
                </a:solidFill>
              </a14:hiddenFill>
            </a:ext>
          </a:extLst>
        </p:spPr>
      </p:pic>
      <p:pic>
        <p:nvPicPr>
          <p:cNvPr id="62" name="図 61">
            <a:extLst>
              <a:ext uri="{FF2B5EF4-FFF2-40B4-BE49-F238E27FC236}">
                <a16:creationId xmlns:a16="http://schemas.microsoft.com/office/drawing/2014/main" id="{68308082-4EC9-52B0-AA9F-B505FC7F0331}"/>
              </a:ext>
            </a:extLst>
          </p:cNvPr>
          <p:cNvPicPr>
            <a:picLocks noChangeAspect="1"/>
          </p:cNvPicPr>
          <p:nvPr/>
        </p:nvPicPr>
        <p:blipFill>
          <a:blip r:embed="rId6"/>
          <a:stretch>
            <a:fillRect/>
          </a:stretch>
        </p:blipFill>
        <p:spPr>
          <a:xfrm>
            <a:off x="2256430" y="3435225"/>
            <a:ext cx="537837" cy="640282"/>
          </a:xfrm>
          <a:prstGeom prst="rect">
            <a:avLst/>
          </a:prstGeom>
        </p:spPr>
      </p:pic>
      <p:sp>
        <p:nvSpPr>
          <p:cNvPr id="63" name="正方形/長方形 62">
            <a:extLst>
              <a:ext uri="{FF2B5EF4-FFF2-40B4-BE49-F238E27FC236}">
                <a16:creationId xmlns:a16="http://schemas.microsoft.com/office/drawing/2014/main" id="{8766016F-B10A-CD81-13F3-ADE0ECBA3C4F}"/>
              </a:ext>
            </a:extLst>
          </p:cNvPr>
          <p:cNvSpPr/>
          <p:nvPr/>
        </p:nvSpPr>
        <p:spPr>
          <a:xfrm>
            <a:off x="3286331" y="5946373"/>
            <a:ext cx="3536048" cy="532998"/>
          </a:xfrm>
          <a:prstGeom prst="rect">
            <a:avLst/>
          </a:prstGeom>
          <a:noFill/>
          <a:ln w="254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lvl="0" eaLnBrk="0" fontAlgn="base" hangingPunct="0">
              <a:spcBef>
                <a:spcPct val="0"/>
              </a:spcBef>
              <a:spcAft>
                <a:spcPct val="0"/>
              </a:spcAft>
            </a:pPr>
            <a:r>
              <a:rPr kumimoji="0" lang="en-US" altLang="ja-JP" sz="1200" dirty="0">
                <a:solidFill>
                  <a:schemeClr val="tx1"/>
                </a:solidFill>
                <a:latin typeface="Arial" panose="020B0604020202020204" pitchFamily="34" charset="0"/>
              </a:rPr>
              <a:t>※RaspberryPi3</a:t>
            </a:r>
            <a:r>
              <a:rPr kumimoji="0" lang="ja-JP" altLang="en-US" sz="1200" dirty="0">
                <a:solidFill>
                  <a:schemeClr val="tx1"/>
                </a:solidFill>
                <a:latin typeface="Arial" panose="020B0604020202020204" pitchFamily="34" charset="0"/>
              </a:rPr>
              <a:t>はたまたま手元にあったもの。</a:t>
            </a:r>
            <a:endParaRPr kumimoji="0" lang="en-US" altLang="ja-JP" sz="1200" dirty="0">
              <a:solidFill>
                <a:schemeClr val="tx1"/>
              </a:solidFill>
              <a:latin typeface="Arial" panose="020B0604020202020204" pitchFamily="34" charset="0"/>
            </a:endParaRPr>
          </a:p>
          <a:p>
            <a:pPr lvl="0" eaLnBrk="0" fontAlgn="base" hangingPunct="0">
              <a:spcBef>
                <a:spcPct val="0"/>
              </a:spcBef>
              <a:spcAft>
                <a:spcPct val="0"/>
              </a:spcAft>
            </a:pPr>
            <a:r>
              <a:rPr kumimoji="0" lang="ja-JP" altLang="en-US" sz="1200" dirty="0">
                <a:solidFill>
                  <a:schemeClr val="tx1"/>
                </a:solidFill>
                <a:latin typeface="Arial" panose="020B0604020202020204" pitchFamily="34" charset="0"/>
              </a:rPr>
              <a:t>　時代遅れだが、ちょっとした実験には便利</a:t>
            </a:r>
            <a:endParaRPr kumimoji="0" lang="en-US" altLang="ja-JP" sz="1200" dirty="0">
              <a:solidFill>
                <a:schemeClr val="tx1"/>
              </a:solidFill>
              <a:latin typeface="Arial" panose="020B0604020202020204" pitchFamily="34" charset="0"/>
            </a:endParaRPr>
          </a:p>
        </p:txBody>
      </p:sp>
    </p:spTree>
    <p:extLst>
      <p:ext uri="{BB962C8B-B14F-4D97-AF65-F5344CB8AC3E}">
        <p14:creationId xmlns:p14="http://schemas.microsoft.com/office/powerpoint/2010/main" val="38126074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DED815-B356-B79D-8078-E26230CC6F8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341D7CE-F9F1-2FBB-0FA1-DA8781747130}"/>
              </a:ext>
            </a:extLst>
          </p:cNvPr>
          <p:cNvSpPr>
            <a:spLocks noGrp="1"/>
          </p:cNvSpPr>
          <p:nvPr>
            <p:ph type="title"/>
          </p:nvPr>
        </p:nvSpPr>
        <p:spPr/>
        <p:txBody>
          <a:bodyPr>
            <a:normAutofit fontScale="90000"/>
          </a:bodyPr>
          <a:lstStyle/>
          <a:p>
            <a:r>
              <a:rPr lang="ja-JP" altLang="en-US" dirty="0"/>
              <a:t>２ー２</a:t>
            </a:r>
            <a:r>
              <a:rPr kumimoji="1" lang="ja-JP" altLang="en-US" dirty="0"/>
              <a:t>．タスク、モジュール構成</a:t>
            </a:r>
          </a:p>
        </p:txBody>
      </p:sp>
      <p:sp>
        <p:nvSpPr>
          <p:cNvPr id="4" name="フッター プレースホルダー 3">
            <a:extLst>
              <a:ext uri="{FF2B5EF4-FFF2-40B4-BE49-F238E27FC236}">
                <a16:creationId xmlns:a16="http://schemas.microsoft.com/office/drawing/2014/main" id="{C73F5CAB-5E43-B2D7-D526-A17C8B609F48}"/>
              </a:ext>
            </a:extLst>
          </p:cNvPr>
          <p:cNvSpPr>
            <a:spLocks noGrp="1"/>
          </p:cNvSpPr>
          <p:nvPr>
            <p:ph type="ftr" sz="quarter" idx="11"/>
          </p:nvPr>
        </p:nvSpPr>
        <p:spPr/>
        <p:txBody>
          <a:bodyPr/>
          <a:lstStyle/>
          <a:p>
            <a:r>
              <a:rPr kumimoji="1" lang="en-US" altLang="ja-JP"/>
              <a:t>Copyright 2025 Things Base</a:t>
            </a:r>
            <a:endParaRPr kumimoji="1" lang="ja-JP" altLang="en-US" dirty="0"/>
          </a:p>
        </p:txBody>
      </p:sp>
      <p:sp>
        <p:nvSpPr>
          <p:cNvPr id="5" name="スライド番号プレースホルダー 4">
            <a:extLst>
              <a:ext uri="{FF2B5EF4-FFF2-40B4-BE49-F238E27FC236}">
                <a16:creationId xmlns:a16="http://schemas.microsoft.com/office/drawing/2014/main" id="{E63BA12A-039D-88A9-A8A3-165F71AEB5D8}"/>
              </a:ext>
            </a:extLst>
          </p:cNvPr>
          <p:cNvSpPr>
            <a:spLocks noGrp="1"/>
          </p:cNvSpPr>
          <p:nvPr>
            <p:ph type="sldNum" sz="quarter" idx="12"/>
          </p:nvPr>
        </p:nvSpPr>
        <p:spPr/>
        <p:txBody>
          <a:bodyPr/>
          <a:lstStyle/>
          <a:p>
            <a:fld id="{1FB98C20-25CD-4F77-9B8F-26BB31769BDC}" type="slidenum">
              <a:rPr kumimoji="1" lang="ja-JP" altLang="en-US" smtClean="0"/>
              <a:t>4</a:t>
            </a:fld>
            <a:endParaRPr kumimoji="1" lang="ja-JP" altLang="en-US"/>
          </a:p>
        </p:txBody>
      </p:sp>
      <p:sp>
        <p:nvSpPr>
          <p:cNvPr id="6" name="正方形/長方形 5">
            <a:extLst>
              <a:ext uri="{FF2B5EF4-FFF2-40B4-BE49-F238E27FC236}">
                <a16:creationId xmlns:a16="http://schemas.microsoft.com/office/drawing/2014/main" id="{0B545451-24D3-EE4E-6432-BC2C5CFD2D13}"/>
              </a:ext>
            </a:extLst>
          </p:cNvPr>
          <p:cNvSpPr/>
          <p:nvPr/>
        </p:nvSpPr>
        <p:spPr>
          <a:xfrm>
            <a:off x="1094493" y="2118373"/>
            <a:ext cx="5392962" cy="722431"/>
          </a:xfrm>
          <a:prstGeom prst="rect">
            <a:avLst/>
          </a:prstGeom>
          <a:solidFill>
            <a:schemeClr val="accent4">
              <a:lumMod val="20000"/>
              <a:lumOff val="80000"/>
            </a:schemeClr>
          </a:solidFill>
          <a:ln w="2540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ja-JP" sz="3200" dirty="0">
                <a:solidFill>
                  <a:schemeClr val="tx1"/>
                </a:solidFill>
              </a:rPr>
              <a:t>TAPP</a:t>
            </a:r>
            <a:endParaRPr lang="en-US" altLang="ja-JP" sz="3200" dirty="0">
              <a:solidFill>
                <a:schemeClr val="tx1"/>
              </a:solidFill>
            </a:endParaRPr>
          </a:p>
        </p:txBody>
      </p:sp>
      <p:sp>
        <p:nvSpPr>
          <p:cNvPr id="8" name="正方形/長方形 7">
            <a:extLst>
              <a:ext uri="{FF2B5EF4-FFF2-40B4-BE49-F238E27FC236}">
                <a16:creationId xmlns:a16="http://schemas.microsoft.com/office/drawing/2014/main" id="{B27D3B37-0B28-F0F3-5523-5A53D45A3E60}"/>
              </a:ext>
            </a:extLst>
          </p:cNvPr>
          <p:cNvSpPr/>
          <p:nvPr/>
        </p:nvSpPr>
        <p:spPr>
          <a:xfrm>
            <a:off x="1094492" y="1204629"/>
            <a:ext cx="1696333" cy="722431"/>
          </a:xfrm>
          <a:prstGeom prst="rect">
            <a:avLst/>
          </a:prstGeom>
          <a:solidFill>
            <a:schemeClr val="accent4">
              <a:lumMod val="20000"/>
              <a:lumOff val="80000"/>
            </a:schemeClr>
          </a:solidFill>
          <a:ln w="2540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ja-JP" sz="3200" dirty="0">
                <a:solidFill>
                  <a:schemeClr val="tx1"/>
                </a:solidFill>
              </a:rPr>
              <a:t>TAI</a:t>
            </a:r>
            <a:endParaRPr lang="en-US" altLang="ja-JP" sz="3200" dirty="0">
              <a:solidFill>
                <a:schemeClr val="tx1"/>
              </a:solidFill>
            </a:endParaRPr>
          </a:p>
        </p:txBody>
      </p:sp>
      <p:sp>
        <p:nvSpPr>
          <p:cNvPr id="9" name="正方形/長方形 8">
            <a:extLst>
              <a:ext uri="{FF2B5EF4-FFF2-40B4-BE49-F238E27FC236}">
                <a16:creationId xmlns:a16="http://schemas.microsoft.com/office/drawing/2014/main" id="{65CBBA88-3679-3782-C73D-36387D7CE48B}"/>
              </a:ext>
            </a:extLst>
          </p:cNvPr>
          <p:cNvSpPr/>
          <p:nvPr/>
        </p:nvSpPr>
        <p:spPr>
          <a:xfrm>
            <a:off x="2942808" y="1204629"/>
            <a:ext cx="1696332" cy="722431"/>
          </a:xfrm>
          <a:prstGeom prst="rect">
            <a:avLst/>
          </a:prstGeom>
          <a:solidFill>
            <a:schemeClr val="accent4">
              <a:lumMod val="20000"/>
              <a:lumOff val="80000"/>
            </a:schemeClr>
          </a:solidFill>
          <a:ln w="2540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ja-JP" sz="3200" dirty="0">
                <a:solidFill>
                  <a:schemeClr val="tx1"/>
                </a:solidFill>
              </a:rPr>
              <a:t>TNET</a:t>
            </a:r>
            <a:endParaRPr lang="en-US" altLang="ja-JP" sz="3200" dirty="0">
              <a:solidFill>
                <a:schemeClr val="tx1"/>
              </a:solidFill>
            </a:endParaRPr>
          </a:p>
        </p:txBody>
      </p:sp>
      <p:sp>
        <p:nvSpPr>
          <p:cNvPr id="10" name="正方形/長方形 9">
            <a:extLst>
              <a:ext uri="{FF2B5EF4-FFF2-40B4-BE49-F238E27FC236}">
                <a16:creationId xmlns:a16="http://schemas.microsoft.com/office/drawing/2014/main" id="{DBB0A654-9D41-5299-B50D-5FDFF4ACF9A9}"/>
              </a:ext>
            </a:extLst>
          </p:cNvPr>
          <p:cNvSpPr/>
          <p:nvPr/>
        </p:nvSpPr>
        <p:spPr>
          <a:xfrm>
            <a:off x="1094493" y="3032117"/>
            <a:ext cx="3544647" cy="722431"/>
          </a:xfrm>
          <a:prstGeom prst="rect">
            <a:avLst/>
          </a:prstGeom>
          <a:solidFill>
            <a:schemeClr val="accent4">
              <a:lumMod val="20000"/>
              <a:lumOff val="80000"/>
            </a:schemeClr>
          </a:solidFill>
          <a:ln w="2540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ja-JP" sz="3200" dirty="0">
                <a:solidFill>
                  <a:schemeClr val="tx1"/>
                </a:solidFill>
              </a:rPr>
              <a:t>TIMU</a:t>
            </a:r>
            <a:endParaRPr lang="en-US" altLang="ja-JP" sz="3200" dirty="0">
              <a:solidFill>
                <a:schemeClr val="tx1"/>
              </a:solidFill>
            </a:endParaRPr>
          </a:p>
        </p:txBody>
      </p:sp>
      <p:sp>
        <p:nvSpPr>
          <p:cNvPr id="11" name="正方形/長方形 10">
            <a:extLst>
              <a:ext uri="{FF2B5EF4-FFF2-40B4-BE49-F238E27FC236}">
                <a16:creationId xmlns:a16="http://schemas.microsoft.com/office/drawing/2014/main" id="{53420532-6FA8-3108-95FC-B5799532C0F9}"/>
              </a:ext>
            </a:extLst>
          </p:cNvPr>
          <p:cNvSpPr/>
          <p:nvPr/>
        </p:nvSpPr>
        <p:spPr>
          <a:xfrm>
            <a:off x="2942808" y="4043494"/>
            <a:ext cx="1696333" cy="722431"/>
          </a:xfrm>
          <a:prstGeom prst="rect">
            <a:avLst/>
          </a:prstGeom>
          <a:solidFill>
            <a:schemeClr val="accent5">
              <a:lumMod val="20000"/>
              <a:lumOff val="80000"/>
            </a:schemeClr>
          </a:solidFill>
          <a:ln w="2540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3200" dirty="0">
                <a:solidFill>
                  <a:schemeClr val="tx1"/>
                </a:solidFill>
              </a:rPr>
              <a:t>I2C</a:t>
            </a:r>
          </a:p>
        </p:txBody>
      </p:sp>
      <p:sp>
        <p:nvSpPr>
          <p:cNvPr id="12" name="正方形/長方形 11">
            <a:extLst>
              <a:ext uri="{FF2B5EF4-FFF2-40B4-BE49-F238E27FC236}">
                <a16:creationId xmlns:a16="http://schemas.microsoft.com/office/drawing/2014/main" id="{71B867BD-81C3-DE66-B7F2-EDECAB1334C7}"/>
              </a:ext>
            </a:extLst>
          </p:cNvPr>
          <p:cNvSpPr/>
          <p:nvPr/>
        </p:nvSpPr>
        <p:spPr>
          <a:xfrm>
            <a:off x="4791123" y="4052546"/>
            <a:ext cx="1696333" cy="722431"/>
          </a:xfrm>
          <a:prstGeom prst="rect">
            <a:avLst/>
          </a:prstGeom>
          <a:solidFill>
            <a:schemeClr val="accent5">
              <a:lumMod val="20000"/>
              <a:lumOff val="80000"/>
            </a:schemeClr>
          </a:solidFill>
          <a:ln w="2540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3200" dirty="0">
                <a:solidFill>
                  <a:schemeClr val="tx1"/>
                </a:solidFill>
              </a:rPr>
              <a:t>ETH</a:t>
            </a:r>
          </a:p>
        </p:txBody>
      </p:sp>
      <p:sp>
        <p:nvSpPr>
          <p:cNvPr id="13" name="正方形/長方形 12">
            <a:extLst>
              <a:ext uri="{FF2B5EF4-FFF2-40B4-BE49-F238E27FC236}">
                <a16:creationId xmlns:a16="http://schemas.microsoft.com/office/drawing/2014/main" id="{1E07D6D1-5F5F-C159-684A-954E839CEE9F}"/>
              </a:ext>
            </a:extLst>
          </p:cNvPr>
          <p:cNvSpPr/>
          <p:nvPr/>
        </p:nvSpPr>
        <p:spPr>
          <a:xfrm>
            <a:off x="1094491" y="4036507"/>
            <a:ext cx="1696333" cy="722431"/>
          </a:xfrm>
          <a:prstGeom prst="rect">
            <a:avLst/>
          </a:prstGeom>
          <a:solidFill>
            <a:schemeClr val="accent5">
              <a:lumMod val="20000"/>
              <a:lumOff val="80000"/>
            </a:schemeClr>
          </a:solidFill>
          <a:ln w="2540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3200" dirty="0">
                <a:solidFill>
                  <a:schemeClr val="tx1"/>
                </a:solidFill>
              </a:rPr>
              <a:t>GPT</a:t>
            </a:r>
          </a:p>
        </p:txBody>
      </p:sp>
      <p:sp>
        <p:nvSpPr>
          <p:cNvPr id="14" name="正方形/長方形 13">
            <a:extLst>
              <a:ext uri="{FF2B5EF4-FFF2-40B4-BE49-F238E27FC236}">
                <a16:creationId xmlns:a16="http://schemas.microsoft.com/office/drawing/2014/main" id="{49F5555E-163E-FEB4-D958-7340723E29CB}"/>
              </a:ext>
            </a:extLst>
          </p:cNvPr>
          <p:cNvSpPr/>
          <p:nvPr/>
        </p:nvSpPr>
        <p:spPr>
          <a:xfrm>
            <a:off x="4791123" y="1204629"/>
            <a:ext cx="1696332" cy="722431"/>
          </a:xfrm>
          <a:prstGeom prst="rect">
            <a:avLst/>
          </a:prstGeom>
          <a:solidFill>
            <a:schemeClr val="accent4">
              <a:lumMod val="20000"/>
              <a:lumOff val="80000"/>
            </a:schemeClr>
          </a:solidFill>
          <a:ln w="2540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ja-JP" sz="3200" dirty="0">
                <a:solidFill>
                  <a:schemeClr val="tx1"/>
                </a:solidFill>
              </a:rPr>
              <a:t>TLED</a:t>
            </a:r>
            <a:endParaRPr lang="en-US" altLang="ja-JP" sz="3200" dirty="0">
              <a:solidFill>
                <a:schemeClr val="tx1"/>
              </a:solidFill>
            </a:endParaRPr>
          </a:p>
        </p:txBody>
      </p:sp>
      <p:sp>
        <p:nvSpPr>
          <p:cNvPr id="15" name="正方形/長方形 14">
            <a:extLst>
              <a:ext uri="{FF2B5EF4-FFF2-40B4-BE49-F238E27FC236}">
                <a16:creationId xmlns:a16="http://schemas.microsoft.com/office/drawing/2014/main" id="{CCC05938-D4F7-E249-1CA9-227FCF560C5B}"/>
              </a:ext>
            </a:extLst>
          </p:cNvPr>
          <p:cNvSpPr/>
          <p:nvPr/>
        </p:nvSpPr>
        <p:spPr>
          <a:xfrm>
            <a:off x="385320" y="1204628"/>
            <a:ext cx="357630" cy="2549919"/>
          </a:xfrm>
          <a:prstGeom prst="rect">
            <a:avLst/>
          </a:prstGeom>
          <a:solidFill>
            <a:schemeClr val="accent4">
              <a:lumMod val="20000"/>
              <a:lumOff val="80000"/>
            </a:scheme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600" dirty="0">
                <a:solidFill>
                  <a:schemeClr val="tx1"/>
                </a:solidFill>
              </a:rPr>
              <a:t>A</a:t>
            </a:r>
          </a:p>
          <a:p>
            <a:pPr algn="ctr"/>
            <a:r>
              <a:rPr lang="en-US" altLang="ja-JP" sz="1600" dirty="0">
                <a:solidFill>
                  <a:schemeClr val="tx1"/>
                </a:solidFill>
              </a:rPr>
              <a:t>P</a:t>
            </a:r>
          </a:p>
          <a:p>
            <a:pPr algn="ctr"/>
            <a:r>
              <a:rPr lang="en-US" altLang="ja-JP" sz="1600" dirty="0">
                <a:solidFill>
                  <a:schemeClr val="tx1"/>
                </a:solidFill>
              </a:rPr>
              <a:t>P</a:t>
            </a:r>
          </a:p>
          <a:p>
            <a:pPr algn="ctr"/>
            <a:r>
              <a:rPr lang="ja-JP" altLang="en-US" sz="1600" dirty="0">
                <a:solidFill>
                  <a:schemeClr val="tx1"/>
                </a:solidFill>
              </a:rPr>
              <a:t>層</a:t>
            </a:r>
            <a:endParaRPr lang="en-US" altLang="ja-JP" sz="1600" dirty="0">
              <a:solidFill>
                <a:schemeClr val="tx1"/>
              </a:solidFill>
            </a:endParaRPr>
          </a:p>
        </p:txBody>
      </p:sp>
      <p:sp>
        <p:nvSpPr>
          <p:cNvPr id="16" name="正方形/長方形 15">
            <a:extLst>
              <a:ext uri="{FF2B5EF4-FFF2-40B4-BE49-F238E27FC236}">
                <a16:creationId xmlns:a16="http://schemas.microsoft.com/office/drawing/2014/main" id="{FE34DDE6-0082-92B6-42F1-C8B4589B574B}"/>
              </a:ext>
            </a:extLst>
          </p:cNvPr>
          <p:cNvSpPr/>
          <p:nvPr/>
        </p:nvSpPr>
        <p:spPr>
          <a:xfrm>
            <a:off x="385319" y="3849265"/>
            <a:ext cx="357630" cy="1096916"/>
          </a:xfrm>
          <a:prstGeom prst="rect">
            <a:avLst/>
          </a:prstGeom>
          <a:solidFill>
            <a:schemeClr val="accent5">
              <a:lumMod val="40000"/>
              <a:lumOff val="60000"/>
            </a:scheme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600" dirty="0">
                <a:solidFill>
                  <a:schemeClr val="tx1"/>
                </a:solidFill>
              </a:rPr>
              <a:t>D</a:t>
            </a:r>
          </a:p>
          <a:p>
            <a:pPr algn="ctr"/>
            <a:r>
              <a:rPr lang="en-US" altLang="ja-JP" sz="1600" dirty="0">
                <a:solidFill>
                  <a:schemeClr val="tx1"/>
                </a:solidFill>
              </a:rPr>
              <a:t>R</a:t>
            </a:r>
          </a:p>
          <a:p>
            <a:pPr algn="ctr"/>
            <a:r>
              <a:rPr lang="en-US" altLang="ja-JP" sz="1600" dirty="0">
                <a:solidFill>
                  <a:schemeClr val="tx1"/>
                </a:solidFill>
              </a:rPr>
              <a:t>V</a:t>
            </a:r>
          </a:p>
          <a:p>
            <a:pPr algn="ctr"/>
            <a:r>
              <a:rPr lang="ja-JP" altLang="en-US" sz="1600" dirty="0">
                <a:solidFill>
                  <a:schemeClr val="tx1"/>
                </a:solidFill>
              </a:rPr>
              <a:t>層</a:t>
            </a:r>
            <a:endParaRPr lang="en-US" altLang="ja-JP" sz="1600" dirty="0">
              <a:solidFill>
                <a:schemeClr val="tx1"/>
              </a:solidFill>
            </a:endParaRPr>
          </a:p>
        </p:txBody>
      </p:sp>
      <p:sp>
        <p:nvSpPr>
          <p:cNvPr id="17" name="正方形/長方形 16">
            <a:extLst>
              <a:ext uri="{FF2B5EF4-FFF2-40B4-BE49-F238E27FC236}">
                <a16:creationId xmlns:a16="http://schemas.microsoft.com/office/drawing/2014/main" id="{90C15746-CCC5-F5C7-C795-3E122E3D9630}"/>
              </a:ext>
            </a:extLst>
          </p:cNvPr>
          <p:cNvSpPr/>
          <p:nvPr/>
        </p:nvSpPr>
        <p:spPr>
          <a:xfrm>
            <a:off x="6924676" y="1169812"/>
            <a:ext cx="4882004" cy="2549919"/>
          </a:xfrm>
          <a:prstGeom prst="rect">
            <a:avLst/>
          </a:prstGeom>
          <a:solidFill>
            <a:schemeClr val="accent4">
              <a:lumMod val="20000"/>
              <a:lumOff val="80000"/>
            </a:scheme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lvl="0" eaLnBrk="0" fontAlgn="base" hangingPunct="0">
              <a:spcBef>
                <a:spcPct val="0"/>
              </a:spcBef>
              <a:spcAft>
                <a:spcPct val="0"/>
              </a:spcAft>
            </a:pPr>
            <a:r>
              <a:rPr kumimoji="0" lang="ja-JP" altLang="en-US" sz="1600" b="1" dirty="0">
                <a:solidFill>
                  <a:schemeClr val="tx1"/>
                </a:solidFill>
                <a:latin typeface="Arial" panose="020B0604020202020204" pitchFamily="34" charset="0"/>
              </a:rPr>
              <a:t>・</a:t>
            </a:r>
            <a:r>
              <a:rPr kumimoji="0" lang="ja-JP" altLang="ja-JP" sz="1600" b="1" dirty="0">
                <a:solidFill>
                  <a:schemeClr val="tx1"/>
                </a:solidFill>
                <a:latin typeface="Arial" panose="020B0604020202020204" pitchFamily="34" charset="0"/>
              </a:rPr>
              <a:t>TAI</a:t>
            </a:r>
            <a:r>
              <a:rPr kumimoji="0" lang="ja-JP" altLang="ja-JP" sz="1600" dirty="0">
                <a:solidFill>
                  <a:schemeClr val="tx1"/>
                </a:solidFill>
                <a:latin typeface="Arial" panose="020B0604020202020204" pitchFamily="34" charset="0"/>
              </a:rPr>
              <a:t>：FFTを実行し、CMSIS-NNのMLPで推論。判定結果を返却</a:t>
            </a:r>
          </a:p>
          <a:p>
            <a:pPr lvl="0" eaLnBrk="0" fontAlgn="base" hangingPunct="0">
              <a:spcBef>
                <a:spcPct val="0"/>
              </a:spcBef>
              <a:spcAft>
                <a:spcPct val="0"/>
              </a:spcAft>
            </a:pPr>
            <a:r>
              <a:rPr kumimoji="0" lang="ja-JP" altLang="en-US" sz="1600" b="1" dirty="0">
                <a:solidFill>
                  <a:schemeClr val="tx1"/>
                </a:solidFill>
                <a:latin typeface="Arial" panose="020B0604020202020204" pitchFamily="34" charset="0"/>
              </a:rPr>
              <a:t>・</a:t>
            </a:r>
            <a:r>
              <a:rPr kumimoji="0" lang="ja-JP" altLang="ja-JP" sz="1600" b="1" dirty="0">
                <a:solidFill>
                  <a:schemeClr val="tx1"/>
                </a:solidFill>
                <a:latin typeface="Arial" panose="020B0604020202020204" pitchFamily="34" charset="0"/>
              </a:rPr>
              <a:t>TNET</a:t>
            </a:r>
            <a:r>
              <a:rPr kumimoji="0" lang="ja-JP" altLang="ja-JP" sz="1600" dirty="0">
                <a:solidFill>
                  <a:schemeClr val="tx1"/>
                </a:solidFill>
                <a:latin typeface="Arial" panose="020B0604020202020204" pitchFamily="34" charset="0"/>
              </a:rPr>
              <a:t>：判定結果をUDPでLAN内サーバに送信</a:t>
            </a:r>
          </a:p>
          <a:p>
            <a:pPr lvl="0" eaLnBrk="0" fontAlgn="base" hangingPunct="0">
              <a:spcBef>
                <a:spcPct val="0"/>
              </a:spcBef>
              <a:spcAft>
                <a:spcPct val="0"/>
              </a:spcAft>
            </a:pPr>
            <a:r>
              <a:rPr kumimoji="0" lang="ja-JP" altLang="en-US" sz="1600" b="1" dirty="0">
                <a:solidFill>
                  <a:schemeClr val="tx1"/>
                </a:solidFill>
                <a:latin typeface="Arial" panose="020B0604020202020204" pitchFamily="34" charset="0"/>
              </a:rPr>
              <a:t>・</a:t>
            </a:r>
            <a:r>
              <a:rPr kumimoji="0" lang="ja-JP" altLang="ja-JP" sz="1600" b="1" dirty="0">
                <a:solidFill>
                  <a:schemeClr val="tx1"/>
                </a:solidFill>
                <a:latin typeface="Arial" panose="020B0604020202020204" pitchFamily="34" charset="0"/>
              </a:rPr>
              <a:t>TLED</a:t>
            </a:r>
            <a:r>
              <a:rPr kumimoji="0" lang="ja-JP" altLang="ja-JP" sz="1600" dirty="0">
                <a:solidFill>
                  <a:schemeClr val="tx1"/>
                </a:solidFill>
                <a:latin typeface="Arial" panose="020B0604020202020204" pitchFamily="34" charset="0"/>
              </a:rPr>
              <a:t>：安全／危険を</a:t>
            </a:r>
            <a:r>
              <a:rPr kumimoji="0" lang="ja-JP" altLang="en-US" sz="1600" dirty="0">
                <a:solidFill>
                  <a:schemeClr val="tx1"/>
                </a:solidFill>
                <a:latin typeface="Arial" panose="020B0604020202020204" pitchFamily="34" charset="0"/>
              </a:rPr>
              <a:t>本体</a:t>
            </a:r>
            <a:r>
              <a:rPr kumimoji="0" lang="ja-JP" altLang="ja-JP" sz="1600" dirty="0">
                <a:solidFill>
                  <a:schemeClr val="tx1"/>
                </a:solidFill>
                <a:latin typeface="Arial" panose="020B0604020202020204" pitchFamily="34" charset="0"/>
              </a:rPr>
              <a:t>LEDで直感的に表示</a:t>
            </a:r>
            <a:endParaRPr kumimoji="0" lang="en-US" altLang="ja-JP" sz="1600" dirty="0">
              <a:solidFill>
                <a:schemeClr val="tx1"/>
              </a:solidFill>
              <a:latin typeface="Arial" panose="020B0604020202020204" pitchFamily="34" charset="0"/>
            </a:endParaRPr>
          </a:p>
          <a:p>
            <a:pPr lvl="0" eaLnBrk="0" fontAlgn="base" hangingPunct="0">
              <a:spcBef>
                <a:spcPct val="0"/>
              </a:spcBef>
              <a:spcAft>
                <a:spcPct val="0"/>
              </a:spcAft>
            </a:pPr>
            <a:r>
              <a:rPr kumimoji="0" lang="ja-JP" altLang="en-US" sz="1600" dirty="0">
                <a:solidFill>
                  <a:schemeClr val="tx1"/>
                </a:solidFill>
                <a:latin typeface="Arial" panose="020B0604020202020204" pitchFamily="34" charset="0"/>
              </a:rPr>
              <a:t>・</a:t>
            </a:r>
            <a:r>
              <a:rPr kumimoji="0" lang="ja-JP" altLang="ja-JP" sz="1600" b="1" dirty="0">
                <a:solidFill>
                  <a:schemeClr val="tx1"/>
                </a:solidFill>
                <a:latin typeface="Arial" panose="020B0604020202020204" pitchFamily="34" charset="0"/>
              </a:rPr>
              <a:t>TAPP</a:t>
            </a:r>
            <a:r>
              <a:rPr kumimoji="0" lang="ja-JP" altLang="ja-JP" sz="1600" dirty="0">
                <a:solidFill>
                  <a:schemeClr val="tx1"/>
                </a:solidFill>
                <a:latin typeface="Arial" panose="020B0604020202020204" pitchFamily="34" charset="0"/>
              </a:rPr>
              <a:t>：アプリ全体の制御を担い、収集データから特徴量を抽出し、推論リクエストを生成</a:t>
            </a:r>
          </a:p>
          <a:p>
            <a:r>
              <a:rPr kumimoji="0" lang="ja-JP" altLang="en-US" sz="1600" dirty="0">
                <a:solidFill>
                  <a:schemeClr val="tx1"/>
                </a:solidFill>
                <a:latin typeface="Arial" panose="020B0604020202020204" pitchFamily="34" charset="0"/>
              </a:rPr>
              <a:t>・ </a:t>
            </a:r>
            <a:r>
              <a:rPr kumimoji="0" lang="ja-JP" altLang="ja-JP" sz="1600" b="1" dirty="0">
                <a:solidFill>
                  <a:schemeClr val="tx1"/>
                </a:solidFill>
                <a:latin typeface="Arial" panose="020B0604020202020204" pitchFamily="34" charset="0"/>
              </a:rPr>
              <a:t>TIMU</a:t>
            </a:r>
            <a:r>
              <a:rPr kumimoji="0" lang="ja-JP" altLang="ja-JP" sz="1600" dirty="0">
                <a:solidFill>
                  <a:schemeClr val="tx1"/>
                </a:solidFill>
                <a:latin typeface="Arial" panose="020B0604020202020204" pitchFamily="34" charset="0"/>
              </a:rPr>
              <a:t>：GPT割込で駆動し、100Hzで加速度データ</a:t>
            </a:r>
            <a:r>
              <a:rPr kumimoji="0" lang="ja-JP" altLang="en-US" sz="1600" dirty="0">
                <a:solidFill>
                  <a:schemeClr val="tx1"/>
                </a:solidFill>
                <a:latin typeface="Arial" panose="020B0604020202020204" pitchFamily="34" charset="0"/>
              </a:rPr>
              <a:t>を</a:t>
            </a:r>
            <a:r>
              <a:rPr kumimoji="0" lang="ja-JP" altLang="ja-JP" sz="1600" dirty="0">
                <a:solidFill>
                  <a:schemeClr val="tx1"/>
                </a:solidFill>
                <a:latin typeface="Arial" panose="020B0604020202020204" pitchFamily="34" charset="0"/>
              </a:rPr>
              <a:t>収集。1024サンプル</a:t>
            </a:r>
            <a:r>
              <a:rPr kumimoji="0" lang="en-US" altLang="ja-JP" sz="1600" dirty="0">
                <a:solidFill>
                  <a:schemeClr val="tx1"/>
                </a:solidFill>
                <a:latin typeface="Arial" panose="020B0604020202020204" pitchFamily="34" charset="0"/>
              </a:rPr>
              <a:t>(10.24</a:t>
            </a:r>
            <a:r>
              <a:rPr kumimoji="0" lang="ja-JP" altLang="en-US" sz="1600" dirty="0">
                <a:solidFill>
                  <a:schemeClr val="tx1"/>
                </a:solidFill>
                <a:latin typeface="Arial" panose="020B0604020202020204" pitchFamily="34" charset="0"/>
              </a:rPr>
              <a:t>秒</a:t>
            </a:r>
            <a:r>
              <a:rPr kumimoji="0" lang="en-US" altLang="ja-JP" sz="1600" dirty="0">
                <a:solidFill>
                  <a:schemeClr val="tx1"/>
                </a:solidFill>
                <a:latin typeface="Arial" panose="020B0604020202020204" pitchFamily="34" charset="0"/>
              </a:rPr>
              <a:t>)</a:t>
            </a:r>
            <a:r>
              <a:rPr kumimoji="0" lang="ja-JP" altLang="ja-JP" sz="1600" dirty="0">
                <a:solidFill>
                  <a:schemeClr val="tx1"/>
                </a:solidFill>
                <a:latin typeface="Arial" panose="020B0604020202020204" pitchFamily="34" charset="0"/>
              </a:rPr>
              <a:t>ごとに</a:t>
            </a:r>
            <a:r>
              <a:rPr kumimoji="0" lang="en-US" altLang="ja-JP" sz="1600" dirty="0">
                <a:solidFill>
                  <a:schemeClr val="tx1"/>
                </a:solidFill>
                <a:latin typeface="Arial" panose="020B0604020202020204" pitchFamily="34" charset="0"/>
              </a:rPr>
              <a:t>TAPP</a:t>
            </a:r>
            <a:r>
              <a:rPr kumimoji="0" lang="ja-JP" altLang="en-US" sz="1600" dirty="0">
                <a:solidFill>
                  <a:schemeClr val="tx1"/>
                </a:solidFill>
                <a:latin typeface="Arial" panose="020B0604020202020204" pitchFamily="34" charset="0"/>
              </a:rPr>
              <a:t>へ</a:t>
            </a:r>
            <a:r>
              <a:rPr kumimoji="0" lang="ja-JP" altLang="ja-JP" sz="1600" dirty="0">
                <a:solidFill>
                  <a:schemeClr val="tx1"/>
                </a:solidFill>
                <a:latin typeface="Arial" panose="020B0604020202020204" pitchFamily="34" charset="0"/>
              </a:rPr>
              <a:t>通知</a:t>
            </a:r>
          </a:p>
          <a:p>
            <a:pPr algn="ctr"/>
            <a:endParaRPr lang="en-US" altLang="ja-JP" sz="1600" dirty="0">
              <a:solidFill>
                <a:schemeClr val="tx1"/>
              </a:solidFill>
            </a:endParaRPr>
          </a:p>
        </p:txBody>
      </p:sp>
      <p:sp>
        <p:nvSpPr>
          <p:cNvPr id="18" name="正方形/長方形 17">
            <a:extLst>
              <a:ext uri="{FF2B5EF4-FFF2-40B4-BE49-F238E27FC236}">
                <a16:creationId xmlns:a16="http://schemas.microsoft.com/office/drawing/2014/main" id="{BF69DCAB-3540-C60B-0DAF-67C7FB763280}"/>
              </a:ext>
            </a:extLst>
          </p:cNvPr>
          <p:cNvSpPr/>
          <p:nvPr/>
        </p:nvSpPr>
        <p:spPr>
          <a:xfrm>
            <a:off x="385319" y="5074813"/>
            <a:ext cx="357630" cy="900068"/>
          </a:xfrm>
          <a:prstGeom prst="rect">
            <a:avLst/>
          </a:prstGeom>
          <a:solidFill>
            <a:schemeClr val="accent2">
              <a:lumMod val="20000"/>
              <a:lumOff val="80000"/>
            </a:scheme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600" dirty="0">
                <a:solidFill>
                  <a:schemeClr val="tx1"/>
                </a:solidFill>
              </a:rPr>
              <a:t>H</a:t>
            </a:r>
          </a:p>
          <a:p>
            <a:pPr algn="ctr"/>
            <a:r>
              <a:rPr lang="en-US" altLang="ja-JP" sz="1600" dirty="0">
                <a:solidFill>
                  <a:schemeClr val="tx1"/>
                </a:solidFill>
              </a:rPr>
              <a:t>W</a:t>
            </a:r>
          </a:p>
          <a:p>
            <a:pPr algn="ctr"/>
            <a:r>
              <a:rPr lang="ja-JP" altLang="en-US" sz="1600" dirty="0">
                <a:solidFill>
                  <a:schemeClr val="tx1"/>
                </a:solidFill>
              </a:rPr>
              <a:t>層</a:t>
            </a:r>
            <a:endParaRPr lang="en-US" altLang="ja-JP" sz="1600" dirty="0">
              <a:solidFill>
                <a:schemeClr val="tx1"/>
              </a:solidFill>
            </a:endParaRPr>
          </a:p>
        </p:txBody>
      </p:sp>
      <p:sp>
        <p:nvSpPr>
          <p:cNvPr id="19" name="正方形/長方形 18">
            <a:extLst>
              <a:ext uri="{FF2B5EF4-FFF2-40B4-BE49-F238E27FC236}">
                <a16:creationId xmlns:a16="http://schemas.microsoft.com/office/drawing/2014/main" id="{6D21C311-CEE7-3D4B-7D56-CBE2F1FB904C}"/>
              </a:ext>
            </a:extLst>
          </p:cNvPr>
          <p:cNvSpPr/>
          <p:nvPr/>
        </p:nvSpPr>
        <p:spPr>
          <a:xfrm>
            <a:off x="2942808" y="5163631"/>
            <a:ext cx="1696333" cy="722431"/>
          </a:xfrm>
          <a:prstGeom prst="rect">
            <a:avLst/>
          </a:prstGeom>
          <a:solidFill>
            <a:schemeClr val="accent2">
              <a:lumMod val="20000"/>
              <a:lumOff val="80000"/>
            </a:schemeClr>
          </a:solidFill>
          <a:ln w="2540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solidFill>
                  <a:schemeClr val="tx1"/>
                </a:solidFill>
              </a:rPr>
              <a:t>加速度センサ</a:t>
            </a:r>
            <a:endParaRPr lang="en-US" altLang="ja-JP" sz="1600" dirty="0">
              <a:solidFill>
                <a:schemeClr val="tx1"/>
              </a:solidFill>
            </a:endParaRPr>
          </a:p>
          <a:p>
            <a:pPr algn="ctr"/>
            <a:r>
              <a:rPr lang="en-US" altLang="ja-JP" sz="1600" dirty="0">
                <a:solidFill>
                  <a:schemeClr val="tx1"/>
                </a:solidFill>
              </a:rPr>
              <a:t>MPU-9250</a:t>
            </a:r>
          </a:p>
        </p:txBody>
      </p:sp>
      <p:sp>
        <p:nvSpPr>
          <p:cNvPr id="20" name="正方形/長方形 19">
            <a:extLst>
              <a:ext uri="{FF2B5EF4-FFF2-40B4-BE49-F238E27FC236}">
                <a16:creationId xmlns:a16="http://schemas.microsoft.com/office/drawing/2014/main" id="{1A8399E8-741D-071C-ADCB-02B9916288CE}"/>
              </a:ext>
            </a:extLst>
          </p:cNvPr>
          <p:cNvSpPr/>
          <p:nvPr/>
        </p:nvSpPr>
        <p:spPr>
          <a:xfrm>
            <a:off x="4791123" y="5163631"/>
            <a:ext cx="1696333" cy="722431"/>
          </a:xfrm>
          <a:prstGeom prst="rect">
            <a:avLst/>
          </a:prstGeom>
          <a:solidFill>
            <a:schemeClr val="accent2">
              <a:lumMod val="20000"/>
              <a:lumOff val="80000"/>
            </a:schemeClr>
          </a:solidFill>
          <a:ln w="2540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solidFill>
                  <a:schemeClr val="tx1"/>
                </a:solidFill>
              </a:rPr>
              <a:t>イーサネット</a:t>
            </a:r>
            <a:endParaRPr lang="en-US" altLang="ja-JP" sz="1600" dirty="0">
              <a:solidFill>
                <a:schemeClr val="tx1"/>
              </a:solidFill>
            </a:endParaRPr>
          </a:p>
        </p:txBody>
      </p:sp>
      <p:sp>
        <p:nvSpPr>
          <p:cNvPr id="21" name="正方形/長方形 20">
            <a:extLst>
              <a:ext uri="{FF2B5EF4-FFF2-40B4-BE49-F238E27FC236}">
                <a16:creationId xmlns:a16="http://schemas.microsoft.com/office/drawing/2014/main" id="{422E58A8-574D-DE60-5D83-4CF3C5C0A544}"/>
              </a:ext>
            </a:extLst>
          </p:cNvPr>
          <p:cNvSpPr/>
          <p:nvPr/>
        </p:nvSpPr>
        <p:spPr>
          <a:xfrm>
            <a:off x="1094491" y="5163631"/>
            <a:ext cx="1696333" cy="722431"/>
          </a:xfrm>
          <a:prstGeom prst="rect">
            <a:avLst/>
          </a:prstGeom>
          <a:solidFill>
            <a:schemeClr val="accent2">
              <a:lumMod val="20000"/>
              <a:lumOff val="80000"/>
            </a:schemeClr>
          </a:solidFill>
          <a:ln w="2540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600" dirty="0">
                <a:solidFill>
                  <a:schemeClr val="tx1"/>
                </a:solidFill>
              </a:rPr>
              <a:t>CPU</a:t>
            </a:r>
            <a:r>
              <a:rPr lang="ja-JP" altLang="en-US" sz="1600" dirty="0">
                <a:solidFill>
                  <a:schemeClr val="tx1"/>
                </a:solidFill>
              </a:rPr>
              <a:t>内蔵</a:t>
            </a:r>
            <a:endParaRPr lang="en-US" altLang="ja-JP" sz="1600" dirty="0">
              <a:solidFill>
                <a:schemeClr val="tx1"/>
              </a:solidFill>
            </a:endParaRPr>
          </a:p>
          <a:p>
            <a:pPr algn="ctr"/>
            <a:r>
              <a:rPr lang="ja-JP" altLang="en-US" sz="1600" dirty="0">
                <a:solidFill>
                  <a:schemeClr val="tx1"/>
                </a:solidFill>
              </a:rPr>
              <a:t>汎用タイマ</a:t>
            </a:r>
            <a:endParaRPr lang="en-US" altLang="ja-JP" sz="1600" dirty="0">
              <a:solidFill>
                <a:schemeClr val="tx1"/>
              </a:solidFill>
            </a:endParaRPr>
          </a:p>
        </p:txBody>
      </p:sp>
      <p:sp>
        <p:nvSpPr>
          <p:cNvPr id="22" name="正方形/長方形 21">
            <a:extLst>
              <a:ext uri="{FF2B5EF4-FFF2-40B4-BE49-F238E27FC236}">
                <a16:creationId xmlns:a16="http://schemas.microsoft.com/office/drawing/2014/main" id="{09CFBAFB-CBC1-851A-EC9B-FA58A1C274C6}"/>
              </a:ext>
            </a:extLst>
          </p:cNvPr>
          <p:cNvSpPr/>
          <p:nvPr/>
        </p:nvSpPr>
        <p:spPr>
          <a:xfrm>
            <a:off x="6924676" y="3848752"/>
            <a:ext cx="4882004" cy="1096916"/>
          </a:xfrm>
          <a:prstGeom prst="rect">
            <a:avLst/>
          </a:prstGeom>
          <a:solidFill>
            <a:schemeClr val="accent5">
              <a:lumMod val="20000"/>
              <a:lumOff val="80000"/>
            </a:scheme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lvl="0" eaLnBrk="0" fontAlgn="base" hangingPunct="0">
              <a:spcBef>
                <a:spcPct val="0"/>
              </a:spcBef>
              <a:spcAft>
                <a:spcPct val="0"/>
              </a:spcAft>
              <a:buFontTx/>
              <a:buChar char="•"/>
            </a:pPr>
            <a:r>
              <a:rPr kumimoji="0" lang="ja-JP" altLang="ja-JP" sz="1600" dirty="0">
                <a:solidFill>
                  <a:schemeClr val="tx1"/>
                </a:solidFill>
                <a:latin typeface="Arial" panose="020B0604020202020204" pitchFamily="34" charset="0"/>
              </a:rPr>
              <a:t>GPT（10ms割込）で正確なサンプリングを実現。</a:t>
            </a:r>
          </a:p>
          <a:p>
            <a:pPr lvl="0" eaLnBrk="0" fontAlgn="base" hangingPunct="0">
              <a:spcBef>
                <a:spcPct val="0"/>
              </a:spcBef>
              <a:spcAft>
                <a:spcPct val="0"/>
              </a:spcAft>
              <a:buFontTx/>
              <a:buChar char="•"/>
            </a:pPr>
            <a:r>
              <a:rPr kumimoji="0" lang="ja-JP" altLang="ja-JP" sz="1600" dirty="0">
                <a:solidFill>
                  <a:schemeClr val="tx1"/>
                </a:solidFill>
                <a:latin typeface="Arial" panose="020B0604020202020204" pitchFamily="34" charset="0"/>
              </a:rPr>
              <a:t>I</a:t>
            </a:r>
            <a:r>
              <a:rPr kumimoji="0" lang="en-US" altLang="ja-JP" sz="1600" dirty="0">
                <a:solidFill>
                  <a:schemeClr val="tx1"/>
                </a:solidFill>
                <a:latin typeface="Arial" panose="020B0604020202020204" pitchFamily="34" charset="0"/>
              </a:rPr>
              <a:t>2</a:t>
            </a:r>
            <a:r>
              <a:rPr kumimoji="0" lang="ja-JP" altLang="ja-JP" sz="1600" dirty="0">
                <a:solidFill>
                  <a:schemeClr val="tx1"/>
                </a:solidFill>
                <a:latin typeface="Arial" panose="020B0604020202020204" pitchFamily="34" charset="0"/>
              </a:rPr>
              <a:t>Cで</a:t>
            </a:r>
            <a:r>
              <a:rPr kumimoji="0" lang="ja-JP" altLang="en-US" sz="1600" dirty="0">
                <a:solidFill>
                  <a:schemeClr val="tx1"/>
                </a:solidFill>
                <a:latin typeface="Arial" panose="020B0604020202020204" pitchFamily="34" charset="0"/>
              </a:rPr>
              <a:t>加速度センサ</a:t>
            </a:r>
            <a:r>
              <a:rPr kumimoji="0" lang="ja-JP" altLang="ja-JP" sz="1600" dirty="0">
                <a:solidFill>
                  <a:schemeClr val="tx1"/>
                </a:solidFill>
                <a:latin typeface="Arial" panose="020B0604020202020204" pitchFamily="34" charset="0"/>
              </a:rPr>
              <a:t>MPU-9250を制御、加速度データを取得</a:t>
            </a:r>
          </a:p>
          <a:p>
            <a:pPr lvl="0" eaLnBrk="0" fontAlgn="base" hangingPunct="0">
              <a:spcBef>
                <a:spcPct val="0"/>
              </a:spcBef>
              <a:spcAft>
                <a:spcPct val="0"/>
              </a:spcAft>
              <a:buFontTx/>
              <a:buChar char="•"/>
            </a:pPr>
            <a:r>
              <a:rPr kumimoji="0" lang="ja-JP" altLang="ja-JP" sz="1600" dirty="0">
                <a:solidFill>
                  <a:schemeClr val="tx1"/>
                </a:solidFill>
                <a:latin typeface="Arial" panose="020B0604020202020204" pitchFamily="34" charset="0"/>
              </a:rPr>
              <a:t>EthernetでUDPパケットを</a:t>
            </a:r>
            <a:r>
              <a:rPr kumimoji="0" lang="ja-JP" altLang="en-US" sz="1600" dirty="0">
                <a:solidFill>
                  <a:schemeClr val="tx1"/>
                </a:solidFill>
                <a:latin typeface="Arial" panose="020B0604020202020204" pitchFamily="34" charset="0"/>
              </a:rPr>
              <a:t>送信</a:t>
            </a:r>
            <a:r>
              <a:rPr kumimoji="0" lang="ja-JP" altLang="ja-JP" sz="1600" dirty="0">
                <a:solidFill>
                  <a:schemeClr val="tx1"/>
                </a:solidFill>
                <a:latin typeface="Arial" panose="020B0604020202020204" pitchFamily="34" charset="0"/>
              </a:rPr>
              <a:t>、擬似クラウドへ</a:t>
            </a:r>
            <a:endParaRPr lang="en-US" altLang="ja-JP" sz="1600" dirty="0">
              <a:solidFill>
                <a:schemeClr val="tx1"/>
              </a:solidFill>
            </a:endParaRPr>
          </a:p>
        </p:txBody>
      </p:sp>
      <p:sp>
        <p:nvSpPr>
          <p:cNvPr id="24" name="吹き出し: 角を丸めた四角形 23">
            <a:extLst>
              <a:ext uri="{FF2B5EF4-FFF2-40B4-BE49-F238E27FC236}">
                <a16:creationId xmlns:a16="http://schemas.microsoft.com/office/drawing/2014/main" id="{916CFD3C-8B9C-4DC0-69F6-BE2A95E0B7DD}"/>
              </a:ext>
            </a:extLst>
          </p:cNvPr>
          <p:cNvSpPr/>
          <p:nvPr/>
        </p:nvSpPr>
        <p:spPr>
          <a:xfrm>
            <a:off x="5076360" y="3008313"/>
            <a:ext cx="1610656" cy="840439"/>
          </a:xfrm>
          <a:prstGeom prst="wedgeRoundRectCallout">
            <a:avLst>
              <a:gd name="adj1" fmla="val -58799"/>
              <a:gd name="adj2" fmla="val -46966"/>
              <a:gd name="adj3" fmla="val 16667"/>
            </a:avLst>
          </a:prstGeom>
        </p:spPr>
        <p:style>
          <a:lnRef idx="2">
            <a:schemeClr val="accent2"/>
          </a:lnRef>
          <a:fillRef idx="1">
            <a:schemeClr val="lt1"/>
          </a:fillRef>
          <a:effectRef idx="0">
            <a:schemeClr val="accent2"/>
          </a:effectRef>
          <a:fontRef idx="minor">
            <a:schemeClr val="dk1"/>
          </a:fontRef>
        </p:style>
        <p:txBody>
          <a:bodyPr lIns="0" tIns="0" rIns="0" bIns="0" rtlCol="0" anchor="ctr"/>
          <a:lstStyle/>
          <a:p>
            <a:r>
              <a:rPr kumimoji="1" lang="ja-JP" altLang="en-US" sz="1050" dirty="0">
                <a:solidFill>
                  <a:srgbClr val="FF0000"/>
                </a:solidFill>
              </a:rPr>
              <a:t>各タスク間の通信はメールボックス、ペイロードは固定長メモリプールを利用した</a:t>
            </a:r>
          </a:p>
        </p:txBody>
      </p:sp>
      <p:pic>
        <p:nvPicPr>
          <p:cNvPr id="25" name="図 24">
            <a:extLst>
              <a:ext uri="{FF2B5EF4-FFF2-40B4-BE49-F238E27FC236}">
                <a16:creationId xmlns:a16="http://schemas.microsoft.com/office/drawing/2014/main" id="{3483AFAB-57DB-A095-D0DA-FF506359E98C}"/>
              </a:ext>
            </a:extLst>
          </p:cNvPr>
          <p:cNvPicPr>
            <a:picLocks noChangeAspect="1"/>
          </p:cNvPicPr>
          <p:nvPr/>
        </p:nvPicPr>
        <p:blipFill>
          <a:blip r:embed="rId2"/>
          <a:stretch>
            <a:fillRect/>
          </a:stretch>
        </p:blipFill>
        <p:spPr>
          <a:xfrm>
            <a:off x="221706" y="749617"/>
            <a:ext cx="684856" cy="815305"/>
          </a:xfrm>
          <a:prstGeom prst="rect">
            <a:avLst/>
          </a:prstGeom>
        </p:spPr>
      </p:pic>
    </p:spTree>
    <p:extLst>
      <p:ext uri="{BB962C8B-B14F-4D97-AF65-F5344CB8AC3E}">
        <p14:creationId xmlns:p14="http://schemas.microsoft.com/office/powerpoint/2010/main" val="34725048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88DB7A5-D6B1-C9D6-5D19-63EE6582BC01}"/>
              </a:ext>
            </a:extLst>
          </p:cNvPr>
          <p:cNvSpPr>
            <a:spLocks noGrp="1"/>
          </p:cNvSpPr>
          <p:nvPr>
            <p:ph type="title"/>
          </p:nvPr>
        </p:nvSpPr>
        <p:spPr/>
        <p:txBody>
          <a:bodyPr>
            <a:normAutofit fontScale="90000"/>
          </a:bodyPr>
          <a:lstStyle/>
          <a:p>
            <a:r>
              <a:rPr kumimoji="1" lang="ja-JP" altLang="en-US" dirty="0"/>
              <a:t>３．</a:t>
            </a:r>
            <a:r>
              <a:rPr kumimoji="1" lang="en-US" altLang="ja-JP" dirty="0"/>
              <a:t>AI</a:t>
            </a:r>
            <a:r>
              <a:rPr kumimoji="1" lang="ja-JP" altLang="en-US" dirty="0"/>
              <a:t>処理概要</a:t>
            </a:r>
          </a:p>
        </p:txBody>
      </p:sp>
      <p:sp>
        <p:nvSpPr>
          <p:cNvPr id="3" name="コンテンツ プレースホルダー 2">
            <a:extLst>
              <a:ext uri="{FF2B5EF4-FFF2-40B4-BE49-F238E27FC236}">
                <a16:creationId xmlns:a16="http://schemas.microsoft.com/office/drawing/2014/main" id="{9238F8D3-3EAC-9530-1814-4A3CC60FBCC2}"/>
              </a:ext>
            </a:extLst>
          </p:cNvPr>
          <p:cNvSpPr>
            <a:spLocks noGrp="1"/>
          </p:cNvSpPr>
          <p:nvPr>
            <p:ph idx="1"/>
          </p:nvPr>
        </p:nvSpPr>
        <p:spPr/>
        <p:txBody>
          <a:bodyPr/>
          <a:lstStyle/>
          <a:p>
            <a:pPr>
              <a:buFont typeface="Wingdings" panose="05000000000000000000" pitchFamily="2" charset="2"/>
              <a:buChar char="Ø"/>
            </a:pPr>
            <a:r>
              <a:rPr kumimoji="1" lang="en-US" altLang="ja-JP" dirty="0"/>
              <a:t>FFT</a:t>
            </a:r>
            <a:r>
              <a:rPr kumimoji="1" lang="ja-JP" altLang="en-US" dirty="0"/>
              <a:t>処理</a:t>
            </a:r>
            <a:endParaRPr kumimoji="1" lang="en-US" altLang="ja-JP" dirty="0"/>
          </a:p>
          <a:p>
            <a:pPr lvl="1"/>
            <a:r>
              <a:rPr kumimoji="1" lang="en-US" altLang="ja-JP" dirty="0"/>
              <a:t>1024</a:t>
            </a:r>
            <a:r>
              <a:rPr kumimoji="1" lang="ja-JP" altLang="en-US" dirty="0"/>
              <a:t>点の加速度データを周波数解析し、振動のスペクトル成分を抽出。</a:t>
            </a:r>
            <a:endParaRPr kumimoji="1" lang="en-US" altLang="ja-JP" dirty="0"/>
          </a:p>
          <a:p>
            <a:pPr lvl="1"/>
            <a:r>
              <a:rPr kumimoji="1" lang="ja-JP" altLang="en-US" dirty="0"/>
              <a:t>スペクトルから特徴的な</a:t>
            </a:r>
            <a:r>
              <a:rPr kumimoji="1" lang="en-US" altLang="ja-JP" dirty="0"/>
              <a:t>16</a:t>
            </a:r>
            <a:r>
              <a:rPr kumimoji="1" lang="ja-JP" altLang="en-US" dirty="0"/>
              <a:t>点を抽出し、異常判定の入力データとする。</a:t>
            </a:r>
            <a:endParaRPr kumimoji="1" lang="en-US" altLang="ja-JP" dirty="0"/>
          </a:p>
          <a:p>
            <a:pPr>
              <a:buFont typeface="Wingdings" panose="05000000000000000000" pitchFamily="2" charset="2"/>
              <a:buChar char="Ø"/>
            </a:pPr>
            <a:r>
              <a:rPr kumimoji="1" lang="en-US" altLang="ja-JP" dirty="0"/>
              <a:t>AI</a:t>
            </a:r>
            <a:r>
              <a:rPr kumimoji="1" lang="ja-JP" altLang="en-US" dirty="0"/>
              <a:t>推論（</a:t>
            </a:r>
            <a:r>
              <a:rPr kumimoji="1" lang="en-US" altLang="ja-JP" dirty="0"/>
              <a:t>CMSIS-NN MLP</a:t>
            </a:r>
            <a:r>
              <a:rPr kumimoji="1" lang="ja-JP" altLang="en-US" dirty="0"/>
              <a:t>）</a:t>
            </a:r>
            <a:endParaRPr kumimoji="1" lang="en-US" altLang="ja-JP" dirty="0"/>
          </a:p>
          <a:p>
            <a:pPr lvl="1"/>
            <a:r>
              <a:rPr kumimoji="1" lang="ja-JP" altLang="en-US" dirty="0"/>
              <a:t>入力：</a:t>
            </a:r>
            <a:r>
              <a:rPr kumimoji="1" lang="en-US" altLang="ja-JP" dirty="0"/>
              <a:t>16</a:t>
            </a:r>
            <a:r>
              <a:rPr kumimoji="1" lang="ja-JP" altLang="en-US" dirty="0"/>
              <a:t>次元の特徴ベクトル。</a:t>
            </a:r>
            <a:endParaRPr kumimoji="1" lang="en-US" altLang="ja-JP" dirty="0"/>
          </a:p>
          <a:p>
            <a:pPr lvl="1"/>
            <a:r>
              <a:rPr kumimoji="1" lang="ja-JP" altLang="en-US" dirty="0"/>
              <a:t>出力：安全</a:t>
            </a:r>
            <a:r>
              <a:rPr kumimoji="1" lang="en-US" altLang="ja-JP" dirty="0"/>
              <a:t>(0)</a:t>
            </a:r>
            <a:r>
              <a:rPr kumimoji="1" lang="ja-JP" altLang="en-US" dirty="0"/>
              <a:t>／危険</a:t>
            </a:r>
            <a:r>
              <a:rPr kumimoji="1" lang="en-US" altLang="ja-JP" dirty="0"/>
              <a:t>(1) </a:t>
            </a:r>
            <a:r>
              <a:rPr kumimoji="1" lang="ja-JP" altLang="en-US" dirty="0"/>
              <a:t>を分類。</a:t>
            </a:r>
            <a:endParaRPr kumimoji="1" lang="en-US" altLang="ja-JP" dirty="0"/>
          </a:p>
          <a:p>
            <a:pPr lvl="1"/>
            <a:r>
              <a:rPr kumimoji="1" lang="en-US" altLang="ja-JP" dirty="0"/>
              <a:t>CMSIS-NN</a:t>
            </a:r>
            <a:r>
              <a:rPr kumimoji="1" lang="ja-JP" altLang="en-US" dirty="0"/>
              <a:t>により軽量かつ高速な推論をマイコン単体で実現。</a:t>
            </a:r>
            <a:endParaRPr kumimoji="1" lang="en-US" altLang="ja-JP" dirty="0"/>
          </a:p>
          <a:p>
            <a:pPr>
              <a:buFont typeface="Wingdings" panose="05000000000000000000" pitchFamily="2" charset="2"/>
              <a:buChar char="Ø"/>
            </a:pPr>
            <a:r>
              <a:rPr kumimoji="1" lang="ja-JP" altLang="en-US" dirty="0"/>
              <a:t>特徴</a:t>
            </a:r>
            <a:endParaRPr kumimoji="1" lang="en-US" altLang="ja-JP" dirty="0"/>
          </a:p>
          <a:p>
            <a:pPr lvl="1"/>
            <a:r>
              <a:rPr kumimoji="1" lang="ja-JP" altLang="en-US" dirty="0"/>
              <a:t>クラウドや外部サーバを使わず、マイコン上で</a:t>
            </a:r>
            <a:r>
              <a:rPr kumimoji="1" lang="en-US" altLang="ja-JP" dirty="0"/>
              <a:t>AI</a:t>
            </a:r>
            <a:r>
              <a:rPr kumimoji="1" lang="ja-JP" altLang="en-US" dirty="0"/>
              <a:t>を完結。</a:t>
            </a:r>
            <a:endParaRPr kumimoji="1" lang="en-US" altLang="ja-JP" dirty="0"/>
          </a:p>
          <a:p>
            <a:pPr lvl="1"/>
            <a:r>
              <a:rPr kumimoji="1" lang="ja-JP" altLang="en-US" dirty="0"/>
              <a:t>小型・低消費電力環境でも動作可能で、現場でのリアルタイム監視に適用できる。</a:t>
            </a:r>
          </a:p>
        </p:txBody>
      </p:sp>
      <p:sp>
        <p:nvSpPr>
          <p:cNvPr id="4" name="フッター プレースホルダー 3">
            <a:extLst>
              <a:ext uri="{FF2B5EF4-FFF2-40B4-BE49-F238E27FC236}">
                <a16:creationId xmlns:a16="http://schemas.microsoft.com/office/drawing/2014/main" id="{030E6CBC-000C-3A3C-7A06-7E31FC341699}"/>
              </a:ext>
            </a:extLst>
          </p:cNvPr>
          <p:cNvSpPr>
            <a:spLocks noGrp="1"/>
          </p:cNvSpPr>
          <p:nvPr>
            <p:ph type="ftr" sz="quarter" idx="11"/>
          </p:nvPr>
        </p:nvSpPr>
        <p:spPr/>
        <p:txBody>
          <a:bodyPr/>
          <a:lstStyle/>
          <a:p>
            <a:r>
              <a:rPr kumimoji="1" lang="en-US" altLang="ja-JP"/>
              <a:t>Copyright 2025 Things Base</a:t>
            </a:r>
            <a:endParaRPr kumimoji="1" lang="ja-JP" altLang="en-US" dirty="0"/>
          </a:p>
        </p:txBody>
      </p:sp>
      <p:sp>
        <p:nvSpPr>
          <p:cNvPr id="5" name="スライド番号プレースホルダー 4">
            <a:extLst>
              <a:ext uri="{FF2B5EF4-FFF2-40B4-BE49-F238E27FC236}">
                <a16:creationId xmlns:a16="http://schemas.microsoft.com/office/drawing/2014/main" id="{67854D14-A309-76D9-3450-B6ADC9F75105}"/>
              </a:ext>
            </a:extLst>
          </p:cNvPr>
          <p:cNvSpPr>
            <a:spLocks noGrp="1"/>
          </p:cNvSpPr>
          <p:nvPr>
            <p:ph type="sldNum" sz="quarter" idx="12"/>
          </p:nvPr>
        </p:nvSpPr>
        <p:spPr/>
        <p:txBody>
          <a:bodyPr/>
          <a:lstStyle/>
          <a:p>
            <a:fld id="{1FB98C20-25CD-4F77-9B8F-26BB31769BDC}" type="slidenum">
              <a:rPr kumimoji="1" lang="ja-JP" altLang="en-US" smtClean="0"/>
              <a:t>5</a:t>
            </a:fld>
            <a:endParaRPr kumimoji="1" lang="ja-JP" altLang="en-US"/>
          </a:p>
        </p:txBody>
      </p:sp>
      <p:sp>
        <p:nvSpPr>
          <p:cNvPr id="7" name="正方形/長方形 6">
            <a:extLst>
              <a:ext uri="{FF2B5EF4-FFF2-40B4-BE49-F238E27FC236}">
                <a16:creationId xmlns:a16="http://schemas.microsoft.com/office/drawing/2014/main" id="{3E438310-AAEB-CD78-3C93-8B92AC78397F}"/>
              </a:ext>
            </a:extLst>
          </p:cNvPr>
          <p:cNvSpPr/>
          <p:nvPr/>
        </p:nvSpPr>
        <p:spPr>
          <a:xfrm>
            <a:off x="352865" y="5594840"/>
            <a:ext cx="11258110" cy="1080595"/>
          </a:xfrm>
          <a:prstGeom prst="rect">
            <a:avLst/>
          </a:prstGeom>
          <a:noFill/>
          <a:ln w="254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lvl="0" eaLnBrk="0" fontAlgn="base" hangingPunct="0">
              <a:spcBef>
                <a:spcPct val="0"/>
              </a:spcBef>
              <a:spcAft>
                <a:spcPct val="0"/>
              </a:spcAft>
            </a:pPr>
            <a:r>
              <a:rPr kumimoji="0" lang="en-US" altLang="ja-JP" sz="1200" dirty="0">
                <a:solidFill>
                  <a:schemeClr val="tx1"/>
                </a:solidFill>
                <a:latin typeface="Arial" panose="020B0604020202020204" pitchFamily="34" charset="0"/>
              </a:rPr>
              <a:t>※CMSIS-NN</a:t>
            </a:r>
            <a:r>
              <a:rPr kumimoji="0" lang="ja-JP" altLang="en-US" sz="1200" dirty="0">
                <a:solidFill>
                  <a:schemeClr val="tx1"/>
                </a:solidFill>
                <a:latin typeface="Arial" panose="020B0604020202020204" pitchFamily="34" charset="0"/>
              </a:rPr>
              <a:t>・・・</a:t>
            </a:r>
            <a:r>
              <a:rPr kumimoji="0" lang="en-US" altLang="ja-JP" sz="1200" dirty="0">
                <a:solidFill>
                  <a:schemeClr val="tx1"/>
                </a:solidFill>
                <a:latin typeface="Arial" panose="020B0604020202020204" pitchFamily="34" charset="0"/>
              </a:rPr>
              <a:t>Cortex </a:t>
            </a:r>
            <a:r>
              <a:rPr kumimoji="0" lang="en-US" altLang="ja-JP" sz="1200" dirty="0" err="1">
                <a:solidFill>
                  <a:schemeClr val="tx1"/>
                </a:solidFill>
                <a:latin typeface="Arial" panose="020B0604020202020204" pitchFamily="34" charset="0"/>
              </a:rPr>
              <a:t>Microcontoroller</a:t>
            </a:r>
            <a:r>
              <a:rPr kumimoji="0" lang="en-US" altLang="ja-JP" sz="1200" dirty="0">
                <a:solidFill>
                  <a:schemeClr val="tx1"/>
                </a:solidFill>
                <a:latin typeface="Arial" panose="020B0604020202020204" pitchFamily="34" charset="0"/>
              </a:rPr>
              <a:t> Software Interface Standard-Neural Network</a:t>
            </a:r>
            <a:r>
              <a:rPr kumimoji="0" lang="ja-JP" altLang="en-US" sz="1200" dirty="0">
                <a:solidFill>
                  <a:schemeClr val="tx1"/>
                </a:solidFill>
                <a:latin typeface="Arial" panose="020B0604020202020204" pitchFamily="34" charset="0"/>
              </a:rPr>
              <a:t>　</a:t>
            </a:r>
            <a:r>
              <a:rPr kumimoji="0" lang="en-US" altLang="ja-JP" sz="1200" dirty="0">
                <a:solidFill>
                  <a:schemeClr val="tx1"/>
                </a:solidFill>
                <a:latin typeface="Arial" panose="020B0604020202020204" pitchFamily="34" charset="0"/>
              </a:rPr>
              <a:t>ARM</a:t>
            </a:r>
            <a:r>
              <a:rPr kumimoji="0" lang="ja-JP" altLang="en-US" sz="1200" dirty="0">
                <a:solidFill>
                  <a:schemeClr val="tx1"/>
                </a:solidFill>
                <a:latin typeface="Arial" panose="020B0604020202020204" pitchFamily="34" charset="0"/>
              </a:rPr>
              <a:t>が提供する</a:t>
            </a:r>
            <a:r>
              <a:rPr kumimoji="0" lang="en-US" altLang="ja-JP" sz="1200" dirty="0">
                <a:solidFill>
                  <a:schemeClr val="tx1"/>
                </a:solidFill>
                <a:latin typeface="Arial" panose="020B0604020202020204" pitchFamily="34" charset="0"/>
              </a:rPr>
              <a:t>AI</a:t>
            </a:r>
            <a:r>
              <a:rPr kumimoji="0" lang="ja-JP" altLang="en-US" sz="1200" dirty="0">
                <a:solidFill>
                  <a:schemeClr val="tx1"/>
                </a:solidFill>
                <a:latin typeface="Arial" panose="020B0604020202020204" pitchFamily="34" charset="0"/>
              </a:rPr>
              <a:t>ライブラリ。</a:t>
            </a:r>
            <a:r>
              <a:rPr kumimoji="0" lang="en-US" altLang="ja-JP" sz="1200" dirty="0">
                <a:solidFill>
                  <a:schemeClr val="tx1"/>
                </a:solidFill>
                <a:latin typeface="Arial" panose="020B0604020202020204" pitchFamily="34" charset="0"/>
              </a:rPr>
              <a:t>E2-studio</a:t>
            </a:r>
            <a:r>
              <a:rPr kumimoji="0" lang="ja-JP" altLang="en-US" sz="1200" dirty="0">
                <a:solidFill>
                  <a:schemeClr val="tx1"/>
                </a:solidFill>
                <a:latin typeface="Arial" panose="020B0604020202020204" pitchFamily="34" charset="0"/>
              </a:rPr>
              <a:t>では</a:t>
            </a:r>
            <a:r>
              <a:rPr kumimoji="0" lang="en-US" altLang="ja-JP" sz="1200" dirty="0" err="1">
                <a:solidFill>
                  <a:schemeClr val="tx1"/>
                </a:solidFill>
                <a:latin typeface="Arial" panose="020B0604020202020204" pitchFamily="34" charset="0"/>
              </a:rPr>
              <a:t>fsp</a:t>
            </a:r>
            <a:r>
              <a:rPr kumimoji="0" lang="ja-JP" altLang="en-US" sz="1200" dirty="0">
                <a:solidFill>
                  <a:schemeClr val="tx1"/>
                </a:solidFill>
                <a:latin typeface="Arial" panose="020B0604020202020204" pitchFamily="34" charset="0"/>
              </a:rPr>
              <a:t>から提供されている</a:t>
            </a:r>
            <a:endParaRPr kumimoji="0" lang="en-US" altLang="ja-JP" sz="1200" dirty="0">
              <a:solidFill>
                <a:schemeClr val="tx1"/>
              </a:solidFill>
              <a:latin typeface="Arial" panose="020B0604020202020204" pitchFamily="34" charset="0"/>
            </a:endParaRPr>
          </a:p>
          <a:p>
            <a:pPr lvl="0" eaLnBrk="0" fontAlgn="base" hangingPunct="0">
              <a:spcBef>
                <a:spcPct val="0"/>
              </a:spcBef>
              <a:spcAft>
                <a:spcPct val="0"/>
              </a:spcAft>
            </a:pPr>
            <a:r>
              <a:rPr kumimoji="0" lang="en-US" altLang="ja-JP" sz="1200" dirty="0">
                <a:solidFill>
                  <a:schemeClr val="tx1"/>
                </a:solidFill>
                <a:latin typeface="Arial" panose="020B0604020202020204" pitchFamily="34" charset="0"/>
              </a:rPr>
              <a:t>※MLP</a:t>
            </a:r>
            <a:r>
              <a:rPr kumimoji="0" lang="ja-JP" altLang="en-US" sz="1200" dirty="0">
                <a:solidFill>
                  <a:schemeClr val="tx1"/>
                </a:solidFill>
                <a:latin typeface="Arial" panose="020B0604020202020204" pitchFamily="34" charset="0"/>
              </a:rPr>
              <a:t>・・・・・・</a:t>
            </a:r>
            <a:r>
              <a:rPr kumimoji="0" lang="en-US" altLang="ja-JP" sz="1200" dirty="0">
                <a:solidFill>
                  <a:schemeClr val="tx1"/>
                </a:solidFill>
                <a:latin typeface="Arial" panose="020B0604020202020204" pitchFamily="34" charset="0"/>
              </a:rPr>
              <a:t>Multi-Layer Perceptron</a:t>
            </a:r>
            <a:r>
              <a:rPr kumimoji="0" lang="ja-JP" altLang="en-US" sz="1200" dirty="0">
                <a:solidFill>
                  <a:schemeClr val="tx1"/>
                </a:solidFill>
                <a:latin typeface="Arial" panose="020B0604020202020204" pitchFamily="34" charset="0"/>
              </a:rPr>
              <a:t>　多層パーセプトロン、特徴量を分類するためのシンプルなモデル</a:t>
            </a:r>
            <a:endParaRPr kumimoji="0" lang="en-US" altLang="ja-JP" sz="1200" dirty="0">
              <a:solidFill>
                <a:schemeClr val="tx1"/>
              </a:solidFill>
              <a:latin typeface="Arial" panose="020B0604020202020204" pitchFamily="34" charset="0"/>
            </a:endParaRPr>
          </a:p>
        </p:txBody>
      </p:sp>
      <p:pic>
        <p:nvPicPr>
          <p:cNvPr id="9" name="図 8">
            <a:extLst>
              <a:ext uri="{FF2B5EF4-FFF2-40B4-BE49-F238E27FC236}">
                <a16:creationId xmlns:a16="http://schemas.microsoft.com/office/drawing/2014/main" id="{DB038F5C-23DA-1790-EC79-1A2FB42C81DD}"/>
              </a:ext>
            </a:extLst>
          </p:cNvPr>
          <p:cNvPicPr>
            <a:picLocks noChangeAspect="1"/>
          </p:cNvPicPr>
          <p:nvPr/>
        </p:nvPicPr>
        <p:blipFill>
          <a:blip r:embed="rId2"/>
          <a:stretch>
            <a:fillRect/>
          </a:stretch>
        </p:blipFill>
        <p:spPr>
          <a:xfrm>
            <a:off x="6720739" y="2198366"/>
            <a:ext cx="2464588" cy="1080595"/>
          </a:xfrm>
          <a:prstGeom prst="rect">
            <a:avLst/>
          </a:prstGeom>
        </p:spPr>
      </p:pic>
      <p:pic>
        <p:nvPicPr>
          <p:cNvPr id="11" name="図 10">
            <a:extLst>
              <a:ext uri="{FF2B5EF4-FFF2-40B4-BE49-F238E27FC236}">
                <a16:creationId xmlns:a16="http://schemas.microsoft.com/office/drawing/2014/main" id="{A8B1C917-FB7D-F28A-15B8-9920539A1C31}"/>
              </a:ext>
            </a:extLst>
          </p:cNvPr>
          <p:cNvPicPr>
            <a:picLocks noChangeAspect="1"/>
          </p:cNvPicPr>
          <p:nvPr/>
        </p:nvPicPr>
        <p:blipFill>
          <a:blip r:embed="rId3"/>
          <a:stretch>
            <a:fillRect/>
          </a:stretch>
        </p:blipFill>
        <p:spPr>
          <a:xfrm>
            <a:off x="9296774" y="2198366"/>
            <a:ext cx="2464590" cy="1080596"/>
          </a:xfrm>
          <a:prstGeom prst="rect">
            <a:avLst/>
          </a:prstGeom>
        </p:spPr>
      </p:pic>
    </p:spTree>
    <p:extLst>
      <p:ext uri="{BB962C8B-B14F-4D97-AF65-F5344CB8AC3E}">
        <p14:creationId xmlns:p14="http://schemas.microsoft.com/office/powerpoint/2010/main" val="7431996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F3E39-7345-385C-9157-4AF88AABE8B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736A949-17D7-E4A4-34D0-BC57A6244AB4}"/>
              </a:ext>
            </a:extLst>
          </p:cNvPr>
          <p:cNvSpPr>
            <a:spLocks noGrp="1"/>
          </p:cNvSpPr>
          <p:nvPr>
            <p:ph type="title"/>
          </p:nvPr>
        </p:nvSpPr>
        <p:spPr/>
        <p:txBody>
          <a:bodyPr>
            <a:normAutofit fontScale="90000"/>
          </a:bodyPr>
          <a:lstStyle/>
          <a:p>
            <a:r>
              <a:rPr lang="ja-JP" altLang="en-US" dirty="0"/>
              <a:t>４</a:t>
            </a:r>
            <a:r>
              <a:rPr kumimoji="1" lang="ja-JP" altLang="en-US" dirty="0"/>
              <a:t>．</a:t>
            </a:r>
            <a:r>
              <a:rPr lang="ja-JP" altLang="en-US" dirty="0"/>
              <a:t>開発の工夫</a:t>
            </a:r>
            <a:endParaRPr kumimoji="1" lang="ja-JP" altLang="en-US" dirty="0"/>
          </a:p>
        </p:txBody>
      </p:sp>
      <p:sp>
        <p:nvSpPr>
          <p:cNvPr id="3" name="コンテンツ プレースホルダー 2">
            <a:extLst>
              <a:ext uri="{FF2B5EF4-FFF2-40B4-BE49-F238E27FC236}">
                <a16:creationId xmlns:a16="http://schemas.microsoft.com/office/drawing/2014/main" id="{335338FA-EB25-292C-EC03-C37051F79E37}"/>
              </a:ext>
            </a:extLst>
          </p:cNvPr>
          <p:cNvSpPr>
            <a:spLocks noGrp="1"/>
          </p:cNvSpPr>
          <p:nvPr>
            <p:ph idx="1"/>
          </p:nvPr>
        </p:nvSpPr>
        <p:spPr/>
        <p:txBody>
          <a:bodyPr>
            <a:normAutofit fontScale="92500" lnSpcReduction="10000"/>
          </a:bodyPr>
          <a:lstStyle/>
          <a:p>
            <a:pPr>
              <a:buFont typeface="Wingdings" panose="05000000000000000000" pitchFamily="2" charset="2"/>
              <a:buChar char="Ø"/>
            </a:pPr>
            <a:r>
              <a:rPr kumimoji="1" lang="ja-JP" altLang="en-US" dirty="0"/>
              <a:t>リアルタイム処理</a:t>
            </a:r>
            <a:endParaRPr kumimoji="1" lang="en-US" altLang="ja-JP" dirty="0"/>
          </a:p>
          <a:p>
            <a:pPr lvl="1"/>
            <a:r>
              <a:rPr kumimoji="1" lang="en-US" altLang="ja-JP" dirty="0" err="1"/>
              <a:t>tslp_tsk</a:t>
            </a:r>
            <a:r>
              <a:rPr kumimoji="1" lang="ja-JP" altLang="en-US" dirty="0"/>
              <a:t>や</a:t>
            </a:r>
            <a:r>
              <a:rPr kumimoji="1" lang="en-US" altLang="ja-JP" dirty="0" err="1"/>
              <a:t>rcv_mbx</a:t>
            </a:r>
            <a:r>
              <a:rPr kumimoji="1" lang="ja-JP" altLang="en-US" dirty="0"/>
              <a:t>では</a:t>
            </a:r>
            <a:r>
              <a:rPr kumimoji="1" lang="en-US" altLang="ja-JP" dirty="0"/>
              <a:t>20ms</a:t>
            </a:r>
            <a:r>
              <a:rPr kumimoji="1" lang="ja-JP" altLang="en-US" dirty="0"/>
              <a:t>以下の周期処理が不可能だった。</a:t>
            </a:r>
            <a:r>
              <a:rPr kumimoji="1" lang="en-US" altLang="ja-JP" dirty="0"/>
              <a:t>(BSP</a:t>
            </a:r>
            <a:r>
              <a:rPr kumimoji="1" lang="ja-JP" altLang="en-US" dirty="0"/>
              <a:t>未実装</a:t>
            </a:r>
            <a:r>
              <a:rPr kumimoji="1" lang="en-US" altLang="ja-JP" dirty="0"/>
              <a:t>)</a:t>
            </a:r>
          </a:p>
          <a:p>
            <a:pPr lvl="1"/>
            <a:r>
              <a:rPr kumimoji="1" lang="en-US" altLang="ja-JP" dirty="0"/>
              <a:t>GPT</a:t>
            </a:r>
            <a:r>
              <a:rPr kumimoji="1" lang="ja-JP" altLang="en-US" dirty="0"/>
              <a:t>割込を利用することで、</a:t>
            </a:r>
            <a:r>
              <a:rPr kumimoji="1" lang="en-US" altLang="ja-JP" dirty="0"/>
              <a:t>10ms</a:t>
            </a:r>
            <a:r>
              <a:rPr kumimoji="1" lang="ja-JP" altLang="en-US" dirty="0"/>
              <a:t>周期で正確にサンプリング。</a:t>
            </a:r>
            <a:r>
              <a:rPr kumimoji="1" lang="en-US" altLang="ja-JP" dirty="0"/>
              <a:t>100Hz</a:t>
            </a:r>
            <a:r>
              <a:rPr kumimoji="1" lang="ja-JP" altLang="en-US" dirty="0"/>
              <a:t>データ取得を達成</a:t>
            </a:r>
            <a:r>
              <a:rPr lang="ja-JP" altLang="en-US" dirty="0"/>
              <a:t>。</a:t>
            </a:r>
            <a:endParaRPr kumimoji="1" lang="en-US" altLang="ja-JP" dirty="0"/>
          </a:p>
          <a:p>
            <a:pPr>
              <a:buFont typeface="Wingdings" panose="05000000000000000000" pitchFamily="2" charset="2"/>
              <a:buChar char="Ø"/>
            </a:pPr>
            <a:r>
              <a:rPr kumimoji="1" lang="en-US" altLang="ja-JP" dirty="0"/>
              <a:t>AI</a:t>
            </a:r>
            <a:r>
              <a:rPr kumimoji="1" lang="ja-JP" altLang="en-US" dirty="0"/>
              <a:t>実装</a:t>
            </a:r>
            <a:endParaRPr kumimoji="1" lang="en-US" altLang="ja-JP" dirty="0"/>
          </a:p>
          <a:p>
            <a:pPr lvl="1"/>
            <a:r>
              <a:rPr kumimoji="1" lang="en-US" altLang="ja-JP" dirty="0"/>
              <a:t>CMSIS</a:t>
            </a:r>
            <a:r>
              <a:rPr kumimoji="1" lang="ja-JP" altLang="en-US" dirty="0"/>
              <a:t>ライブラリを利用し、</a:t>
            </a:r>
            <a:r>
              <a:rPr kumimoji="1" lang="en-US" altLang="ja-JP" dirty="0"/>
              <a:t>FFT</a:t>
            </a:r>
            <a:r>
              <a:rPr kumimoji="1" lang="ja-JP" altLang="en-US" dirty="0"/>
              <a:t>と</a:t>
            </a:r>
            <a:r>
              <a:rPr kumimoji="1" lang="en-US" altLang="ja-JP" dirty="0"/>
              <a:t>MLP</a:t>
            </a:r>
            <a:r>
              <a:rPr kumimoji="1" lang="ja-JP" altLang="en-US" dirty="0"/>
              <a:t>推論を統合。</a:t>
            </a:r>
            <a:endParaRPr kumimoji="1" lang="en-US" altLang="ja-JP" dirty="0"/>
          </a:p>
          <a:p>
            <a:pPr lvl="1"/>
            <a:r>
              <a:rPr kumimoji="1" lang="en-US" altLang="ja-JP" dirty="0"/>
              <a:t>ChatGPT</a:t>
            </a:r>
            <a:r>
              <a:rPr kumimoji="1" lang="ja-JP" altLang="en-US" dirty="0"/>
              <a:t>との対話を通じてコードを生成し、短期間で実装を完成。</a:t>
            </a:r>
            <a:endParaRPr kumimoji="1" lang="en-US" altLang="ja-JP" dirty="0"/>
          </a:p>
          <a:p>
            <a:pPr>
              <a:buFont typeface="Wingdings" panose="05000000000000000000" pitchFamily="2" charset="2"/>
              <a:buChar char="Ø"/>
            </a:pPr>
            <a:r>
              <a:rPr lang="ja-JP" altLang="en-US" dirty="0"/>
              <a:t>ネットワーク実装</a:t>
            </a:r>
            <a:endParaRPr lang="en-US" altLang="ja-JP" dirty="0"/>
          </a:p>
          <a:p>
            <a:pPr lvl="1"/>
            <a:r>
              <a:rPr lang="ja-JP" altLang="en-US" dirty="0"/>
              <a:t>今年は</a:t>
            </a:r>
            <a:r>
              <a:rPr lang="en-US" altLang="ja-JP" dirty="0" err="1"/>
              <a:t>WiFi</a:t>
            </a:r>
            <a:r>
              <a:rPr lang="ja-JP" altLang="en-US" dirty="0"/>
              <a:t>モジュール（</a:t>
            </a:r>
            <a:r>
              <a:rPr lang="en-US" altLang="ja-JP" dirty="0"/>
              <a:t>ESP32-AT</a:t>
            </a:r>
            <a:r>
              <a:rPr lang="ja-JP" altLang="en-US" dirty="0"/>
              <a:t>）に依存せず、</a:t>
            </a:r>
            <a:r>
              <a:rPr lang="en-US" altLang="ja-JP" dirty="0"/>
              <a:t>EK-RA8D1</a:t>
            </a:r>
            <a:r>
              <a:rPr lang="ja-JP" altLang="en-US" dirty="0"/>
              <a:t>内蔵</a:t>
            </a:r>
            <a:r>
              <a:rPr lang="en-US" altLang="ja-JP" dirty="0"/>
              <a:t>Ethernet</a:t>
            </a:r>
            <a:r>
              <a:rPr lang="ja-JP" altLang="en-US" dirty="0"/>
              <a:t>を直接活用。</a:t>
            </a:r>
            <a:endParaRPr lang="en-US" altLang="ja-JP" dirty="0"/>
          </a:p>
          <a:p>
            <a:pPr lvl="1"/>
            <a:r>
              <a:rPr lang="en-US" altLang="ja-JP" dirty="0"/>
              <a:t>T-Kernel</a:t>
            </a:r>
            <a:r>
              <a:rPr lang="ja-JP" altLang="en-US" dirty="0"/>
              <a:t>ドライバ仕様に従い</a:t>
            </a:r>
            <a:r>
              <a:rPr lang="en-US" altLang="ja-JP" dirty="0"/>
              <a:t>UDP</a:t>
            </a:r>
            <a:r>
              <a:rPr lang="ja-JP" altLang="en-US" dirty="0"/>
              <a:t>送信を実装し、</a:t>
            </a:r>
            <a:r>
              <a:rPr lang="en-US" altLang="ja-JP" dirty="0"/>
              <a:t>LAN</a:t>
            </a:r>
            <a:r>
              <a:rPr lang="ja-JP" altLang="en-US" dirty="0"/>
              <a:t>内でのデータ連携を実現。</a:t>
            </a:r>
            <a:endParaRPr kumimoji="1" lang="en-US" altLang="ja-JP" dirty="0"/>
          </a:p>
          <a:p>
            <a:pPr>
              <a:buFont typeface="Wingdings" panose="05000000000000000000" pitchFamily="2" charset="2"/>
              <a:buChar char="Ø"/>
            </a:pPr>
            <a:r>
              <a:rPr lang="ja-JP" altLang="en-US" dirty="0"/>
              <a:t>ログ出力</a:t>
            </a:r>
            <a:endParaRPr lang="en-US" altLang="ja-JP" dirty="0"/>
          </a:p>
          <a:p>
            <a:pPr lvl="1"/>
            <a:r>
              <a:rPr lang="ja-JP" altLang="en-US" dirty="0"/>
              <a:t>去年は</a:t>
            </a:r>
            <a:r>
              <a:rPr lang="en-US" altLang="ja-JP" dirty="0"/>
              <a:t>UART</a:t>
            </a:r>
            <a:r>
              <a:rPr lang="ja-JP" altLang="en-US" dirty="0"/>
              <a:t>＋</a:t>
            </a:r>
            <a:r>
              <a:rPr lang="en-US" altLang="ja-JP" dirty="0"/>
              <a:t>USB</a:t>
            </a:r>
            <a:r>
              <a:rPr lang="ja-JP" altLang="en-US" dirty="0"/>
              <a:t>変換器を利用したが、今年は</a:t>
            </a:r>
            <a:r>
              <a:rPr lang="en-US" altLang="ja-JP" dirty="0"/>
              <a:t>SEGGER RTT</a:t>
            </a:r>
            <a:r>
              <a:rPr lang="ja-JP" altLang="en-US" dirty="0"/>
              <a:t>を活用。</a:t>
            </a:r>
            <a:endParaRPr lang="en-US" altLang="ja-JP" dirty="0"/>
          </a:p>
          <a:p>
            <a:pPr lvl="1"/>
            <a:r>
              <a:rPr lang="ja-JP" altLang="en-US" dirty="0"/>
              <a:t>外付け機材が不要となり、開発効率とデバッグ容易性が大幅に向上した。</a:t>
            </a:r>
            <a:endParaRPr lang="en-US" altLang="ja-JP" dirty="0"/>
          </a:p>
          <a:p>
            <a:pPr marL="0" indent="0">
              <a:buNone/>
            </a:pPr>
            <a:endParaRPr kumimoji="1" lang="ja-JP" altLang="en-US" dirty="0"/>
          </a:p>
        </p:txBody>
      </p:sp>
      <p:sp>
        <p:nvSpPr>
          <p:cNvPr id="4" name="フッター プレースホルダー 3">
            <a:extLst>
              <a:ext uri="{FF2B5EF4-FFF2-40B4-BE49-F238E27FC236}">
                <a16:creationId xmlns:a16="http://schemas.microsoft.com/office/drawing/2014/main" id="{5E25CE3D-13CE-CF4C-D7D0-27A9D22C6710}"/>
              </a:ext>
            </a:extLst>
          </p:cNvPr>
          <p:cNvSpPr>
            <a:spLocks noGrp="1"/>
          </p:cNvSpPr>
          <p:nvPr>
            <p:ph type="ftr" sz="quarter" idx="11"/>
          </p:nvPr>
        </p:nvSpPr>
        <p:spPr/>
        <p:txBody>
          <a:bodyPr/>
          <a:lstStyle/>
          <a:p>
            <a:r>
              <a:rPr kumimoji="1" lang="en-US" altLang="ja-JP"/>
              <a:t>Copyright 2025 Things Base</a:t>
            </a:r>
            <a:endParaRPr kumimoji="1" lang="ja-JP" altLang="en-US" dirty="0"/>
          </a:p>
        </p:txBody>
      </p:sp>
      <p:sp>
        <p:nvSpPr>
          <p:cNvPr id="5" name="スライド番号プレースホルダー 4">
            <a:extLst>
              <a:ext uri="{FF2B5EF4-FFF2-40B4-BE49-F238E27FC236}">
                <a16:creationId xmlns:a16="http://schemas.microsoft.com/office/drawing/2014/main" id="{71168EE0-DDCE-50F0-D637-849B7DDF5F8D}"/>
              </a:ext>
            </a:extLst>
          </p:cNvPr>
          <p:cNvSpPr>
            <a:spLocks noGrp="1"/>
          </p:cNvSpPr>
          <p:nvPr>
            <p:ph type="sldNum" sz="quarter" idx="12"/>
          </p:nvPr>
        </p:nvSpPr>
        <p:spPr/>
        <p:txBody>
          <a:bodyPr/>
          <a:lstStyle/>
          <a:p>
            <a:fld id="{1FB98C20-25CD-4F77-9B8F-26BB31769BDC}" type="slidenum">
              <a:rPr kumimoji="1" lang="ja-JP" altLang="en-US" smtClean="0"/>
              <a:t>6</a:t>
            </a:fld>
            <a:endParaRPr kumimoji="1" lang="ja-JP" altLang="en-US"/>
          </a:p>
        </p:txBody>
      </p:sp>
    </p:spTree>
    <p:extLst>
      <p:ext uri="{BB962C8B-B14F-4D97-AF65-F5344CB8AC3E}">
        <p14:creationId xmlns:p14="http://schemas.microsoft.com/office/powerpoint/2010/main" val="7111737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6236F-5154-5BE3-AE9A-1AFFFB0F81E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9A2B9B7-8F93-D0CF-44CE-8CD44941AA8D}"/>
              </a:ext>
            </a:extLst>
          </p:cNvPr>
          <p:cNvSpPr>
            <a:spLocks noGrp="1"/>
          </p:cNvSpPr>
          <p:nvPr>
            <p:ph type="title"/>
          </p:nvPr>
        </p:nvSpPr>
        <p:spPr/>
        <p:txBody>
          <a:bodyPr>
            <a:normAutofit fontScale="90000"/>
          </a:bodyPr>
          <a:lstStyle/>
          <a:p>
            <a:r>
              <a:rPr kumimoji="1" lang="ja-JP" altLang="en-US" dirty="0"/>
              <a:t>５．</a:t>
            </a:r>
            <a:r>
              <a:rPr lang="ja-JP" altLang="en-US" dirty="0"/>
              <a:t>課題</a:t>
            </a:r>
            <a:endParaRPr kumimoji="1" lang="ja-JP" altLang="en-US" dirty="0"/>
          </a:p>
        </p:txBody>
      </p:sp>
      <p:sp>
        <p:nvSpPr>
          <p:cNvPr id="3" name="コンテンツ プレースホルダー 2">
            <a:extLst>
              <a:ext uri="{FF2B5EF4-FFF2-40B4-BE49-F238E27FC236}">
                <a16:creationId xmlns:a16="http://schemas.microsoft.com/office/drawing/2014/main" id="{C66CB8F2-DD99-147A-0F49-29EA2F3A9D10}"/>
              </a:ext>
            </a:extLst>
          </p:cNvPr>
          <p:cNvSpPr>
            <a:spLocks noGrp="1"/>
          </p:cNvSpPr>
          <p:nvPr>
            <p:ph idx="1"/>
          </p:nvPr>
        </p:nvSpPr>
        <p:spPr/>
        <p:txBody>
          <a:bodyPr>
            <a:normAutofit/>
          </a:bodyPr>
          <a:lstStyle/>
          <a:p>
            <a:pPr>
              <a:buFont typeface="Wingdings" panose="05000000000000000000" pitchFamily="2" charset="2"/>
              <a:buChar char="Ø"/>
            </a:pPr>
            <a:r>
              <a:rPr kumimoji="1" lang="ja-JP" altLang="en-US" dirty="0"/>
              <a:t>判定精度の限界</a:t>
            </a:r>
            <a:endParaRPr kumimoji="1" lang="en-US" altLang="ja-JP" dirty="0"/>
          </a:p>
          <a:p>
            <a:pPr lvl="1"/>
            <a:r>
              <a:rPr kumimoji="1" lang="ja-JP" altLang="en-US" dirty="0"/>
              <a:t>危険状態を「安全」と誤判定するケースがあり、学習データや前処理精度が課題。</a:t>
            </a:r>
            <a:endParaRPr kumimoji="1" lang="en-US" altLang="ja-JP" dirty="0"/>
          </a:p>
          <a:p>
            <a:pPr lvl="1"/>
            <a:r>
              <a:rPr kumimoji="1" lang="ja-JP" altLang="en-US" dirty="0"/>
              <a:t>ノイズキャンセルや特徴点抽出手法を改良する余地がある。</a:t>
            </a:r>
            <a:endParaRPr kumimoji="1" lang="en-US" altLang="ja-JP" dirty="0"/>
          </a:p>
          <a:p>
            <a:pPr>
              <a:buFont typeface="Wingdings" panose="05000000000000000000" pitchFamily="2" charset="2"/>
              <a:buChar char="Ø"/>
            </a:pPr>
            <a:r>
              <a:rPr kumimoji="1" lang="ja-JP" altLang="en-US" dirty="0"/>
              <a:t>電源・通信の制約</a:t>
            </a:r>
            <a:endParaRPr kumimoji="1" lang="en-US" altLang="ja-JP" dirty="0"/>
          </a:p>
          <a:p>
            <a:pPr lvl="1"/>
            <a:r>
              <a:rPr kumimoji="1" lang="ja-JP" altLang="en-US" dirty="0"/>
              <a:t>無電源地帯や通信不感地帯での設置には、省電力化・広域無線化が不可欠。</a:t>
            </a:r>
            <a:endParaRPr kumimoji="1" lang="en-US" altLang="ja-JP" dirty="0"/>
          </a:p>
          <a:p>
            <a:pPr lvl="1"/>
            <a:r>
              <a:rPr kumimoji="1" lang="ja-JP" altLang="en-US" dirty="0"/>
              <a:t>全固体電池や</a:t>
            </a:r>
            <a:r>
              <a:rPr kumimoji="1" lang="en-US" altLang="ja-JP" dirty="0"/>
              <a:t>LPWA</a:t>
            </a:r>
            <a:r>
              <a:rPr kumimoji="1" lang="ja-JP" altLang="en-US" dirty="0"/>
              <a:t>の普及により、解決への道筋は見えつつある。</a:t>
            </a:r>
            <a:endParaRPr kumimoji="1" lang="en-US" altLang="ja-JP" dirty="0"/>
          </a:p>
          <a:p>
            <a:pPr>
              <a:buFont typeface="Wingdings" panose="05000000000000000000" pitchFamily="2" charset="2"/>
              <a:buChar char="Ø"/>
            </a:pPr>
            <a:r>
              <a:rPr kumimoji="1" lang="ja-JP" altLang="en-US" dirty="0"/>
              <a:t>環境適応性</a:t>
            </a:r>
            <a:endParaRPr kumimoji="1" lang="en-US" altLang="ja-JP" dirty="0"/>
          </a:p>
          <a:p>
            <a:pPr lvl="1"/>
            <a:r>
              <a:rPr kumimoji="1" lang="ja-JP" altLang="en-US" dirty="0"/>
              <a:t>外乱振動や気象条件の変動に対するロバスト性を高める必要がある。</a:t>
            </a:r>
            <a:endParaRPr kumimoji="1" lang="en-US" altLang="ja-JP" dirty="0"/>
          </a:p>
          <a:p>
            <a:pPr>
              <a:buFont typeface="Wingdings" panose="05000000000000000000" pitchFamily="2" charset="2"/>
              <a:buChar char="Ø"/>
            </a:pPr>
            <a:r>
              <a:rPr kumimoji="1" lang="ja-JP" altLang="en-US" dirty="0"/>
              <a:t>リアルタイム性との両立</a:t>
            </a:r>
            <a:endParaRPr kumimoji="1" lang="en-US" altLang="ja-JP" dirty="0"/>
          </a:p>
          <a:p>
            <a:pPr lvl="1"/>
            <a:r>
              <a:rPr kumimoji="1" lang="ja-JP" altLang="en-US" dirty="0"/>
              <a:t>処理負荷を抑えつつ高精度な推論を行うバランスが今後の技術課題。</a:t>
            </a:r>
          </a:p>
        </p:txBody>
      </p:sp>
      <p:sp>
        <p:nvSpPr>
          <p:cNvPr id="4" name="フッター プレースホルダー 3">
            <a:extLst>
              <a:ext uri="{FF2B5EF4-FFF2-40B4-BE49-F238E27FC236}">
                <a16:creationId xmlns:a16="http://schemas.microsoft.com/office/drawing/2014/main" id="{0A47363A-B797-F291-E00F-3D8B8FE48A81}"/>
              </a:ext>
            </a:extLst>
          </p:cNvPr>
          <p:cNvSpPr>
            <a:spLocks noGrp="1"/>
          </p:cNvSpPr>
          <p:nvPr>
            <p:ph type="ftr" sz="quarter" idx="11"/>
          </p:nvPr>
        </p:nvSpPr>
        <p:spPr/>
        <p:txBody>
          <a:bodyPr/>
          <a:lstStyle/>
          <a:p>
            <a:r>
              <a:rPr kumimoji="1" lang="en-US" altLang="ja-JP"/>
              <a:t>Copyright 2025 Things Base</a:t>
            </a:r>
            <a:endParaRPr kumimoji="1" lang="ja-JP" altLang="en-US" dirty="0"/>
          </a:p>
        </p:txBody>
      </p:sp>
      <p:sp>
        <p:nvSpPr>
          <p:cNvPr id="5" name="スライド番号プレースホルダー 4">
            <a:extLst>
              <a:ext uri="{FF2B5EF4-FFF2-40B4-BE49-F238E27FC236}">
                <a16:creationId xmlns:a16="http://schemas.microsoft.com/office/drawing/2014/main" id="{1A7B94A6-02F7-AD25-0BB7-53B508CDC2A7}"/>
              </a:ext>
            </a:extLst>
          </p:cNvPr>
          <p:cNvSpPr>
            <a:spLocks noGrp="1"/>
          </p:cNvSpPr>
          <p:nvPr>
            <p:ph type="sldNum" sz="quarter" idx="12"/>
          </p:nvPr>
        </p:nvSpPr>
        <p:spPr/>
        <p:txBody>
          <a:bodyPr/>
          <a:lstStyle/>
          <a:p>
            <a:fld id="{1FB98C20-25CD-4F77-9B8F-26BB31769BDC}" type="slidenum">
              <a:rPr kumimoji="1" lang="ja-JP" altLang="en-US" smtClean="0"/>
              <a:t>7</a:t>
            </a:fld>
            <a:endParaRPr kumimoji="1" lang="ja-JP" altLang="en-US"/>
          </a:p>
        </p:txBody>
      </p:sp>
    </p:spTree>
    <p:extLst>
      <p:ext uri="{BB962C8B-B14F-4D97-AF65-F5344CB8AC3E}">
        <p14:creationId xmlns:p14="http://schemas.microsoft.com/office/powerpoint/2010/main" val="20939320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A07DA-DD1A-C75E-CCD8-D1832E7121B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F94F4C9-E297-992E-EC03-E9202D2E59C6}"/>
              </a:ext>
            </a:extLst>
          </p:cNvPr>
          <p:cNvSpPr>
            <a:spLocks noGrp="1"/>
          </p:cNvSpPr>
          <p:nvPr>
            <p:ph type="title"/>
          </p:nvPr>
        </p:nvSpPr>
        <p:spPr/>
        <p:txBody>
          <a:bodyPr>
            <a:normAutofit fontScale="90000"/>
          </a:bodyPr>
          <a:lstStyle/>
          <a:p>
            <a:r>
              <a:rPr lang="ja-JP" altLang="en-US" dirty="0"/>
              <a:t>６</a:t>
            </a:r>
            <a:r>
              <a:rPr kumimoji="1" lang="ja-JP" altLang="en-US" dirty="0"/>
              <a:t>．</a:t>
            </a:r>
            <a:r>
              <a:rPr lang="ja-JP" altLang="en-US" dirty="0"/>
              <a:t>その他の取り組み</a:t>
            </a:r>
            <a:endParaRPr kumimoji="1" lang="ja-JP" altLang="en-US" dirty="0"/>
          </a:p>
        </p:txBody>
      </p:sp>
      <p:sp>
        <p:nvSpPr>
          <p:cNvPr id="3" name="コンテンツ プレースホルダー 2">
            <a:extLst>
              <a:ext uri="{FF2B5EF4-FFF2-40B4-BE49-F238E27FC236}">
                <a16:creationId xmlns:a16="http://schemas.microsoft.com/office/drawing/2014/main" id="{2A565642-6223-C0CA-64D0-CD9EF717B388}"/>
              </a:ext>
            </a:extLst>
          </p:cNvPr>
          <p:cNvSpPr>
            <a:spLocks noGrp="1"/>
          </p:cNvSpPr>
          <p:nvPr>
            <p:ph idx="1"/>
          </p:nvPr>
        </p:nvSpPr>
        <p:spPr/>
        <p:txBody>
          <a:bodyPr>
            <a:normAutofit lnSpcReduction="10000"/>
          </a:bodyPr>
          <a:lstStyle/>
          <a:p>
            <a:pPr>
              <a:buFont typeface="Wingdings" panose="05000000000000000000" pitchFamily="2" charset="2"/>
              <a:buChar char="Ø"/>
            </a:pPr>
            <a:r>
              <a:rPr kumimoji="1" lang="ja-JP" altLang="en-US" dirty="0"/>
              <a:t>疑似サーバ（</a:t>
            </a:r>
            <a:r>
              <a:rPr kumimoji="1" lang="en-US" altLang="ja-JP" dirty="0"/>
              <a:t>Raspberry Pi 3</a:t>
            </a:r>
            <a:r>
              <a:rPr kumimoji="1" lang="ja-JP" altLang="en-US" dirty="0"/>
              <a:t>）</a:t>
            </a:r>
            <a:endParaRPr kumimoji="1" lang="en-US" altLang="ja-JP" dirty="0"/>
          </a:p>
          <a:p>
            <a:pPr lvl="1"/>
            <a:r>
              <a:rPr kumimoji="1" lang="en-US" altLang="ja-JP" dirty="0"/>
              <a:t>LAN</a:t>
            </a:r>
            <a:r>
              <a:rPr kumimoji="1" lang="ja-JP" altLang="en-US" dirty="0"/>
              <a:t>内で</a:t>
            </a:r>
            <a:r>
              <a:rPr kumimoji="1" lang="en-US" altLang="ja-JP" dirty="0"/>
              <a:t>FFT</a:t>
            </a:r>
            <a:r>
              <a:rPr kumimoji="1" lang="ja-JP" altLang="en-US" dirty="0"/>
              <a:t>データと</a:t>
            </a:r>
            <a:r>
              <a:rPr kumimoji="1" lang="en-US" altLang="ja-JP" dirty="0"/>
              <a:t>16</a:t>
            </a:r>
            <a:r>
              <a:rPr kumimoji="1" lang="ja-JP" altLang="en-US" dirty="0"/>
              <a:t>次元特徴量を収集。</a:t>
            </a:r>
            <a:r>
              <a:rPr kumimoji="1" lang="en-US" altLang="ja-JP" dirty="0"/>
              <a:t>LED</a:t>
            </a:r>
            <a:r>
              <a:rPr kumimoji="1" lang="ja-JP" altLang="en-US" dirty="0"/>
              <a:t>を接続し、安全／危険をリアルタイム表示。</a:t>
            </a:r>
            <a:r>
              <a:rPr kumimoji="1" lang="en-US" altLang="ja-JP" dirty="0"/>
              <a:t>(python</a:t>
            </a:r>
            <a:r>
              <a:rPr kumimoji="1" lang="ja-JP" altLang="en-US" dirty="0"/>
              <a:t>で記述</a:t>
            </a:r>
            <a:r>
              <a:rPr kumimoji="1" lang="en-US" altLang="ja-JP" dirty="0"/>
              <a:t>)</a:t>
            </a:r>
          </a:p>
          <a:p>
            <a:pPr>
              <a:buFont typeface="Wingdings" panose="05000000000000000000" pitchFamily="2" charset="2"/>
              <a:buChar char="Ø"/>
            </a:pPr>
            <a:r>
              <a:rPr kumimoji="1" lang="en-US" altLang="ja-JP" dirty="0"/>
              <a:t>PC</a:t>
            </a:r>
            <a:r>
              <a:rPr kumimoji="1" lang="ja-JP" altLang="en-US" dirty="0"/>
              <a:t>でのモデル構築</a:t>
            </a:r>
            <a:endParaRPr kumimoji="1" lang="en-US" altLang="ja-JP" dirty="0"/>
          </a:p>
          <a:p>
            <a:pPr lvl="1"/>
            <a:r>
              <a:rPr kumimoji="1" lang="en-US" altLang="ja-JP" dirty="0"/>
              <a:t>scikit-learn(python)</a:t>
            </a:r>
            <a:r>
              <a:rPr kumimoji="1" lang="ja-JP" altLang="en-US" dirty="0"/>
              <a:t>を用いて収集データから学習モデルを生成し、精度を検証。</a:t>
            </a:r>
            <a:endParaRPr kumimoji="1" lang="en-US" altLang="ja-JP" dirty="0"/>
          </a:p>
          <a:p>
            <a:pPr>
              <a:buFont typeface="Wingdings" panose="05000000000000000000" pitchFamily="2" charset="2"/>
              <a:buChar char="Ø"/>
            </a:pPr>
            <a:r>
              <a:rPr kumimoji="1" lang="ja-JP" altLang="en-US" dirty="0"/>
              <a:t>マイコン移植</a:t>
            </a:r>
            <a:endParaRPr kumimoji="1" lang="en-US" altLang="ja-JP" dirty="0"/>
          </a:p>
          <a:p>
            <a:pPr lvl="1"/>
            <a:r>
              <a:rPr kumimoji="1" lang="ja-JP" altLang="en-US" dirty="0"/>
              <a:t>学習済みモデルを</a:t>
            </a:r>
            <a:r>
              <a:rPr kumimoji="1" lang="en-US" altLang="ja-JP" dirty="0"/>
              <a:t>C</a:t>
            </a:r>
            <a:r>
              <a:rPr kumimoji="1" lang="ja-JP" altLang="en-US" dirty="0"/>
              <a:t>言語配列に変換し、</a:t>
            </a:r>
            <a:r>
              <a:rPr kumimoji="1" lang="en-US" altLang="ja-JP" dirty="0"/>
              <a:t>LGX-Shield</a:t>
            </a:r>
            <a:r>
              <a:rPr kumimoji="1" lang="ja-JP" altLang="en-US" dirty="0"/>
              <a:t>ソースに組込み。</a:t>
            </a:r>
            <a:r>
              <a:rPr kumimoji="1" lang="en-US" altLang="ja-JP" dirty="0"/>
              <a:t>EK-RA8D1</a:t>
            </a:r>
            <a:r>
              <a:rPr kumimoji="1" lang="ja-JP" altLang="en-US" dirty="0"/>
              <a:t>上で推論を完結。</a:t>
            </a:r>
            <a:endParaRPr kumimoji="1" lang="en-US" altLang="ja-JP" dirty="0"/>
          </a:p>
          <a:p>
            <a:pPr>
              <a:buFont typeface="Wingdings" panose="05000000000000000000" pitchFamily="2" charset="2"/>
              <a:buChar char="Ø"/>
            </a:pPr>
            <a:r>
              <a:rPr kumimoji="1" lang="ja-JP" altLang="en-US" dirty="0"/>
              <a:t>実証用片持ち梁</a:t>
            </a:r>
            <a:endParaRPr kumimoji="1" lang="en-US" altLang="ja-JP" dirty="0"/>
          </a:p>
          <a:p>
            <a:pPr lvl="1"/>
            <a:r>
              <a:rPr kumimoji="1" lang="en-US" altLang="ja-JP" dirty="0"/>
              <a:t>3D</a:t>
            </a:r>
            <a:r>
              <a:rPr kumimoji="1" lang="ja-JP" altLang="en-US" dirty="0"/>
              <a:t>プリンタで試験用梁を製作。</a:t>
            </a:r>
            <a:endParaRPr kumimoji="1" lang="en-US" altLang="ja-JP" dirty="0"/>
          </a:p>
          <a:p>
            <a:pPr marL="457200" lvl="1" indent="0">
              <a:buNone/>
            </a:pPr>
            <a:r>
              <a:rPr kumimoji="1" lang="ja-JP" altLang="en-US" dirty="0"/>
              <a:t>　</a:t>
            </a:r>
            <a:r>
              <a:rPr kumimoji="1" lang="en-US" altLang="ja-JP" dirty="0"/>
              <a:t>- </a:t>
            </a:r>
            <a:r>
              <a:rPr kumimoji="1" lang="ja-JP" altLang="en-US" dirty="0"/>
              <a:t>安全版：通常の梁</a:t>
            </a:r>
            <a:endParaRPr kumimoji="1" lang="en-US" altLang="ja-JP" dirty="0"/>
          </a:p>
          <a:p>
            <a:pPr marL="457200" lvl="1" indent="0">
              <a:buNone/>
            </a:pPr>
            <a:r>
              <a:rPr kumimoji="1" lang="ja-JP" altLang="en-US" dirty="0"/>
              <a:t>　</a:t>
            </a:r>
            <a:r>
              <a:rPr kumimoji="1" lang="en-US" altLang="ja-JP" dirty="0"/>
              <a:t>- </a:t>
            </a:r>
            <a:r>
              <a:rPr kumimoji="1" lang="ja-JP" altLang="en-US" dirty="0"/>
              <a:t>危険版：中央に</a:t>
            </a:r>
            <a:r>
              <a:rPr kumimoji="1" lang="en-US" altLang="ja-JP" dirty="0"/>
              <a:t>3</a:t>
            </a:r>
            <a:r>
              <a:rPr kumimoji="1" lang="ja-JP" altLang="en-US" dirty="0"/>
              <a:t>本の溝を加工</a:t>
            </a:r>
            <a:endParaRPr kumimoji="1" lang="en-US" altLang="ja-JP" dirty="0"/>
          </a:p>
          <a:p>
            <a:pPr marL="457200" lvl="1" indent="0">
              <a:buNone/>
            </a:pPr>
            <a:r>
              <a:rPr kumimoji="1" lang="ja-JP" altLang="en-US" dirty="0"/>
              <a:t>実際に振動を加えて、安全／危険の違いを確認。</a:t>
            </a:r>
          </a:p>
        </p:txBody>
      </p:sp>
      <p:sp>
        <p:nvSpPr>
          <p:cNvPr id="4" name="フッター プレースホルダー 3">
            <a:extLst>
              <a:ext uri="{FF2B5EF4-FFF2-40B4-BE49-F238E27FC236}">
                <a16:creationId xmlns:a16="http://schemas.microsoft.com/office/drawing/2014/main" id="{526FFB67-EA17-9314-7318-D500A644C07A}"/>
              </a:ext>
            </a:extLst>
          </p:cNvPr>
          <p:cNvSpPr>
            <a:spLocks noGrp="1"/>
          </p:cNvSpPr>
          <p:nvPr>
            <p:ph type="ftr" sz="quarter" idx="11"/>
          </p:nvPr>
        </p:nvSpPr>
        <p:spPr/>
        <p:txBody>
          <a:bodyPr/>
          <a:lstStyle/>
          <a:p>
            <a:r>
              <a:rPr kumimoji="1" lang="en-US" altLang="ja-JP" dirty="0"/>
              <a:t>Copyright 2025 Things Base</a:t>
            </a:r>
            <a:endParaRPr kumimoji="1" lang="ja-JP" altLang="en-US" dirty="0"/>
          </a:p>
        </p:txBody>
      </p:sp>
      <p:sp>
        <p:nvSpPr>
          <p:cNvPr id="5" name="スライド番号プレースホルダー 4">
            <a:extLst>
              <a:ext uri="{FF2B5EF4-FFF2-40B4-BE49-F238E27FC236}">
                <a16:creationId xmlns:a16="http://schemas.microsoft.com/office/drawing/2014/main" id="{C4799E7D-5E41-6124-D493-1F88CCA18BDD}"/>
              </a:ext>
            </a:extLst>
          </p:cNvPr>
          <p:cNvSpPr>
            <a:spLocks noGrp="1"/>
          </p:cNvSpPr>
          <p:nvPr>
            <p:ph type="sldNum" sz="quarter" idx="12"/>
          </p:nvPr>
        </p:nvSpPr>
        <p:spPr/>
        <p:txBody>
          <a:bodyPr/>
          <a:lstStyle/>
          <a:p>
            <a:fld id="{1FB98C20-25CD-4F77-9B8F-26BB31769BDC}" type="slidenum">
              <a:rPr kumimoji="1" lang="ja-JP" altLang="en-US" smtClean="0"/>
              <a:t>8</a:t>
            </a:fld>
            <a:endParaRPr kumimoji="1" lang="ja-JP" altLang="en-US"/>
          </a:p>
        </p:txBody>
      </p:sp>
      <p:pic>
        <p:nvPicPr>
          <p:cNvPr id="7" name="Picture 2" descr="Python 垂直 ロゴ - ソーシャルメディアとロゴ アイコン">
            <a:extLst>
              <a:ext uri="{FF2B5EF4-FFF2-40B4-BE49-F238E27FC236}">
                <a16:creationId xmlns:a16="http://schemas.microsoft.com/office/drawing/2014/main" id="{0EECBFBF-AB5B-3FEF-FC35-634515D11C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53799" y="1232347"/>
            <a:ext cx="612305" cy="68450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Python 垂直 ロゴ - ソーシャルメディアとロゴ アイコン">
            <a:extLst>
              <a:ext uri="{FF2B5EF4-FFF2-40B4-BE49-F238E27FC236}">
                <a16:creationId xmlns:a16="http://schemas.microsoft.com/office/drawing/2014/main" id="{3D8673D8-80D4-817B-8196-FC34500841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53800" y="2362298"/>
            <a:ext cx="612305" cy="684509"/>
          </a:xfrm>
          <a:prstGeom prst="rect">
            <a:avLst/>
          </a:prstGeom>
          <a:noFill/>
          <a:extLst>
            <a:ext uri="{909E8E84-426E-40DD-AFC4-6F175D3DCCD1}">
              <a14:hiddenFill xmlns:a14="http://schemas.microsoft.com/office/drawing/2010/main">
                <a:solidFill>
                  <a:srgbClr val="FFFFFF"/>
                </a:solidFill>
              </a14:hiddenFill>
            </a:ext>
          </a:extLst>
        </p:spPr>
      </p:pic>
      <p:pic>
        <p:nvPicPr>
          <p:cNvPr id="9" name="図 8">
            <a:extLst>
              <a:ext uri="{FF2B5EF4-FFF2-40B4-BE49-F238E27FC236}">
                <a16:creationId xmlns:a16="http://schemas.microsoft.com/office/drawing/2014/main" id="{9FEAE249-D450-D7C9-708E-2763433188FE}"/>
              </a:ext>
            </a:extLst>
          </p:cNvPr>
          <p:cNvPicPr>
            <a:picLocks noChangeAspect="1"/>
          </p:cNvPicPr>
          <p:nvPr/>
        </p:nvPicPr>
        <p:blipFill>
          <a:blip r:embed="rId3"/>
          <a:stretch>
            <a:fillRect/>
          </a:stretch>
        </p:blipFill>
        <p:spPr>
          <a:xfrm>
            <a:off x="11182821" y="3403541"/>
            <a:ext cx="684856" cy="815305"/>
          </a:xfrm>
          <a:prstGeom prst="rect">
            <a:avLst/>
          </a:prstGeom>
        </p:spPr>
      </p:pic>
      <p:pic>
        <p:nvPicPr>
          <p:cNvPr id="11" name="図 10">
            <a:extLst>
              <a:ext uri="{FF2B5EF4-FFF2-40B4-BE49-F238E27FC236}">
                <a16:creationId xmlns:a16="http://schemas.microsoft.com/office/drawing/2014/main" id="{0E1C806C-82B7-F5D4-09B6-7F78A0C1A628}"/>
              </a:ext>
            </a:extLst>
          </p:cNvPr>
          <p:cNvPicPr>
            <a:picLocks noChangeAspect="1"/>
          </p:cNvPicPr>
          <p:nvPr/>
        </p:nvPicPr>
        <p:blipFill>
          <a:blip r:embed="rId4"/>
          <a:stretch>
            <a:fillRect/>
          </a:stretch>
        </p:blipFill>
        <p:spPr>
          <a:xfrm>
            <a:off x="8269169" y="4437921"/>
            <a:ext cx="1653088" cy="1848578"/>
          </a:xfrm>
          <a:prstGeom prst="rect">
            <a:avLst/>
          </a:prstGeom>
        </p:spPr>
      </p:pic>
    </p:spTree>
    <p:extLst>
      <p:ext uri="{BB962C8B-B14F-4D97-AF65-F5344CB8AC3E}">
        <p14:creationId xmlns:p14="http://schemas.microsoft.com/office/powerpoint/2010/main" val="30838778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4DB663-0419-7CEA-F781-0A734CA9E1DC}"/>
            </a:ext>
          </a:extLst>
        </p:cNvPr>
        <p:cNvGrpSpPr/>
        <p:nvPr/>
      </p:nvGrpSpPr>
      <p:grpSpPr>
        <a:xfrm>
          <a:off x="0" y="0"/>
          <a:ext cx="0" cy="0"/>
          <a:chOff x="0" y="0"/>
          <a:chExt cx="0" cy="0"/>
        </a:xfrm>
      </p:grpSpPr>
      <p:sp>
        <p:nvSpPr>
          <p:cNvPr id="6" name="楕円 5">
            <a:extLst>
              <a:ext uri="{FF2B5EF4-FFF2-40B4-BE49-F238E27FC236}">
                <a16:creationId xmlns:a16="http://schemas.microsoft.com/office/drawing/2014/main" id="{0A8A2144-2826-148F-B5A5-5B5516DF9EFB}"/>
              </a:ext>
            </a:extLst>
          </p:cNvPr>
          <p:cNvSpPr/>
          <p:nvPr/>
        </p:nvSpPr>
        <p:spPr>
          <a:xfrm>
            <a:off x="1485900" y="4876800"/>
            <a:ext cx="9020175" cy="1409699"/>
          </a:xfrm>
          <a:prstGeom prst="ellipse">
            <a:avLst/>
          </a:prstGeom>
          <a:solidFill>
            <a:schemeClr val="accent6">
              <a:lumMod val="40000"/>
              <a:lumOff val="6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97ACCC36-849C-3FCE-6EAD-8C781BCCF3E4}"/>
              </a:ext>
            </a:extLst>
          </p:cNvPr>
          <p:cNvSpPr>
            <a:spLocks noGrp="1"/>
          </p:cNvSpPr>
          <p:nvPr>
            <p:ph type="title"/>
          </p:nvPr>
        </p:nvSpPr>
        <p:spPr/>
        <p:txBody>
          <a:bodyPr>
            <a:normAutofit fontScale="90000"/>
          </a:bodyPr>
          <a:lstStyle/>
          <a:p>
            <a:r>
              <a:rPr kumimoji="1" lang="ja-JP" altLang="en-US" dirty="0"/>
              <a:t>７．</a:t>
            </a:r>
            <a:r>
              <a:rPr lang="ja-JP" altLang="en-US" dirty="0"/>
              <a:t>未来社会ビジョン</a:t>
            </a:r>
            <a:endParaRPr kumimoji="1" lang="ja-JP" altLang="en-US" dirty="0"/>
          </a:p>
        </p:txBody>
      </p:sp>
      <p:sp>
        <p:nvSpPr>
          <p:cNvPr id="3" name="コンテンツ プレースホルダー 2">
            <a:extLst>
              <a:ext uri="{FF2B5EF4-FFF2-40B4-BE49-F238E27FC236}">
                <a16:creationId xmlns:a16="http://schemas.microsoft.com/office/drawing/2014/main" id="{64F967FF-3B3A-DB1C-F791-512FB7E30CE9}"/>
              </a:ext>
            </a:extLst>
          </p:cNvPr>
          <p:cNvSpPr>
            <a:spLocks noGrp="1"/>
          </p:cNvSpPr>
          <p:nvPr>
            <p:ph idx="1"/>
          </p:nvPr>
        </p:nvSpPr>
        <p:spPr/>
        <p:txBody>
          <a:bodyPr/>
          <a:lstStyle/>
          <a:p>
            <a:r>
              <a:rPr kumimoji="1" lang="ja-JP" altLang="en-US" dirty="0"/>
              <a:t>橋梁点検は長らく「経験と勘」に依存してきた。</a:t>
            </a:r>
            <a:endParaRPr kumimoji="1" lang="en-US" altLang="ja-JP" dirty="0"/>
          </a:p>
          <a:p>
            <a:r>
              <a:rPr kumimoji="1" lang="en-US" altLang="ja-JP" dirty="0"/>
              <a:t>LGX-Shield </a:t>
            </a:r>
            <a:r>
              <a:rPr kumimoji="1" lang="ja-JP" altLang="en-US" dirty="0"/>
              <a:t>は、</a:t>
            </a:r>
            <a:r>
              <a:rPr kumimoji="1" lang="en-US" altLang="ja-JP" dirty="0"/>
              <a:t>AI</a:t>
            </a:r>
            <a:r>
              <a:rPr kumimoji="1" lang="ja-JP" altLang="en-US" dirty="0"/>
              <a:t>と</a:t>
            </a:r>
            <a:r>
              <a:rPr kumimoji="1" lang="en-US" altLang="ja-JP" dirty="0"/>
              <a:t>IoT</a:t>
            </a:r>
            <a:r>
              <a:rPr kumimoji="1" lang="ja-JP" altLang="en-US" dirty="0"/>
              <a:t>により「安全性を数値化し、客観的に可視化する」仕組みを提示した。</a:t>
            </a:r>
            <a:endParaRPr kumimoji="1" lang="en-US" altLang="ja-JP" dirty="0"/>
          </a:p>
          <a:p>
            <a:r>
              <a:rPr kumimoji="1" lang="ja-JP" altLang="en-US" dirty="0"/>
              <a:t>本システムは橋梁に限らず、道路・トンネル・ダム・送電網など、公共インフラ全般に応用可能。</a:t>
            </a:r>
            <a:endParaRPr kumimoji="1" lang="en-US" altLang="ja-JP" dirty="0"/>
          </a:p>
          <a:p>
            <a:r>
              <a:rPr kumimoji="1" lang="ja-JP" altLang="en-US" dirty="0"/>
              <a:t>さらに工場設備の予防保全へも展開でき、</a:t>
            </a:r>
            <a:r>
              <a:rPr kumimoji="1" lang="ja-JP" altLang="en-US" b="1" dirty="0">
                <a:solidFill>
                  <a:srgbClr val="0000FF"/>
                </a:solidFill>
              </a:rPr>
              <a:t>少子高齢化による人手不足や技術伝承の課題を補う基盤技術</a:t>
            </a:r>
            <a:r>
              <a:rPr kumimoji="1" lang="ja-JP" altLang="en-US" dirty="0"/>
              <a:t> となり得る。</a:t>
            </a:r>
            <a:endParaRPr kumimoji="1" lang="en-US" altLang="ja-JP" dirty="0"/>
          </a:p>
          <a:p>
            <a:pPr marL="0" indent="0">
              <a:buNone/>
            </a:pPr>
            <a:endParaRPr kumimoji="1" lang="en-US" altLang="ja-JP" dirty="0"/>
          </a:p>
          <a:p>
            <a:pPr marL="0" indent="0" algn="ctr">
              <a:buNone/>
            </a:pPr>
            <a:r>
              <a:rPr kumimoji="1" lang="en-US" altLang="ja-JP" sz="4000" b="1" dirty="0">
                <a:solidFill>
                  <a:srgbClr val="00B050"/>
                </a:solidFill>
              </a:rPr>
              <a:t>TRON×AI</a:t>
            </a:r>
            <a:r>
              <a:rPr kumimoji="1" lang="ja-JP" altLang="en-US" sz="4000" b="1" dirty="0">
                <a:solidFill>
                  <a:srgbClr val="00B050"/>
                </a:solidFill>
              </a:rPr>
              <a:t>が切り拓くのは、</a:t>
            </a:r>
            <a:endParaRPr kumimoji="1" lang="en-US" altLang="ja-JP" sz="4000" b="1" dirty="0">
              <a:solidFill>
                <a:srgbClr val="00B050"/>
              </a:solidFill>
            </a:endParaRPr>
          </a:p>
          <a:p>
            <a:pPr marL="0" indent="0" algn="ctr">
              <a:buNone/>
            </a:pPr>
            <a:r>
              <a:rPr kumimoji="1" lang="ja-JP" altLang="en-US" sz="4000" b="1" dirty="0">
                <a:solidFill>
                  <a:srgbClr val="00B050"/>
                </a:solidFill>
              </a:rPr>
              <a:t>安心・安全で持続可能な未来社会！</a:t>
            </a:r>
            <a:endParaRPr kumimoji="1" lang="ja-JP" altLang="en-US" sz="4000" dirty="0">
              <a:solidFill>
                <a:srgbClr val="00B050"/>
              </a:solidFill>
            </a:endParaRPr>
          </a:p>
        </p:txBody>
      </p:sp>
      <p:sp>
        <p:nvSpPr>
          <p:cNvPr id="4" name="フッター プレースホルダー 3">
            <a:extLst>
              <a:ext uri="{FF2B5EF4-FFF2-40B4-BE49-F238E27FC236}">
                <a16:creationId xmlns:a16="http://schemas.microsoft.com/office/drawing/2014/main" id="{A2E9F721-ECD0-F64E-DB65-3681F5358E92}"/>
              </a:ext>
            </a:extLst>
          </p:cNvPr>
          <p:cNvSpPr>
            <a:spLocks noGrp="1"/>
          </p:cNvSpPr>
          <p:nvPr>
            <p:ph type="ftr" sz="quarter" idx="11"/>
          </p:nvPr>
        </p:nvSpPr>
        <p:spPr/>
        <p:txBody>
          <a:bodyPr/>
          <a:lstStyle/>
          <a:p>
            <a:r>
              <a:rPr kumimoji="1" lang="en-US" altLang="ja-JP"/>
              <a:t>Copyright 2025 Things Base</a:t>
            </a:r>
            <a:endParaRPr kumimoji="1" lang="ja-JP" altLang="en-US" dirty="0"/>
          </a:p>
        </p:txBody>
      </p:sp>
      <p:sp>
        <p:nvSpPr>
          <p:cNvPr id="5" name="スライド番号プレースホルダー 4">
            <a:extLst>
              <a:ext uri="{FF2B5EF4-FFF2-40B4-BE49-F238E27FC236}">
                <a16:creationId xmlns:a16="http://schemas.microsoft.com/office/drawing/2014/main" id="{01922DD1-B30A-49BF-CEB2-A18EC4CBA650}"/>
              </a:ext>
            </a:extLst>
          </p:cNvPr>
          <p:cNvSpPr>
            <a:spLocks noGrp="1"/>
          </p:cNvSpPr>
          <p:nvPr>
            <p:ph type="sldNum" sz="quarter" idx="12"/>
          </p:nvPr>
        </p:nvSpPr>
        <p:spPr/>
        <p:txBody>
          <a:bodyPr/>
          <a:lstStyle/>
          <a:p>
            <a:fld id="{1FB98C20-25CD-4F77-9B8F-26BB31769BDC}" type="slidenum">
              <a:rPr kumimoji="1" lang="ja-JP" altLang="en-US" smtClean="0"/>
              <a:t>9</a:t>
            </a:fld>
            <a:endParaRPr kumimoji="1" lang="ja-JP" altLang="en-US" dirty="0"/>
          </a:p>
        </p:txBody>
      </p:sp>
    </p:spTree>
    <p:extLst>
      <p:ext uri="{BB962C8B-B14F-4D97-AF65-F5344CB8AC3E}">
        <p14:creationId xmlns:p14="http://schemas.microsoft.com/office/powerpoint/2010/main" val="1312604993"/>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プレゼンテーション1" id="{50B7791D-C0F9-40A8-AFBD-06EECF225D61}" vid="{BA3A7E17-C523-4710-BC6B-2ED15B8C97AB}"/>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TB</Template>
  <TotalTime>304</TotalTime>
  <Words>1262</Words>
  <Application>Microsoft Office PowerPoint</Application>
  <PresentationFormat>ワイド画面</PresentationFormat>
  <Paragraphs>156</Paragraphs>
  <Slides>9</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9</vt:i4>
      </vt:variant>
    </vt:vector>
  </HeadingPairs>
  <TitlesOfParts>
    <vt:vector size="15" baseType="lpstr">
      <vt:lpstr>ＭＳ ゴシック</vt:lpstr>
      <vt:lpstr>游ゴシック</vt:lpstr>
      <vt:lpstr>游ゴシック Light</vt:lpstr>
      <vt:lpstr>Arial</vt:lpstr>
      <vt:lpstr>Wingdings</vt:lpstr>
      <vt:lpstr>Office テーマ</vt:lpstr>
      <vt:lpstr>LGX-Shield  ～加速度×AI で橋梁の異常をリアルタイム検出するエッジモニタ～ </vt:lpstr>
      <vt:lpstr>１．はじめに</vt:lpstr>
      <vt:lpstr>２ー１．システム構成</vt:lpstr>
      <vt:lpstr>２ー２．タスク、モジュール構成</vt:lpstr>
      <vt:lpstr>３．AI処理概要</vt:lpstr>
      <vt:lpstr>４．開発の工夫</vt:lpstr>
      <vt:lpstr>５．課題</vt:lpstr>
      <vt:lpstr>６．その他の取り組み</vt:lpstr>
      <vt:lpstr>７．未来社会ビジョン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Yoshiaki Sudo</dc:creator>
  <cp:lastModifiedBy>Yoshiaki Sudo</cp:lastModifiedBy>
  <cp:revision>2</cp:revision>
  <dcterms:created xsi:type="dcterms:W3CDTF">2025-09-29T12:05:55Z</dcterms:created>
  <dcterms:modified xsi:type="dcterms:W3CDTF">2025-09-29T17:10:50Z</dcterms:modified>
</cp:coreProperties>
</file>