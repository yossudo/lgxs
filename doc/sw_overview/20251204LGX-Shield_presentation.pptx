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5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80"/>
    <a:srgbClr val="339966"/>
    <a:srgbClr val="00CC99"/>
    <a:srgbClr val="3333CC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519" autoAdjust="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0CDD0-9733-422E-AC54-86856740C323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CC965-8CA2-4C70-BFA7-C332331E45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006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CC965-8CA2-4C70-BFA7-C332331E45D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8808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6B2A4C-BCE2-4C72-8E93-F2FEEF57E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44236C-66C4-431D-9D03-5C5D27DCF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682C8D-3A1A-45C0-9836-2B878D930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9D2A-E27C-4E11-A099-9F16E96CC4FE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6BEC56-AD7C-4DCA-AD72-0A10B8A4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FA6847-3B8B-43CD-85A8-68C08FDC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5775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7CC9E7-F6EF-4CA2-9D58-DA58D3CEB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41E2F5-6809-4B95-9084-D14522FFF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E87D06-5708-4C4E-B375-B2A27ADD0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AD09D-A4C5-4881-A5AC-B158F931A7DF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0BC861-CFB8-41E9-A58B-AD9B5F9AB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E5DAE-EB9D-4A8A-923F-A29552F1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8873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CBA09A-EFE2-47E3-9C9F-FC661E122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267D22-C908-4C9E-8CFE-85F31645E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F1ADD0-2D65-49AF-B45C-A95B530A9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844ED-7868-4FBA-A8A0-ECF5B13C5D4F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5D8D26-3703-4FEA-85B3-453696E4E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2C870D-B35D-4867-AEC9-0517F87A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9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AC4F03-FBFE-4951-BA2B-EA1DBBC0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60F79A-48DD-415C-AACE-7B654AEB7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F14B29-666D-43C9-88DE-5B316BFC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609F1D-55B8-402F-9BA3-AB63D72B8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9C7B-D5C5-4E52-AE83-0C71FC665AA6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F27D3A-905F-4FDD-835F-1A8530A7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CCB26C-C15A-4DFC-9054-478F91A3E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87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C01ED0-CEC5-4D7D-9C82-95B549B4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B7F95E-CB91-4C14-BAF9-B5CDAE2C6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53E141-14F8-4EB3-9EF8-FA84BAD10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F4B2B7F-9199-4A54-B8BC-9ADA01705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DC7EF94-F89A-4A89-B0D1-6E5F14B8F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04E292-EA68-4176-B684-E334569D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DBBCC-178A-45B2-9CC4-9C2D9D2BC232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54680B3-D2D8-4F7B-8926-F7277F230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E772632-B08B-41B3-B65B-96040C61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403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A67C15-749F-4C1B-9983-3370B76D6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EB54DD-D5FB-4A76-A7AF-D5D8EFF1B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7DE9-B168-4319-88DA-2DDD18E230E9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2F858-C8B8-40AA-ACC5-254901797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BFCE54-A8F8-441A-A39D-CF1F75A1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457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0995B56-B894-4C09-B8B0-856FA4F93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F4C5E-73BD-480F-8624-F6D7E6D7A545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84E3414-0682-49B9-ACB5-0FE6DA24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1732D70-7560-48CE-B832-0325AFE56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022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8E7591-3862-4CA6-A1B5-AFC3DBBF7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C92D8F-11F4-4E58-8836-44D67BCD8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3D1924-9070-4224-A28E-19BC05698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97A7B4-BE20-439A-A65B-D5796DB6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030C7-5723-40A5-9FC6-A0825EE667CE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98AD72-1800-434A-968D-68289A72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5E0F2C-9B4D-46C9-B987-8907030D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02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12AE4C-9A46-4089-9CD2-387E2179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4A98686-EB68-4189-A5CB-AF323C701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76F2DC8-416C-4095-B3B9-5180CE797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A2A97B-7F64-4810-8626-500D5FFCD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63C6-4924-493D-81DA-6C2BECE77509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E521F5-8554-4453-BE05-7FE9369A4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D4345A-912A-4DF5-99DE-FC2AE47E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558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B49CC-38DF-479D-ADA9-BD17E8355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FE6DED-FCCF-4826-BBCD-233D96CC4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82EB7A-9DFE-4FE6-A319-AD8BF1E92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79DE0-D398-4578-8D17-9D0DF780E80F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4980AC-5066-45FA-803C-F81AB2A52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AE3DDD-0121-4225-8D1C-4D5C5EE1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0637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8B4303A-3B07-434C-A86F-3C2272A9D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5BF699-FFFC-4ADD-A843-42C0B702F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E2C02A-51FE-49CB-B89C-800539F9F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5557-82A6-4132-924F-05CD0949306E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6FDBEF-127C-40EB-8D24-4F3DEB60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A57058-BF86-4AE1-B514-E8B3A8FC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595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04A188-BF32-4925-B1AF-2F04F5B12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47724"/>
            <a:ext cx="10515600" cy="5438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2678A8-4CCF-4190-945B-FFAAC1291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DD48C-7BCC-432C-98FF-7ED6BC0CF3C1}" type="datetime1">
              <a:rPr kumimoji="1" lang="ja-JP" altLang="en-US" smtClean="0"/>
              <a:t>2025/12/4</a:t>
            </a:fld>
            <a:endParaRPr kumimoji="1"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A0696D-5150-4EC5-B322-0BD40FDAE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24311" y="64928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/>
              <a:t>Copyright 2025 Things Base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81418A-9796-4D57-82F7-BBEB326E5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705291-130A-4E59-87DC-1655687CC864}"/>
              </a:ext>
            </a:extLst>
          </p:cNvPr>
          <p:cNvSpPr/>
          <p:nvPr userDrawn="1"/>
        </p:nvSpPr>
        <p:spPr>
          <a:xfrm>
            <a:off x="0" y="-1"/>
            <a:ext cx="12184515" cy="681037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0D9416E-E424-4C71-AE90-DE1565507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" y="91463"/>
            <a:ext cx="11972925" cy="589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075E86A-EC25-4A61-928C-A7930CAC4CA5}"/>
              </a:ext>
            </a:extLst>
          </p:cNvPr>
          <p:cNvCxnSpPr/>
          <p:nvPr userDrawn="1"/>
        </p:nvCxnSpPr>
        <p:spPr>
          <a:xfrm>
            <a:off x="0" y="6492874"/>
            <a:ext cx="12184516" cy="0"/>
          </a:xfrm>
          <a:prstGeom prst="line">
            <a:avLst/>
          </a:prstGeom>
          <a:ln w="50800" cmpd="thickThin">
            <a:solidFill>
              <a:srgbClr val="008080"/>
            </a:solidFill>
            <a:prstDash val="solid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C27DD1A-0C16-4695-B13D-AE45CA7C689B}"/>
              </a:ext>
            </a:extLst>
          </p:cNvPr>
          <p:cNvSpPr/>
          <p:nvPr userDrawn="1"/>
        </p:nvSpPr>
        <p:spPr>
          <a:xfrm>
            <a:off x="11182525" y="171159"/>
            <a:ext cx="914226" cy="311441"/>
          </a:xfrm>
          <a:prstGeom prst="rect">
            <a:avLst/>
          </a:prstGeom>
          <a:solidFill>
            <a:schemeClr val="bg1"/>
          </a:solidFill>
          <a:ln w="190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0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6883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70CE1B-81D1-6998-5498-8166BC5F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305952"/>
            <a:ext cx="11029950" cy="1983136"/>
          </a:xfrm>
        </p:spPr>
        <p:txBody>
          <a:bodyPr>
            <a:normAutofit/>
          </a:bodyPr>
          <a:lstStyle/>
          <a:p>
            <a:r>
              <a:rPr kumimoji="1" lang="en-US" altLang="ja-JP" sz="7200" b="1" dirty="0">
                <a:solidFill>
                  <a:srgbClr val="0000FF"/>
                </a:solidFill>
              </a:rPr>
              <a:t>LGX-Shield</a:t>
            </a:r>
            <a:r>
              <a:rPr kumimoji="1" lang="en-US" altLang="ja-JP" dirty="0">
                <a:solidFill>
                  <a:schemeClr val="tx1"/>
                </a:solidFill>
              </a:rPr>
              <a:t> </a:t>
            </a:r>
            <a:br>
              <a:rPr kumimoji="1" lang="en-US" altLang="ja-JP" dirty="0">
                <a:solidFill>
                  <a:schemeClr val="tx1"/>
                </a:solidFill>
              </a:rPr>
            </a:br>
            <a:r>
              <a:rPr kumimoji="1" lang="ja-JP" altLang="en-US" sz="2000" dirty="0">
                <a:solidFill>
                  <a:schemeClr val="tx1"/>
                </a:solidFill>
              </a:rPr>
              <a:t>～ </a:t>
            </a:r>
            <a:r>
              <a:rPr kumimoji="1" lang="en-US" altLang="ja-JP" sz="2000" dirty="0">
                <a:solidFill>
                  <a:schemeClr val="tx1"/>
                </a:solidFill>
              </a:rPr>
              <a:t>An Edge Monitor That Detects Bridge Anomalies in Real TimeUsing Acceleration Data × AI</a:t>
            </a:r>
            <a:r>
              <a:rPr lang="ja-JP" altLang="en-US" sz="2000" dirty="0">
                <a:solidFill>
                  <a:schemeClr val="tx1"/>
                </a:solidFill>
              </a:rPr>
              <a:t> ～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21422E-A587-7225-84CB-2091DEA64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8275" y="4000236"/>
            <a:ext cx="9144000" cy="954789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December 11, 2025</a:t>
            </a:r>
          </a:p>
          <a:p>
            <a:r>
              <a:rPr lang="en-US" altLang="ja-JP" dirty="0"/>
              <a:t>Things</a:t>
            </a:r>
            <a:r>
              <a:rPr lang="ja-JP" altLang="en-US" dirty="0"/>
              <a:t> </a:t>
            </a:r>
            <a:r>
              <a:rPr lang="en-US" altLang="ja-JP" dirty="0"/>
              <a:t>Base</a:t>
            </a:r>
            <a:r>
              <a:rPr lang="ja-JP" altLang="en-US" dirty="0"/>
              <a:t>　</a:t>
            </a:r>
            <a:r>
              <a:rPr lang="en-US" altLang="ja-JP" dirty="0"/>
              <a:t>Yoshiaki Sudo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E101B9C-1464-24F3-C30C-D393CAF16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99FDA00-39AB-9941-84BA-CCC785A4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521B7D48-FD03-2587-F8F2-3686E1BDC91D}"/>
              </a:ext>
            </a:extLst>
          </p:cNvPr>
          <p:cNvSpPr txBox="1">
            <a:spLocks/>
          </p:cNvSpPr>
          <p:nvPr/>
        </p:nvSpPr>
        <p:spPr>
          <a:xfrm>
            <a:off x="123092" y="191192"/>
            <a:ext cx="11923906" cy="40361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2000" u="sng" dirty="0">
                <a:solidFill>
                  <a:schemeClr val="bg1"/>
                </a:solidFill>
              </a:rPr>
              <a:t>For TRON Programming Contest 2025</a:t>
            </a:r>
            <a:endParaRPr lang="ja-JP" altLang="en-US" sz="2000" u="sng" dirty="0">
              <a:solidFill>
                <a:schemeClr val="bg1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1BA7B96-B1E3-C3C7-6AE0-304EA2A68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8" y="15614"/>
            <a:ext cx="772542" cy="17557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4D1F8FE-696C-866E-BD61-05461A3D873A}"/>
              </a:ext>
            </a:extLst>
          </p:cNvPr>
          <p:cNvSpPr/>
          <p:nvPr/>
        </p:nvSpPr>
        <p:spPr>
          <a:xfrm>
            <a:off x="319596" y="5320150"/>
            <a:ext cx="11310152" cy="1172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800" dirty="0">
                <a:solidFill>
                  <a:srgbClr val="00B050"/>
                </a:solidFill>
              </a:rPr>
              <a:t>Building a Safe and Secure Future Society with TRON × AI</a:t>
            </a:r>
            <a:endParaRPr lang="en-US" altLang="ja-JP" sz="2800" dirty="0">
              <a:solidFill>
                <a:srgbClr val="00B050"/>
              </a:solidFill>
            </a:endParaRPr>
          </a:p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This system detects anomalies in social infrastructure in real time and transforms inspection processes</a:t>
            </a:r>
          </a:p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—traditionally reliant on experience and intuition— into a data-driven framework that ensures greater safety and reliability.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C9A5F38-0F70-34D2-4CF4-9D096497A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07" y="770304"/>
            <a:ext cx="2644611" cy="19834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F017090-2AA3-16EC-08BF-71E0E5367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981" y="770304"/>
            <a:ext cx="2644612" cy="19834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5398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861C39-4B80-20E5-22D0-A7287BA3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1.</a:t>
            </a:r>
            <a:r>
              <a:rPr lang="ja-JP" altLang="en-US" dirty="0"/>
              <a:t> </a:t>
            </a:r>
            <a:r>
              <a:rPr lang="en-US" altLang="ja-JP" dirty="0"/>
              <a:t>Introduction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C605FD-151A-0ACE-3DDD-5DACC8AE4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E16BCCC-06C6-ED57-A566-19108ADAA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16" name="コンテンツ プレースホルダー 2">
            <a:extLst>
              <a:ext uri="{FF2B5EF4-FFF2-40B4-BE49-F238E27FC236}">
                <a16:creationId xmlns:a16="http://schemas.microsoft.com/office/drawing/2014/main" id="{C8091F57-5518-CEC7-A202-433FC5DE57DE}"/>
              </a:ext>
            </a:extLst>
          </p:cNvPr>
          <p:cNvSpPr txBox="1">
            <a:spLocks/>
          </p:cNvSpPr>
          <p:nvPr/>
        </p:nvSpPr>
        <p:spPr>
          <a:xfrm>
            <a:off x="647700" y="990600"/>
            <a:ext cx="10515600" cy="57759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ja-JP" sz="3000" dirty="0"/>
              <a:t>Aging infrastructure and a shortage of inspectors make maintenance increasingly challenging.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ja-JP" sz="3000" dirty="0"/>
              <a:t>LGX Shield measures bridge vibrations with an accelerometer and </a:t>
            </a:r>
            <a:r>
              <a:rPr lang="en-US" altLang="ja-JP" sz="3000" b="1" dirty="0"/>
              <a:t>instantly visualizes safety using AI</a:t>
            </a:r>
            <a:r>
              <a:rPr lang="en-US" altLang="ja-JP" sz="3000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ja-JP" sz="3000" dirty="0"/>
              <a:t>Data is sampled at 100 Hz, </a:t>
            </a:r>
            <a:r>
              <a:rPr lang="en-US" altLang="ja-JP" sz="3000" b="1" dirty="0"/>
              <a:t>analyzed by FFT, and used for inference.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ja-JP" sz="3000" dirty="0"/>
              <a:t>Results appear on an LED and a  LAN server, with no cloud or complex setup required.(for contest version)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ja-JP" sz="3000" b="1" dirty="0"/>
              <a:t>A simple yet effective example of real-time IoT monitoring.</a:t>
            </a:r>
            <a:endParaRPr lang="ja-JP" alt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1801752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A2E83-E1BB-0BB5-D6A4-6BF56B083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CFD5CE-A864-0340-9861-ACB5C334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2-1.</a:t>
            </a:r>
            <a:r>
              <a:rPr kumimoji="1" lang="ja-JP" altLang="en-US" dirty="0"/>
              <a:t> </a:t>
            </a:r>
            <a:r>
              <a:rPr kumimoji="1" lang="en-US" altLang="ja-JP" dirty="0"/>
              <a:t>System Diagram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1983ED-4603-F5CE-E00F-52AB33CC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8E1D305-4FBA-8DA4-A94D-B9B8F317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003C1F0-5F4B-750C-21F9-4EDADCEE4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932" y="1715287"/>
            <a:ext cx="4298255" cy="2417768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B8D17A3-BCAD-C095-D39F-C978A3D1B624}"/>
              </a:ext>
            </a:extLst>
          </p:cNvPr>
          <p:cNvSpPr/>
          <p:nvPr/>
        </p:nvSpPr>
        <p:spPr>
          <a:xfrm>
            <a:off x="209550" y="758076"/>
            <a:ext cx="11500097" cy="518274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dirty="0">
                <a:solidFill>
                  <a:schemeClr val="tx1"/>
                </a:solidFill>
                <a:latin typeface="Arial" panose="020B0604020202020204" pitchFamily="34" charset="0"/>
              </a:rPr>
              <a:t>LGX-Shield and a pseudo-server system were developed for this contest version.</a:t>
            </a:r>
            <a:endParaRPr lang="en-US" altLang="ja-JP" sz="2400" dirty="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C116B44-01EC-6F24-C5E2-BA6F29AEA012}"/>
              </a:ext>
            </a:extLst>
          </p:cNvPr>
          <p:cNvSpPr/>
          <p:nvPr/>
        </p:nvSpPr>
        <p:spPr>
          <a:xfrm>
            <a:off x="419100" y="3457574"/>
            <a:ext cx="1696333" cy="14807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2400" dirty="0">
                <a:solidFill>
                  <a:schemeClr val="tx1"/>
                </a:solidFill>
              </a:rPr>
              <a:t>LGX</a:t>
            </a:r>
          </a:p>
          <a:p>
            <a:pPr algn="ctr"/>
            <a:r>
              <a:rPr lang="en-US" altLang="ja-JP" sz="2400" dirty="0">
                <a:solidFill>
                  <a:schemeClr val="tx1"/>
                </a:solidFill>
              </a:rPr>
              <a:t>Shield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(EK-RA8D1)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963B1D-0F17-8CFA-9BBA-0F565B36354B}"/>
              </a:ext>
            </a:extLst>
          </p:cNvPr>
          <p:cNvSpPr/>
          <p:nvPr/>
        </p:nvSpPr>
        <p:spPr>
          <a:xfrm>
            <a:off x="3839457" y="3457575"/>
            <a:ext cx="1696333" cy="14751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</a:rPr>
              <a:t>Pseudo-Server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(RaspberryPi3)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BA30A2C-E8FD-F687-BEA9-BC10C46D2990}"/>
              </a:ext>
            </a:extLst>
          </p:cNvPr>
          <p:cNvSpPr/>
          <p:nvPr/>
        </p:nvSpPr>
        <p:spPr>
          <a:xfrm>
            <a:off x="2143124" y="1971675"/>
            <a:ext cx="1696333" cy="8108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2400" dirty="0">
                <a:solidFill>
                  <a:schemeClr val="tx1"/>
                </a:solidFill>
              </a:rPr>
              <a:t>LAN</a:t>
            </a:r>
          </a:p>
          <a:p>
            <a:pPr algn="ctr"/>
            <a:r>
              <a:rPr lang="en-US" altLang="ja-JP" sz="2400" dirty="0">
                <a:solidFill>
                  <a:schemeClr val="tx1"/>
                </a:solidFill>
              </a:rPr>
              <a:t>HUB</a:t>
            </a: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CF132E95-D3A8-16A6-3606-6DD9FEEFC50E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1267267" y="3181350"/>
            <a:ext cx="0" cy="2762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A24490CA-DE66-02BB-5EC6-089F30B36045}"/>
              </a:ext>
            </a:extLst>
          </p:cNvPr>
          <p:cNvCxnSpPr>
            <a:cxnSpLocks/>
          </p:cNvCxnSpPr>
          <p:nvPr/>
        </p:nvCxnSpPr>
        <p:spPr>
          <a:xfrm flipH="1">
            <a:off x="1267267" y="3181350"/>
            <a:ext cx="120923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91D73AB2-5BE2-D004-D9D7-13C2FC03BA7C}"/>
              </a:ext>
            </a:extLst>
          </p:cNvPr>
          <p:cNvCxnSpPr>
            <a:cxnSpLocks/>
          </p:cNvCxnSpPr>
          <p:nvPr/>
        </p:nvCxnSpPr>
        <p:spPr>
          <a:xfrm flipV="1">
            <a:off x="2476500" y="2782495"/>
            <a:ext cx="0" cy="39885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B747F30E-3F7E-FB78-B589-1464C2EB4CE8}"/>
              </a:ext>
            </a:extLst>
          </p:cNvPr>
          <p:cNvCxnSpPr>
            <a:cxnSpLocks/>
          </p:cNvCxnSpPr>
          <p:nvPr/>
        </p:nvCxnSpPr>
        <p:spPr>
          <a:xfrm flipV="1">
            <a:off x="3505200" y="2782495"/>
            <a:ext cx="0" cy="39885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B0025487-FD01-448A-0D69-FEAEDC8E1519}"/>
              </a:ext>
            </a:extLst>
          </p:cNvPr>
          <p:cNvCxnSpPr>
            <a:cxnSpLocks/>
          </p:cNvCxnSpPr>
          <p:nvPr/>
        </p:nvCxnSpPr>
        <p:spPr>
          <a:xfrm flipH="1">
            <a:off x="3505200" y="3181350"/>
            <a:ext cx="120923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4CE16A2B-3A02-4707-2C1A-AEB90AEDC622}"/>
              </a:ext>
            </a:extLst>
          </p:cNvPr>
          <p:cNvCxnSpPr>
            <a:cxnSpLocks/>
          </p:cNvCxnSpPr>
          <p:nvPr/>
        </p:nvCxnSpPr>
        <p:spPr>
          <a:xfrm flipV="1">
            <a:off x="4695825" y="3181350"/>
            <a:ext cx="0" cy="2762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6BF5A82-6F8C-CE28-E1B2-20469EC5A0FE}"/>
              </a:ext>
            </a:extLst>
          </p:cNvPr>
          <p:cNvSpPr/>
          <p:nvPr/>
        </p:nvSpPr>
        <p:spPr>
          <a:xfrm>
            <a:off x="209550" y="5031483"/>
            <a:ext cx="2327228" cy="1080595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・</a:t>
            </a:r>
            <a:r>
              <a:rPr kumimoji="0" lang="en-US" altLang="ja-JP" sz="1400" dirty="0">
                <a:solidFill>
                  <a:schemeClr val="tx1"/>
                </a:solidFill>
                <a:latin typeface="Arial" panose="020B0604020202020204" pitchFamily="34" charset="0"/>
              </a:rPr>
              <a:t>Collect vibration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400" dirty="0">
                <a:solidFill>
                  <a:schemeClr val="tx1"/>
                </a:solidFill>
                <a:latin typeface="Arial" panose="020B0604020202020204" pitchFamily="34" charset="0"/>
              </a:rPr>
              <a:t>   data from a cantilever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400" dirty="0">
                <a:solidFill>
                  <a:schemeClr val="tx1"/>
                </a:solidFill>
                <a:latin typeface="Arial" panose="020B0604020202020204" pitchFamily="34" charset="0"/>
              </a:rPr>
              <a:t>   beam using an MPU-9250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400" dirty="0">
                <a:solidFill>
                  <a:schemeClr val="tx1"/>
                </a:solidFill>
                <a:latin typeface="Arial" panose="020B0604020202020204" pitchFamily="34" charset="0"/>
              </a:rPr>
              <a:t>   accelerometer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5238ECD-D5CE-D8B5-671D-ECCD1D1F4AA4}"/>
              </a:ext>
            </a:extLst>
          </p:cNvPr>
          <p:cNvSpPr/>
          <p:nvPr/>
        </p:nvSpPr>
        <p:spPr>
          <a:xfrm>
            <a:off x="3794735" y="4922674"/>
            <a:ext cx="1778574" cy="1080595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・ </a:t>
            </a:r>
            <a:r>
              <a:rPr kumimoji="0" lang="en-US" altLang="ja-JP" sz="1400" dirty="0">
                <a:solidFill>
                  <a:schemeClr val="tx1"/>
                </a:solidFill>
                <a:latin typeface="Arial" panose="020B0604020202020204" pitchFamily="34" charset="0"/>
              </a:rPr>
              <a:t>Judge safe/unsafe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ja-JP" sz="1400" dirty="0">
                <a:solidFill>
                  <a:schemeClr val="tx1"/>
                </a:solidFill>
                <a:latin typeface="Arial" panose="020B0604020202020204" pitchFamily="34" charset="0"/>
              </a:rPr>
              <a:t> and control LED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400" dirty="0">
                <a:solidFill>
                  <a:schemeClr val="tx1"/>
                </a:solidFill>
                <a:latin typeface="Arial" panose="020B0604020202020204" pitchFamily="34" charset="0"/>
              </a:rPr>
              <a:t>    (green/red)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40" name="吹き出し: 角を丸めた四角形 39">
            <a:extLst>
              <a:ext uri="{FF2B5EF4-FFF2-40B4-BE49-F238E27FC236}">
                <a16:creationId xmlns:a16="http://schemas.microsoft.com/office/drawing/2014/main" id="{B6F8511A-96AA-F3B9-5FF3-D194838905D4}"/>
              </a:ext>
            </a:extLst>
          </p:cNvPr>
          <p:cNvSpPr/>
          <p:nvPr/>
        </p:nvSpPr>
        <p:spPr>
          <a:xfrm>
            <a:off x="4684022" y="1552575"/>
            <a:ext cx="2236038" cy="1463924"/>
          </a:xfrm>
          <a:prstGeom prst="wedgeRoundRectCallout">
            <a:avLst>
              <a:gd name="adj1" fmla="val -44100"/>
              <a:gd name="adj2" fmla="val 9789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400" dirty="0"/>
              <a:t>In real service, the server would run in the cloud, and output would be viewed on user devices (PC / smartphone)</a:t>
            </a:r>
            <a:endParaRPr kumimoji="1" lang="ja-JP" altLang="en-US" sz="1400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EF7F9BC-9801-FB4D-921C-D6258F71CB23}"/>
              </a:ext>
            </a:extLst>
          </p:cNvPr>
          <p:cNvSpPr/>
          <p:nvPr/>
        </p:nvSpPr>
        <p:spPr>
          <a:xfrm>
            <a:off x="9491536" y="1810537"/>
            <a:ext cx="420424" cy="39885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LAN</a:t>
            </a:r>
          </a:p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HUB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29CB4FC6-639E-0543-5FF1-69A209198C4E}"/>
              </a:ext>
            </a:extLst>
          </p:cNvPr>
          <p:cNvSpPr/>
          <p:nvPr/>
        </p:nvSpPr>
        <p:spPr>
          <a:xfrm>
            <a:off x="10341132" y="3332257"/>
            <a:ext cx="1012668" cy="283467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Pseudo-Server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06279AF-CB29-BDE2-AB39-A982B7352A8B}"/>
              </a:ext>
            </a:extLst>
          </p:cNvPr>
          <p:cNvSpPr/>
          <p:nvPr/>
        </p:nvSpPr>
        <p:spPr>
          <a:xfrm>
            <a:off x="8342709" y="2608160"/>
            <a:ext cx="781050" cy="283467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LGX-Shield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EC3F7FA-3F1C-DEFE-5071-E33F9F02E4A5}"/>
              </a:ext>
            </a:extLst>
          </p:cNvPr>
          <p:cNvSpPr/>
          <p:nvPr/>
        </p:nvSpPr>
        <p:spPr>
          <a:xfrm>
            <a:off x="9219790" y="2592238"/>
            <a:ext cx="948352" cy="4963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cantilever beams(2 types)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54CAB3D-19ED-3F75-A519-7C06304C263A}"/>
              </a:ext>
            </a:extLst>
          </p:cNvPr>
          <p:cNvSpPr/>
          <p:nvPr/>
        </p:nvSpPr>
        <p:spPr>
          <a:xfrm>
            <a:off x="9123759" y="3308006"/>
            <a:ext cx="437819" cy="165985"/>
          </a:xfrm>
          <a:prstGeom prst="rect">
            <a:avLst/>
          </a:prstGeom>
          <a:solidFill>
            <a:srgbClr val="92D050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Safe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8B104C9C-5BD1-C03C-70E7-DAB19D3C65E1}"/>
              </a:ext>
            </a:extLst>
          </p:cNvPr>
          <p:cNvSpPr/>
          <p:nvPr/>
        </p:nvSpPr>
        <p:spPr>
          <a:xfrm>
            <a:off x="9702575" y="3320799"/>
            <a:ext cx="510875" cy="1659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Unsafe</a:t>
            </a:r>
          </a:p>
        </p:txBody>
      </p:sp>
      <p:sp>
        <p:nvSpPr>
          <p:cNvPr id="47" name="吹き出し: 角を丸めた四角形 46">
            <a:extLst>
              <a:ext uri="{FF2B5EF4-FFF2-40B4-BE49-F238E27FC236}">
                <a16:creationId xmlns:a16="http://schemas.microsoft.com/office/drawing/2014/main" id="{C40A0189-9B0A-EE28-3877-FFECC9A18AA3}"/>
              </a:ext>
            </a:extLst>
          </p:cNvPr>
          <p:cNvSpPr/>
          <p:nvPr/>
        </p:nvSpPr>
        <p:spPr>
          <a:xfrm>
            <a:off x="7657156" y="3885404"/>
            <a:ext cx="1164433" cy="365125"/>
          </a:xfrm>
          <a:prstGeom prst="wedgeRoundRectCallout">
            <a:avLst>
              <a:gd name="adj1" fmla="val 95204"/>
              <a:gd name="adj2" fmla="val -13176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Accelerometer</a:t>
            </a:r>
            <a:endParaRPr kumimoji="1" lang="ja-JP" altLang="en-US" sz="1100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3E965DD5-8473-9D9E-60D5-FC61301B7EF4}"/>
              </a:ext>
            </a:extLst>
          </p:cNvPr>
          <p:cNvSpPr/>
          <p:nvPr/>
        </p:nvSpPr>
        <p:spPr>
          <a:xfrm>
            <a:off x="7657156" y="3174510"/>
            <a:ext cx="553334" cy="276914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Power</a:t>
            </a:r>
          </a:p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supply</a:t>
            </a:r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C39FFBF8-C6C7-2B92-24E1-C88DBC2D1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932" y="4751583"/>
            <a:ext cx="1485900" cy="1588090"/>
          </a:xfrm>
          <a:prstGeom prst="rect">
            <a:avLst/>
          </a:prstGeom>
        </p:spPr>
      </p:pic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53876037-0B7F-16AE-04CC-F6D52631C18A}"/>
              </a:ext>
            </a:extLst>
          </p:cNvPr>
          <p:cNvSpPr/>
          <p:nvPr/>
        </p:nvSpPr>
        <p:spPr>
          <a:xfrm>
            <a:off x="7475901" y="1294900"/>
            <a:ext cx="2015635" cy="4963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■</a:t>
            </a:r>
            <a:r>
              <a:rPr kumimoji="0" lang="en-US" altLang="ja-JP" sz="2000" dirty="0">
                <a:solidFill>
                  <a:schemeClr val="tx1"/>
                </a:solidFill>
                <a:latin typeface="Arial" panose="020B0604020202020204" pitchFamily="34" charset="0"/>
              </a:rPr>
              <a:t>Physical Setup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A8ACBF04-5CB6-16B5-11FF-5B45896CC984}"/>
              </a:ext>
            </a:extLst>
          </p:cNvPr>
          <p:cNvSpPr/>
          <p:nvPr/>
        </p:nvSpPr>
        <p:spPr>
          <a:xfrm>
            <a:off x="7475900" y="4274937"/>
            <a:ext cx="2307292" cy="4963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■</a:t>
            </a:r>
            <a:r>
              <a:rPr kumimoji="0" lang="en-US" altLang="ja-JP" sz="2000" dirty="0">
                <a:solidFill>
                  <a:schemeClr val="tx1"/>
                </a:solidFill>
                <a:latin typeface="Arial" panose="020B0604020202020204" pitchFamily="34" charset="0"/>
              </a:rPr>
              <a:t>Cantilever Beam</a:t>
            </a:r>
            <a:r>
              <a:rPr kumimoji="0" lang="ja-JP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9745C5F1-1EA4-323C-71F0-DC06FE978C6B}"/>
              </a:ext>
            </a:extLst>
          </p:cNvPr>
          <p:cNvSpPr/>
          <p:nvPr/>
        </p:nvSpPr>
        <p:spPr>
          <a:xfrm>
            <a:off x="9057832" y="4790498"/>
            <a:ext cx="3010342" cy="1549175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・</a:t>
            </a:r>
            <a:r>
              <a:rPr kumimoji="0" lang="en-US" altLang="ja-JP" sz="1400" dirty="0">
                <a:solidFill>
                  <a:schemeClr val="tx1"/>
                </a:solidFill>
                <a:latin typeface="Arial" panose="020B0604020202020204" pitchFamily="34" charset="0"/>
              </a:rPr>
              <a:t>two versions prepared: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400" dirty="0">
                <a:solidFill>
                  <a:schemeClr val="tx1"/>
                </a:solidFill>
                <a:latin typeface="Arial" panose="020B0604020202020204" pitchFamily="34" charset="0"/>
              </a:rPr>
              <a:t>      safe and unsafe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・</a:t>
            </a:r>
            <a:r>
              <a:rPr kumimoji="0" lang="en-US" altLang="ja-JP" sz="1400" dirty="0">
                <a:solidFill>
                  <a:schemeClr val="tx1"/>
                </a:solidFill>
                <a:latin typeface="Arial" panose="020B0604020202020204" pitchFamily="34" charset="0"/>
              </a:rPr>
              <a:t>Accelerometer fixed to the beam tip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・</a:t>
            </a:r>
            <a:r>
              <a:rPr kumimoji="0" lang="en-US" altLang="ja-JP" sz="1400" dirty="0">
                <a:solidFill>
                  <a:schemeClr val="tx1"/>
                </a:solidFill>
                <a:latin typeface="Arial" panose="020B0604020202020204" pitchFamily="34" charset="0"/>
              </a:rPr>
              <a:t>Beam is excited manually by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400" dirty="0">
                <a:solidFill>
                  <a:schemeClr val="tx1"/>
                </a:solidFill>
                <a:latin typeface="Arial" panose="020B0604020202020204" pitchFamily="34" charset="0"/>
              </a:rPr>
              <a:t>    pressing with a finger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4C7A462F-0ED2-142C-B3F4-2361CBDA6F14}"/>
              </a:ext>
            </a:extLst>
          </p:cNvPr>
          <p:cNvSpPr/>
          <p:nvPr/>
        </p:nvSpPr>
        <p:spPr>
          <a:xfrm>
            <a:off x="7755788" y="4831257"/>
            <a:ext cx="437819" cy="165985"/>
          </a:xfrm>
          <a:prstGeom prst="rect">
            <a:avLst/>
          </a:prstGeom>
          <a:solidFill>
            <a:srgbClr val="92D050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Safe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24E55AA-FF49-68C6-A4E1-F50E1F79FC1C}"/>
              </a:ext>
            </a:extLst>
          </p:cNvPr>
          <p:cNvSpPr/>
          <p:nvPr/>
        </p:nvSpPr>
        <p:spPr>
          <a:xfrm>
            <a:off x="8460532" y="4819846"/>
            <a:ext cx="437819" cy="1659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Unsafe</a:t>
            </a: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A3E3A952-594F-B59F-6C40-DA30DA12AA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969" y="3697460"/>
            <a:ext cx="898427" cy="644753"/>
          </a:xfrm>
          <a:prstGeom prst="rect">
            <a:avLst/>
          </a:prstGeom>
        </p:spPr>
      </p:pic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3FBDEFC2-F2CC-6F3D-D2D9-05CE643319C4}"/>
              </a:ext>
            </a:extLst>
          </p:cNvPr>
          <p:cNvSpPr/>
          <p:nvPr/>
        </p:nvSpPr>
        <p:spPr>
          <a:xfrm>
            <a:off x="10641959" y="4367098"/>
            <a:ext cx="960446" cy="311977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000" dirty="0">
                <a:solidFill>
                  <a:srgbClr val="FF0000"/>
                </a:solidFill>
              </a:rPr>
              <a:t>Red LED lights when unsafe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A5D58573-030E-DFAD-393C-64F1D4B3640E}"/>
              </a:ext>
            </a:extLst>
          </p:cNvPr>
          <p:cNvSpPr/>
          <p:nvPr/>
        </p:nvSpPr>
        <p:spPr>
          <a:xfrm>
            <a:off x="421432" y="1362915"/>
            <a:ext cx="2236042" cy="4963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■</a:t>
            </a:r>
            <a:r>
              <a:rPr kumimoji="0" lang="en-US" altLang="ja-JP" sz="2000" dirty="0">
                <a:solidFill>
                  <a:schemeClr val="tx1"/>
                </a:solidFill>
                <a:latin typeface="Arial" panose="020B0604020202020204" pitchFamily="34" charset="0"/>
              </a:rPr>
              <a:t>System Diagram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258C575D-10A7-881A-B5C8-2943A4C1895F}"/>
              </a:ext>
            </a:extLst>
          </p:cNvPr>
          <p:cNvSpPr/>
          <p:nvPr/>
        </p:nvSpPr>
        <p:spPr>
          <a:xfrm>
            <a:off x="311324" y="2862261"/>
            <a:ext cx="861792" cy="615962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050" dirty="0">
                <a:solidFill>
                  <a:srgbClr val="FF0000"/>
                </a:solidFill>
                <a:latin typeface="Arial" panose="020B0604020202020204" pitchFamily="34" charset="0"/>
              </a:rPr>
              <a:t>Contest evaluation targets</a:t>
            </a:r>
            <a:endParaRPr lang="en-US" altLang="ja-JP" sz="1050" dirty="0">
              <a:solidFill>
                <a:srgbClr val="FF0000"/>
              </a:solidFill>
            </a:endParaRPr>
          </a:p>
        </p:txBody>
      </p:sp>
      <p:pic>
        <p:nvPicPr>
          <p:cNvPr id="61" name="Picture 2" descr="Python 垂直 ロゴ - ソーシャルメディアとロゴ アイコン">
            <a:extLst>
              <a:ext uri="{FF2B5EF4-FFF2-40B4-BE49-F238E27FC236}">
                <a16:creationId xmlns:a16="http://schemas.microsoft.com/office/drawing/2014/main" id="{B4B5CB04-67CC-D3F5-5830-3A96EB1A1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408" y="3390998"/>
            <a:ext cx="612305" cy="68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68308082-4EC9-52B0-AA9F-B505FC7F03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6430" y="3435225"/>
            <a:ext cx="537837" cy="640282"/>
          </a:xfrm>
          <a:prstGeom prst="rect">
            <a:avLst/>
          </a:prstGeom>
        </p:spPr>
      </p:pic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8766016F-B10A-CD81-13F3-ADE0ECBA3C4F}"/>
              </a:ext>
            </a:extLst>
          </p:cNvPr>
          <p:cNvSpPr/>
          <p:nvPr/>
        </p:nvSpPr>
        <p:spPr>
          <a:xfrm>
            <a:off x="3286331" y="5946373"/>
            <a:ext cx="3332359" cy="532998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dirty="0">
                <a:solidFill>
                  <a:schemeClr val="tx1"/>
                </a:solidFill>
                <a:latin typeface="Arial" panose="020B0604020202020204" pitchFamily="34" charset="0"/>
              </a:rPr>
              <a:t>※Raspberry Pi 3 was simply on hand; outdated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dirty="0">
                <a:solidFill>
                  <a:schemeClr val="tx1"/>
                </a:solidFill>
                <a:latin typeface="Arial" panose="020B0604020202020204" pitchFamily="34" charset="0"/>
              </a:rPr>
              <a:t>    but useful for small tests</a:t>
            </a:r>
          </a:p>
        </p:txBody>
      </p:sp>
    </p:spTree>
    <p:extLst>
      <p:ext uri="{BB962C8B-B14F-4D97-AF65-F5344CB8AC3E}">
        <p14:creationId xmlns:p14="http://schemas.microsoft.com/office/powerpoint/2010/main" val="3812607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ED815-B356-B79D-8078-E26230CC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41D7CE-F9F1-2FBB-0FA1-DA878174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2-2. Task and Module Configuration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73F5CAB-5E43-B2D7-D526-A17C8B609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63BA12A-039D-88A9-A8A3-165F71AE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B545451-24D3-EE4E-6432-BC2C5CFD2D13}"/>
              </a:ext>
            </a:extLst>
          </p:cNvPr>
          <p:cNvSpPr/>
          <p:nvPr/>
        </p:nvSpPr>
        <p:spPr>
          <a:xfrm>
            <a:off x="1094493" y="2118373"/>
            <a:ext cx="5392962" cy="7224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</a:rPr>
              <a:t>TAPP</a:t>
            </a:r>
            <a:endParaRPr lang="en-US" altLang="ja-JP" sz="3200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27D3B37-0B28-F0F3-5523-5A53D45A3E60}"/>
              </a:ext>
            </a:extLst>
          </p:cNvPr>
          <p:cNvSpPr/>
          <p:nvPr/>
        </p:nvSpPr>
        <p:spPr>
          <a:xfrm>
            <a:off x="1094492" y="1204629"/>
            <a:ext cx="1696333" cy="7224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</a:rPr>
              <a:t>TAI</a:t>
            </a:r>
            <a:endParaRPr lang="en-US" altLang="ja-JP" sz="32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5CBBA88-3679-3782-C73D-36387D7CE48B}"/>
              </a:ext>
            </a:extLst>
          </p:cNvPr>
          <p:cNvSpPr/>
          <p:nvPr/>
        </p:nvSpPr>
        <p:spPr>
          <a:xfrm>
            <a:off x="2942808" y="1204629"/>
            <a:ext cx="1696332" cy="7224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</a:rPr>
              <a:t>TNET</a:t>
            </a:r>
            <a:endParaRPr lang="en-US" altLang="ja-JP" sz="3200" dirty="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BB0A654-9D41-5299-B50D-5FDFF4ACF9A9}"/>
              </a:ext>
            </a:extLst>
          </p:cNvPr>
          <p:cNvSpPr/>
          <p:nvPr/>
        </p:nvSpPr>
        <p:spPr>
          <a:xfrm>
            <a:off x="1094493" y="3032117"/>
            <a:ext cx="3544647" cy="7224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</a:rPr>
              <a:t>TIMU</a:t>
            </a:r>
            <a:endParaRPr lang="en-US" altLang="ja-JP" sz="3200" dirty="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3420532-6FA8-3108-95FC-B5799532C0F9}"/>
              </a:ext>
            </a:extLst>
          </p:cNvPr>
          <p:cNvSpPr/>
          <p:nvPr/>
        </p:nvSpPr>
        <p:spPr>
          <a:xfrm>
            <a:off x="2942808" y="4043494"/>
            <a:ext cx="1696333" cy="7224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3200" dirty="0">
                <a:solidFill>
                  <a:schemeClr val="tx1"/>
                </a:solidFill>
              </a:rPr>
              <a:t>I2C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1B867BD-81C3-DE66-B7F2-EDECAB1334C7}"/>
              </a:ext>
            </a:extLst>
          </p:cNvPr>
          <p:cNvSpPr/>
          <p:nvPr/>
        </p:nvSpPr>
        <p:spPr>
          <a:xfrm>
            <a:off x="4791123" y="4052546"/>
            <a:ext cx="1696333" cy="7224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3200" dirty="0">
                <a:solidFill>
                  <a:schemeClr val="tx1"/>
                </a:solidFill>
              </a:rPr>
              <a:t>ETH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E07D6D1-5F5F-C159-684A-954E839CEE9F}"/>
              </a:ext>
            </a:extLst>
          </p:cNvPr>
          <p:cNvSpPr/>
          <p:nvPr/>
        </p:nvSpPr>
        <p:spPr>
          <a:xfrm>
            <a:off x="1094491" y="4036507"/>
            <a:ext cx="1696333" cy="7224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3200" dirty="0">
                <a:solidFill>
                  <a:schemeClr val="tx1"/>
                </a:solidFill>
              </a:rPr>
              <a:t>GPT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9F5555E-163E-FEB4-D958-7340723E29CB}"/>
              </a:ext>
            </a:extLst>
          </p:cNvPr>
          <p:cNvSpPr/>
          <p:nvPr/>
        </p:nvSpPr>
        <p:spPr>
          <a:xfrm>
            <a:off x="4791123" y="1204629"/>
            <a:ext cx="1696332" cy="7224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</a:rPr>
              <a:t>TLED</a:t>
            </a:r>
            <a:endParaRPr lang="en-US" altLang="ja-JP" sz="3200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CC05938-D4F7-E249-1CA9-227FCF560C5B}"/>
              </a:ext>
            </a:extLst>
          </p:cNvPr>
          <p:cNvSpPr/>
          <p:nvPr/>
        </p:nvSpPr>
        <p:spPr>
          <a:xfrm>
            <a:off x="385320" y="1204628"/>
            <a:ext cx="357630" cy="25499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P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E34DDE6-0082-92B6-42F1-C8B4589B574B}"/>
              </a:ext>
            </a:extLst>
          </p:cNvPr>
          <p:cNvSpPr/>
          <p:nvPr/>
        </p:nvSpPr>
        <p:spPr>
          <a:xfrm>
            <a:off x="385319" y="3849265"/>
            <a:ext cx="357630" cy="10969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R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0C15746-CCC5-F5C7-C795-3E122E3D9630}"/>
              </a:ext>
            </a:extLst>
          </p:cNvPr>
          <p:cNvSpPr/>
          <p:nvPr/>
        </p:nvSpPr>
        <p:spPr>
          <a:xfrm>
            <a:off x="6875537" y="955229"/>
            <a:ext cx="4980279" cy="26789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600" b="1" dirty="0">
                <a:solidFill>
                  <a:schemeClr val="tx1"/>
                </a:solidFill>
                <a:latin typeface="Arial" panose="020B0604020202020204" pitchFamily="34" charset="0"/>
              </a:rPr>
              <a:t>TAI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: Performs FFT and runs CMSIS-NN MLP inference; returns the judgment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600" b="1" dirty="0">
                <a:solidFill>
                  <a:schemeClr val="tx1"/>
                </a:solidFill>
                <a:latin typeface="Arial" panose="020B0604020202020204" pitchFamily="34" charset="0"/>
              </a:rPr>
              <a:t>TNET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: Sends judgment results to the LAN server via UDP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600" b="1" dirty="0">
                <a:solidFill>
                  <a:schemeClr val="tx1"/>
                </a:solidFill>
                <a:latin typeface="Arial" panose="020B0604020202020204" pitchFamily="34" charset="0"/>
              </a:rPr>
              <a:t>TLED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: Displays safe/unsafe status using onboard LEDs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600" b="1" dirty="0">
                <a:solidFill>
                  <a:schemeClr val="tx1"/>
                </a:solidFill>
                <a:latin typeface="Arial" panose="020B0604020202020204" pitchFamily="34" charset="0"/>
              </a:rPr>
              <a:t>TAPP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: Controls overall application; extracts features and issues inference requests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600" b="1" dirty="0">
                <a:solidFill>
                  <a:schemeClr val="tx1"/>
                </a:solidFill>
                <a:latin typeface="Arial" panose="020B0604020202020204" pitchFamily="34" charset="0"/>
              </a:rPr>
              <a:t>TIMU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: Driven by GPT interrupt; samples accelerometer data at 100 Hz and notifies TAPP every 1024 samples (10.24 s)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F69DCAB-3540-C60B-0DAF-67C7FB763280}"/>
              </a:ext>
            </a:extLst>
          </p:cNvPr>
          <p:cNvSpPr/>
          <p:nvPr/>
        </p:nvSpPr>
        <p:spPr>
          <a:xfrm>
            <a:off x="385319" y="5074813"/>
            <a:ext cx="357630" cy="9000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H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D21C311-CEE7-3D4B-7D56-CBE2F1FB904C}"/>
              </a:ext>
            </a:extLst>
          </p:cNvPr>
          <p:cNvSpPr/>
          <p:nvPr/>
        </p:nvSpPr>
        <p:spPr>
          <a:xfrm>
            <a:off x="2942808" y="5163631"/>
            <a:ext cx="1696333" cy="722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600" dirty="0" err="1">
                <a:solidFill>
                  <a:schemeClr val="tx1"/>
                </a:solidFill>
              </a:rPr>
              <a:t>Accelometer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MPU-9250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A8399E8-741D-071C-ADCB-02B9916288CE}"/>
              </a:ext>
            </a:extLst>
          </p:cNvPr>
          <p:cNvSpPr/>
          <p:nvPr/>
        </p:nvSpPr>
        <p:spPr>
          <a:xfrm>
            <a:off x="4791123" y="5163631"/>
            <a:ext cx="1696333" cy="722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Ethernet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22E58A8-574D-DE60-5D83-4CF3C5C0A544}"/>
              </a:ext>
            </a:extLst>
          </p:cNvPr>
          <p:cNvSpPr/>
          <p:nvPr/>
        </p:nvSpPr>
        <p:spPr>
          <a:xfrm>
            <a:off x="1094491" y="5163631"/>
            <a:ext cx="1696333" cy="722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On-chip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General-purpose</a:t>
            </a:r>
            <a:r>
              <a:rPr lang="ja-JP" altLang="en-US" sz="1600" dirty="0">
                <a:solidFill>
                  <a:schemeClr val="tx1"/>
                </a:solidFill>
              </a:rPr>
              <a:t> </a:t>
            </a:r>
            <a:r>
              <a:rPr lang="en-US" altLang="ja-JP" sz="1600" dirty="0">
                <a:solidFill>
                  <a:schemeClr val="tx1"/>
                </a:solidFill>
              </a:rPr>
              <a:t>timer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9CFBAFB-CBC1-851A-EC9B-FA58A1C274C6}"/>
              </a:ext>
            </a:extLst>
          </p:cNvPr>
          <p:cNvSpPr/>
          <p:nvPr/>
        </p:nvSpPr>
        <p:spPr>
          <a:xfrm>
            <a:off x="6875537" y="3808831"/>
            <a:ext cx="4882004" cy="13148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Accurate sampling via 10 </a:t>
            </a:r>
            <a:r>
              <a:rPr kumimoji="0" lang="en-US" altLang="ja-JP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ms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ja-JP" sz="1600" b="1" dirty="0">
                <a:solidFill>
                  <a:schemeClr val="tx1"/>
                </a:solidFill>
                <a:latin typeface="Arial" panose="020B0604020202020204" pitchFamily="34" charset="0"/>
              </a:rPr>
              <a:t>GPT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 interrupt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MPU-9250 controlled via </a:t>
            </a:r>
            <a:r>
              <a:rPr kumimoji="0" lang="en-US" altLang="ja-JP" sz="1600" b="1" dirty="0">
                <a:solidFill>
                  <a:schemeClr val="tx1"/>
                </a:solidFill>
                <a:latin typeface="Arial" panose="020B0604020202020204" pitchFamily="34" charset="0"/>
              </a:rPr>
              <a:t>I2C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, acceleration data acquired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ja-JP" sz="1600" b="1" dirty="0">
                <a:solidFill>
                  <a:schemeClr val="tx1"/>
                </a:solidFill>
                <a:latin typeface="Arial" panose="020B0604020202020204" pitchFamily="34" charset="0"/>
              </a:rPr>
              <a:t>Ethernet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 (UDP) used to send packets to the pseudo-cloud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24" name="吹き出し: 角を丸めた四角形 23">
            <a:extLst>
              <a:ext uri="{FF2B5EF4-FFF2-40B4-BE49-F238E27FC236}">
                <a16:creationId xmlns:a16="http://schemas.microsoft.com/office/drawing/2014/main" id="{916CFD3C-8B9C-4DC0-69F6-BE2A95E0B7DD}"/>
              </a:ext>
            </a:extLst>
          </p:cNvPr>
          <p:cNvSpPr/>
          <p:nvPr/>
        </p:nvSpPr>
        <p:spPr>
          <a:xfrm>
            <a:off x="4912749" y="2999141"/>
            <a:ext cx="1848315" cy="840439"/>
          </a:xfrm>
          <a:prstGeom prst="wedgeRoundRectCallout">
            <a:avLst>
              <a:gd name="adj1" fmla="val -58799"/>
              <a:gd name="adj2" fmla="val -46966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kumimoji="1" lang="en-US" altLang="ja-JP" sz="1050" dirty="0">
                <a:solidFill>
                  <a:srgbClr val="FF0000"/>
                </a:solidFill>
              </a:rPr>
              <a:t>Inter-task Communication</a:t>
            </a:r>
          </a:p>
          <a:p>
            <a:pPr marL="171450" indent="-171450">
              <a:buFontTx/>
              <a:buChar char="-"/>
            </a:pPr>
            <a:r>
              <a:rPr kumimoji="1" lang="en-US" altLang="ja-JP" sz="1050" dirty="0">
                <a:solidFill>
                  <a:srgbClr val="FF0000"/>
                </a:solidFill>
              </a:rPr>
              <a:t>Mailboxes for messaging</a:t>
            </a:r>
          </a:p>
          <a:p>
            <a:pPr marL="171450" indent="-171450">
              <a:buFontTx/>
              <a:buChar char="-"/>
            </a:pPr>
            <a:r>
              <a:rPr kumimoji="1" lang="en-US" altLang="ja-JP" sz="1050" dirty="0">
                <a:solidFill>
                  <a:srgbClr val="FF0000"/>
                </a:solidFill>
              </a:rPr>
              <a:t>Fixed-length memory pools for payloads</a:t>
            </a:r>
            <a:endParaRPr kumimoji="1" lang="ja-JP" altLang="en-US" sz="1050" dirty="0">
              <a:solidFill>
                <a:srgbClr val="FF0000"/>
              </a:solidFill>
            </a:endParaRP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3483AFAB-57DB-A095-D0DA-FF506359E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06" y="749617"/>
            <a:ext cx="684856" cy="81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0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8DB7A5-D6B1-C9D6-5D19-63EE6582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3. AI Processing Overview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38F8D3-3EAC-9530-1814-4A3CC60FB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kumimoji="1" lang="en-US" altLang="ja-JP" sz="2200" dirty="0"/>
              <a:t>FFT Processing</a:t>
            </a:r>
          </a:p>
          <a:p>
            <a:pPr lvl="1"/>
            <a:r>
              <a:rPr kumimoji="1" lang="en-US" altLang="ja-JP" sz="1800" dirty="0"/>
              <a:t>Performs frequency analysis on </a:t>
            </a:r>
            <a:r>
              <a:rPr kumimoji="1" lang="en-US" altLang="ja-JP" sz="1800" b="1" dirty="0"/>
              <a:t>1024 acceleration samples </a:t>
            </a:r>
            <a:r>
              <a:rPr kumimoji="1" lang="en-US" altLang="ja-JP" sz="1800" dirty="0"/>
              <a:t>to extract vibration spectrum components.</a:t>
            </a:r>
          </a:p>
          <a:p>
            <a:pPr lvl="1"/>
            <a:r>
              <a:rPr kumimoji="1" lang="en-US" altLang="ja-JP" sz="1800" b="1" dirty="0"/>
              <a:t>16 key spectral features </a:t>
            </a:r>
            <a:r>
              <a:rPr kumimoji="1" lang="en-US" altLang="ja-JP" sz="1800" dirty="0"/>
              <a:t>are selected as input for anomaly detection.</a:t>
            </a:r>
          </a:p>
          <a:p>
            <a:pPr marL="457200" lvl="1" indent="0">
              <a:buNone/>
            </a:pPr>
            <a:endParaRPr kumimoji="1" lang="en-US" altLang="ja-JP" sz="1800" dirty="0"/>
          </a:p>
          <a:p>
            <a:pPr>
              <a:buFont typeface="Wingdings" panose="05000000000000000000" pitchFamily="2" charset="2"/>
              <a:buChar char="Ø"/>
            </a:pPr>
            <a:r>
              <a:rPr kumimoji="1" lang="en-US" altLang="ja-JP" sz="2200" dirty="0"/>
              <a:t>AI Inference (CMSIS-NN MLP)</a:t>
            </a:r>
          </a:p>
          <a:p>
            <a:pPr lvl="1"/>
            <a:r>
              <a:rPr kumimoji="1" lang="en-US" altLang="ja-JP" sz="1800" b="1" dirty="0"/>
              <a:t>Input</a:t>
            </a:r>
            <a:r>
              <a:rPr kumimoji="1" lang="en-US" altLang="ja-JP" sz="1800" dirty="0"/>
              <a:t>: 16-dimensional feature vector</a:t>
            </a:r>
          </a:p>
          <a:p>
            <a:pPr lvl="1"/>
            <a:r>
              <a:rPr kumimoji="1" lang="en-US" altLang="ja-JP" sz="1800" b="1" dirty="0"/>
              <a:t>Output</a:t>
            </a:r>
            <a:r>
              <a:rPr kumimoji="1" lang="en-US" altLang="ja-JP" sz="1800" dirty="0"/>
              <a:t>: Classification of </a:t>
            </a:r>
            <a:r>
              <a:rPr kumimoji="1" lang="en-US" altLang="ja-JP" sz="1800" b="1" dirty="0"/>
              <a:t>Safe (0) / Unsafe (1)</a:t>
            </a:r>
          </a:p>
          <a:p>
            <a:pPr lvl="1"/>
            <a:r>
              <a:rPr kumimoji="1" lang="en-US" altLang="ja-JP" sz="1800" b="1" dirty="0"/>
              <a:t>CMSIS-NN</a:t>
            </a:r>
            <a:r>
              <a:rPr kumimoji="1" lang="en-US" altLang="ja-JP" sz="1800" dirty="0"/>
              <a:t> enables lightweight and fast inference directly on the microcontroller.</a:t>
            </a:r>
          </a:p>
          <a:p>
            <a:pPr marL="457200" lvl="1" indent="0">
              <a:buNone/>
            </a:pPr>
            <a:endParaRPr kumimoji="1" lang="en-US" altLang="ja-JP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ja-JP" sz="2200" dirty="0"/>
              <a:t>Features</a:t>
            </a:r>
            <a:endParaRPr kumimoji="1" lang="en-US" altLang="ja-JP" sz="2200" dirty="0"/>
          </a:p>
          <a:p>
            <a:pPr lvl="1"/>
            <a:r>
              <a:rPr kumimoji="1" lang="en-US" altLang="ja-JP" sz="1800" dirty="0"/>
              <a:t>AI runs </a:t>
            </a:r>
            <a:r>
              <a:rPr kumimoji="1" lang="en-US" altLang="ja-JP" sz="1800" b="1" dirty="0"/>
              <a:t>entirely on the microcontroller</a:t>
            </a:r>
            <a:r>
              <a:rPr kumimoji="1" lang="en-US" altLang="ja-JP" sz="1800" dirty="0"/>
              <a:t>, with no cloud or external server required.</a:t>
            </a:r>
          </a:p>
          <a:p>
            <a:pPr lvl="1"/>
            <a:r>
              <a:rPr kumimoji="1" lang="en-US" altLang="ja-JP" sz="1800" dirty="0"/>
              <a:t>Operates in </a:t>
            </a:r>
            <a:r>
              <a:rPr kumimoji="1" lang="en-US" altLang="ja-JP" sz="1800" b="1" dirty="0"/>
              <a:t>small, low-power environments</a:t>
            </a:r>
            <a:r>
              <a:rPr kumimoji="1" lang="en-US" altLang="ja-JP" sz="1800" dirty="0"/>
              <a:t>, suitable for real-time monitoring in the field.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0E6CBC-000C-3A3C-7A06-7E31FC341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854D14-A309-76D9-3450-B6ADC9F7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E438310-AAEB-CD78-3C93-8B92AC78397F}"/>
              </a:ext>
            </a:extLst>
          </p:cNvPr>
          <p:cNvSpPr/>
          <p:nvPr/>
        </p:nvSpPr>
        <p:spPr>
          <a:xfrm>
            <a:off x="352865" y="5594840"/>
            <a:ext cx="11258110" cy="85834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</a:rPr>
              <a:t>Notes</a:t>
            </a:r>
          </a:p>
          <a:p>
            <a:r>
              <a:rPr lang="ja-JP" altLang="en-US" sz="1200" b="1" dirty="0">
                <a:solidFill>
                  <a:schemeClr val="tx1"/>
                </a:solidFill>
              </a:rPr>
              <a:t>　</a:t>
            </a:r>
            <a:r>
              <a:rPr lang="en-US" altLang="ja-JP" sz="1200" b="1" dirty="0">
                <a:solidFill>
                  <a:schemeClr val="tx1"/>
                </a:solidFill>
              </a:rPr>
              <a:t>CMSIS-NN</a:t>
            </a:r>
            <a:r>
              <a:rPr lang="en-US" altLang="ja-JP" sz="1200" dirty="0">
                <a:solidFill>
                  <a:schemeClr val="tx1"/>
                </a:solidFill>
              </a:rPr>
              <a:t>: Cortex Microcontroller Software Interface Standard – Neural Network. ARM’s optimized AI library (provided via FSP in e2-studio).</a:t>
            </a:r>
          </a:p>
          <a:p>
            <a:r>
              <a:rPr lang="ja-JP" altLang="en-US" sz="1200" b="1" dirty="0">
                <a:solidFill>
                  <a:schemeClr val="tx1"/>
                </a:solidFill>
              </a:rPr>
              <a:t>　</a:t>
            </a:r>
            <a:r>
              <a:rPr lang="en-US" altLang="ja-JP" sz="1200" b="1" dirty="0">
                <a:solidFill>
                  <a:schemeClr val="tx1"/>
                </a:solidFill>
              </a:rPr>
              <a:t>MLP</a:t>
            </a:r>
            <a:r>
              <a:rPr lang="en-US" altLang="ja-JP" sz="1200" dirty="0">
                <a:solidFill>
                  <a:schemeClr val="tx1"/>
                </a:solidFill>
              </a:rPr>
              <a:t>: Multi-Layer Perceptron, a simple neural network model for feature classification.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B038F5C-23DA-1790-EC79-1A2FB42C8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519" y="2269388"/>
            <a:ext cx="2464588" cy="108059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8B1C917-FB7D-F28A-15B8-9920539A1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107" y="2269387"/>
            <a:ext cx="2464590" cy="108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9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F3E39-7345-385C-9157-4AF88AABE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36A949-17D7-E4A4-34D0-BC57A6244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4. Development Highlights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5338FA-EB25-292C-EC03-C37051F79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kumimoji="1" lang="en-US" altLang="ja-JP" dirty="0"/>
              <a:t>Real-Time Processing</a:t>
            </a:r>
          </a:p>
          <a:p>
            <a:pPr lvl="1"/>
            <a:r>
              <a:rPr kumimoji="1" lang="en-US" altLang="ja-JP" dirty="0" err="1"/>
              <a:t>tslp_tsk</a:t>
            </a:r>
            <a:r>
              <a:rPr kumimoji="1" lang="en-US" altLang="ja-JP" dirty="0"/>
              <a:t> and </a:t>
            </a:r>
            <a:r>
              <a:rPr kumimoji="1" lang="en-US" altLang="ja-JP" dirty="0" err="1"/>
              <a:t>rcv_mbx</a:t>
            </a:r>
            <a:r>
              <a:rPr kumimoji="1" lang="en-US" altLang="ja-JP" dirty="0"/>
              <a:t> could not achieve cycles under 20 </a:t>
            </a:r>
            <a:r>
              <a:rPr kumimoji="1" lang="en-US" altLang="ja-JP" dirty="0" err="1"/>
              <a:t>ms</a:t>
            </a:r>
            <a:r>
              <a:rPr kumimoji="1" lang="en-US" altLang="ja-JP" dirty="0"/>
              <a:t> (BSP not implemented).</a:t>
            </a:r>
          </a:p>
          <a:p>
            <a:pPr lvl="1"/>
            <a:r>
              <a:rPr kumimoji="1" lang="en-US" altLang="ja-JP" dirty="0"/>
              <a:t>Using GPT interrupts enabled </a:t>
            </a:r>
            <a:r>
              <a:rPr kumimoji="1" lang="en-US" altLang="ja-JP" b="1" dirty="0"/>
              <a:t>precise 10 </a:t>
            </a:r>
            <a:r>
              <a:rPr kumimoji="1" lang="en-US" altLang="ja-JP" b="1" dirty="0" err="1"/>
              <a:t>ms</a:t>
            </a:r>
            <a:r>
              <a:rPr kumimoji="1" lang="en-US" altLang="ja-JP" b="1" dirty="0"/>
              <a:t> sampling</a:t>
            </a:r>
            <a:r>
              <a:rPr kumimoji="1" lang="en-US" altLang="ja-JP" dirty="0"/>
              <a:t> and </a:t>
            </a:r>
            <a:r>
              <a:rPr kumimoji="1" lang="en-US" altLang="ja-JP" b="1" dirty="0"/>
              <a:t>100 Hz data acquisition.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kumimoji="1" lang="en-US" altLang="ja-JP" dirty="0"/>
              <a:t>AI</a:t>
            </a:r>
            <a:r>
              <a:rPr lang="ja-JP" altLang="en-US" dirty="0"/>
              <a:t> </a:t>
            </a:r>
            <a:r>
              <a:rPr lang="en-US" altLang="ja-JP" dirty="0"/>
              <a:t>Implementation</a:t>
            </a:r>
          </a:p>
          <a:p>
            <a:pPr lvl="1"/>
            <a:r>
              <a:rPr kumimoji="1" lang="en-US" altLang="ja-JP" dirty="0"/>
              <a:t>Integrated FFT and MLP inference using the </a:t>
            </a:r>
            <a:r>
              <a:rPr kumimoji="1" lang="en-US" altLang="ja-JP" b="1" dirty="0"/>
              <a:t>CMSIS library</a:t>
            </a:r>
            <a:r>
              <a:rPr kumimoji="1" lang="en-US" altLang="ja-JP" dirty="0"/>
              <a:t>.</a:t>
            </a:r>
          </a:p>
          <a:p>
            <a:pPr lvl="1"/>
            <a:r>
              <a:rPr kumimoji="1" lang="en-US" altLang="ja-JP" dirty="0"/>
              <a:t>Rapid development achieved with </a:t>
            </a:r>
            <a:r>
              <a:rPr kumimoji="1" lang="en-US" altLang="ja-JP" b="1" dirty="0"/>
              <a:t>ChatGPT-assisted code generation</a:t>
            </a:r>
            <a:r>
              <a:rPr kumimoji="1" lang="en-US" altLang="ja-JP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ja-JP" dirty="0"/>
              <a:t>Network Implementation</a:t>
            </a:r>
          </a:p>
          <a:p>
            <a:pPr lvl="1"/>
            <a:r>
              <a:rPr lang="en-US" altLang="ja-JP" dirty="0"/>
              <a:t>This year, Ethernet on the </a:t>
            </a:r>
            <a:r>
              <a:rPr lang="en-US" altLang="ja-JP" b="1" dirty="0"/>
              <a:t>EK-RA8D1</a:t>
            </a:r>
            <a:r>
              <a:rPr lang="en-US" altLang="ja-JP" dirty="0"/>
              <a:t> was used directly instead of relying on ESP32-AT.</a:t>
            </a:r>
          </a:p>
          <a:p>
            <a:pPr lvl="1"/>
            <a:r>
              <a:rPr lang="en-US" altLang="ja-JP" dirty="0"/>
              <a:t>Implemented UDP transmission based on </a:t>
            </a:r>
            <a:r>
              <a:rPr lang="en-US" altLang="ja-JP" b="1" dirty="0"/>
              <a:t>T-Kernel driver specifications</a:t>
            </a:r>
            <a:r>
              <a:rPr lang="en-US" altLang="ja-JP" dirty="0"/>
              <a:t>, enabling LAN data communication.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ja-JP" dirty="0"/>
              <a:t>Logging</a:t>
            </a:r>
          </a:p>
          <a:p>
            <a:pPr lvl="1"/>
            <a:r>
              <a:rPr lang="en-US" altLang="ja-JP" dirty="0"/>
              <a:t>Switched from last year's UART + USB converter to </a:t>
            </a:r>
            <a:r>
              <a:rPr lang="en-US" altLang="ja-JP" b="1" dirty="0"/>
              <a:t>SEGGER RTT</a:t>
            </a:r>
            <a:r>
              <a:rPr lang="en-US" altLang="ja-JP" dirty="0"/>
              <a:t>.</a:t>
            </a:r>
          </a:p>
          <a:p>
            <a:pPr lvl="1"/>
            <a:r>
              <a:rPr lang="en-US" altLang="ja-JP" dirty="0"/>
              <a:t>Eliminated external hardware and greatly improved debugging efficiency.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E25CE3D-13CE-CF4C-D7D0-27A9D22C6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168EE0-DDCE-50F0-D637-849B7DDF5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17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DB663-0419-7CEA-F781-0A734CA9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楕円 5">
            <a:extLst>
              <a:ext uri="{FF2B5EF4-FFF2-40B4-BE49-F238E27FC236}">
                <a16:creationId xmlns:a16="http://schemas.microsoft.com/office/drawing/2014/main" id="{0A8A2144-2826-148F-B5A5-5B5516DF9EFB}"/>
              </a:ext>
            </a:extLst>
          </p:cNvPr>
          <p:cNvSpPr/>
          <p:nvPr/>
        </p:nvSpPr>
        <p:spPr>
          <a:xfrm>
            <a:off x="1485900" y="4332304"/>
            <a:ext cx="9020175" cy="1954196"/>
          </a:xfrm>
          <a:prstGeom prst="ellipse">
            <a:avLst/>
          </a:prstGeom>
          <a:solidFill>
            <a:schemeClr val="accent6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7ACCC36-849C-3FCE-6EAD-8C781BCC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5. Future Society Vision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F967FF-3B3A-DB1C-F791-512FB7E30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7724"/>
            <a:ext cx="10515600" cy="5375523"/>
          </a:xfrm>
        </p:spPr>
        <p:txBody>
          <a:bodyPr>
            <a:normAutofit fontScale="92500"/>
          </a:bodyPr>
          <a:lstStyle/>
          <a:p>
            <a:r>
              <a:rPr kumimoji="1" lang="en-US" altLang="ja-JP" dirty="0"/>
              <a:t>Bridge inspections have long relied on </a:t>
            </a:r>
            <a:r>
              <a:rPr kumimoji="1" lang="en-US" altLang="ja-JP" b="1" dirty="0"/>
              <a:t>experience and intuition</a:t>
            </a:r>
            <a:r>
              <a:rPr kumimoji="1" lang="en-US" altLang="ja-JP" dirty="0"/>
              <a:t>.</a:t>
            </a:r>
          </a:p>
          <a:p>
            <a:r>
              <a:rPr kumimoji="1" lang="en-US" altLang="ja-JP" b="1" dirty="0"/>
              <a:t>LGX-Shield</a:t>
            </a:r>
            <a:r>
              <a:rPr kumimoji="1" lang="en-US" altLang="ja-JP" dirty="0"/>
              <a:t> introduces a system that uses AI and IoT to </a:t>
            </a:r>
            <a:r>
              <a:rPr kumimoji="1" lang="en-US" altLang="ja-JP" b="1" dirty="0"/>
              <a:t>quantify safety and visualize conditions objectively</a:t>
            </a:r>
            <a:r>
              <a:rPr kumimoji="1" lang="en-US" altLang="ja-JP" dirty="0"/>
              <a:t>.</a:t>
            </a:r>
          </a:p>
          <a:p>
            <a:r>
              <a:rPr kumimoji="1" lang="en-US" altLang="ja-JP" dirty="0"/>
              <a:t>The concept is applicable not only to bridges but also to </a:t>
            </a:r>
            <a:r>
              <a:rPr kumimoji="1" lang="en-US" altLang="ja-JP" b="1" dirty="0"/>
              <a:t>roads, tunnels, dams, power grids</a:t>
            </a:r>
            <a:r>
              <a:rPr kumimoji="1" lang="en-US" altLang="ja-JP" dirty="0"/>
              <a:t>, and other public infrastructure.</a:t>
            </a:r>
          </a:p>
          <a:p>
            <a:r>
              <a:rPr kumimoji="1" lang="en-US" altLang="ja-JP" dirty="0"/>
              <a:t>It can also extend to </a:t>
            </a:r>
            <a:r>
              <a:rPr kumimoji="1" lang="en-US" altLang="ja-JP" b="1" dirty="0"/>
              <a:t>predictive maintenance</a:t>
            </a:r>
            <a:r>
              <a:rPr kumimoji="1" lang="en-US" altLang="ja-JP" dirty="0"/>
              <a:t> in factories, helping address labor shortages and knowledge transfer issues in an aging society.</a:t>
            </a:r>
          </a:p>
          <a:p>
            <a:pPr marL="0" indent="0" algn="ctr">
              <a:buNone/>
            </a:pPr>
            <a:r>
              <a:rPr kumimoji="1" lang="en-US" altLang="ja-JP" sz="3900" b="1" dirty="0">
                <a:solidFill>
                  <a:srgbClr val="00B050"/>
                </a:solidFill>
              </a:rPr>
              <a:t>TRON × AI</a:t>
            </a:r>
          </a:p>
          <a:p>
            <a:pPr marL="0" indent="0" algn="ctr">
              <a:buNone/>
            </a:pPr>
            <a:r>
              <a:rPr kumimoji="1" lang="en-US" altLang="ja-JP" sz="3900" b="1" dirty="0">
                <a:solidFill>
                  <a:srgbClr val="00B050"/>
                </a:solidFill>
              </a:rPr>
              <a:t>is opening the way to a safe, secure,</a:t>
            </a:r>
          </a:p>
          <a:p>
            <a:pPr marL="0" indent="0" algn="ctr">
              <a:buNone/>
            </a:pPr>
            <a:r>
              <a:rPr kumimoji="1" lang="en-US" altLang="ja-JP" sz="3900" b="1" dirty="0">
                <a:solidFill>
                  <a:srgbClr val="00B050"/>
                </a:solidFill>
              </a:rPr>
              <a:t>and sustainable future society!</a:t>
            </a:r>
            <a:endParaRPr kumimoji="1" lang="ja-JP" altLang="en-US" sz="3900" dirty="0">
              <a:solidFill>
                <a:srgbClr val="00B050"/>
              </a:solidFill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2E9F721-ECD0-F64E-DB65-3681F5358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1922DD1-B30A-49BF-CEB2-A18EC4CB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7</a:t>
            </a:fld>
            <a:endParaRPr kumimoji="1" lang="ja-JP" altLang="en-US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84D92EE3-AE4F-4FDD-76BD-096C60367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615" y="3742791"/>
            <a:ext cx="1910885" cy="14331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12604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50B7791D-C0F9-40A8-AFBD-06EECF225D61}" vid="{BA3A7E17-C523-4710-BC6B-2ED15B8C97A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TB</Template>
  <TotalTime>451</TotalTime>
  <Words>829</Words>
  <Application>Microsoft Office PowerPoint</Application>
  <PresentationFormat>ワイド画面</PresentationFormat>
  <Paragraphs>139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ＭＳ ゴシック</vt:lpstr>
      <vt:lpstr>游ゴシック</vt:lpstr>
      <vt:lpstr>游ゴシック Light</vt:lpstr>
      <vt:lpstr>Arial</vt:lpstr>
      <vt:lpstr>Wingdings</vt:lpstr>
      <vt:lpstr>Office テーマ</vt:lpstr>
      <vt:lpstr>LGX-Shield  ～ An Edge Monitor That Detects Bridge Anomalies in Real TimeUsing Acceleration Data × AI ～</vt:lpstr>
      <vt:lpstr>1. Introduction</vt:lpstr>
      <vt:lpstr>2-1. System Diagram</vt:lpstr>
      <vt:lpstr>2-2. Task and Module Configuration</vt:lpstr>
      <vt:lpstr>3. AI Processing Overview</vt:lpstr>
      <vt:lpstr>4. Development Highlights</vt:lpstr>
      <vt:lpstr>5. Future Society 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Yoshiaki Sudo</dc:creator>
  <cp:lastModifiedBy>Yoshiaki Sudo</cp:lastModifiedBy>
  <cp:revision>8</cp:revision>
  <dcterms:created xsi:type="dcterms:W3CDTF">2025-09-29T12:05:55Z</dcterms:created>
  <dcterms:modified xsi:type="dcterms:W3CDTF">2025-12-04T12:24:29Z</dcterms:modified>
</cp:coreProperties>
</file>